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dcde40-5d89-76bd-545e-f1448bdba0bf}">
          <p14:sldIdLst>
            <p14:sldId id="256"/>
          </p14:sldIdLst>
        </p14:section>
        <p14:section name="Context" id="{c172cb80-a420-6b54-3758-0afa21c5885f}">
          <p14:sldIdLst>
            <p14:sldId id="257"/>
          </p14:sldIdLst>
        </p14:section>
        <p14:section name="Product" id="{66167d64-93c6-253b-dd4c-a6d9b3903a4e}">
          <p14:sldIdLst>
            <p14:sldId id="258"/>
          </p14:sldIdLst>
        </p14:section>
        <p14:section name="Engineering" id="{44ed7d72-391e-fe4f-ab4c-640c0f4d69f0}">
          <p14:sldIdLst>
            <p14:sldId id="259"/>
            <p14:sldId id="260"/>
            <p14:sldId id="261"/>
          </p14:sldIdLst>
        </p14:section>
        <p14:section name="Experience" id="{6ca0ebe8-6d17-05c5-8aab-7c163d202267}">
          <p14:sldIdLst>
            <p14:sldId id="262"/>
            <p14:sldId id="263"/>
          </p14:sldIdLst>
        </p14:section>
        <p14:section name="Close" id="{dd7fbd45-341c-380c-a521-b0299984ea8f}">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MindTrack, a privacy-first mood journaling and self-reflection web app. On the right is the real app running with a demo account, Riya. Our idea: small daily check-ins that add up to a clear picture of how you feel and why, without ever making anyone feel diagnosed.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the WHO, one in seven 10-19 year olds worldwide experiences a mental disorder, yet most students never track how they feel or why. Existing apps tend to do just one thing: log moods, hold a journal, or chat. On the right are our five objectives, and the table shows how typical single-purpose apps cover them compared with MindTrack.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follow Riya, our demo user, through one exam week. She checks in with a mood and a context tag, writes in her private journal, and after a few days the Insights page notices a pattern from her own entries. Prompts help her reflect, and she can export a PDF for a counsellor, leaving her journal text out if she wants. Mindy, our companion chatbot, is available all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technology stack, layer by layer. Flask with Jinja2 templates on the backend, SQLAlchemy over SQLite locally and PostgreSQL in production. Security relies on Werkzeug password hashing, Flask-WTF CSRF protection and Fernet encryption. TextBlob handles sentiment, Chart.js and ReportLab handle charts and PDFs, and the project is tested with pytest and packaged with Docker and Gunicorn.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flow left to right: the browser calls Flask routes organised into six blueprints, the routes call a service layer, which contains all the logic, and services use SQLAlchemy models to read and write the database. Keeping logic in services made the app easy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entry from our demo account and what is actually stored in the database: Fernet ciphertext. Without the app's secret key, journal text is unreadable. On top of that, passwords are hashed, every query is scoped to the logged-in user, every form has CSRF protection, and secrets live outside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the demo account. The mood chart shows Riya's two weeks, and this observation was generated by the app from her own entries; note the careful wording, it's something to notice, not a diagnosis. On the right, Mindy answering a real message: she is rule-based, needs no external AI, and if a message sounds like a crisis she shares support resources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240 automated tests with pytest, and all of them pass. We are honest about the limitations: Mindy is rule-based, search covers titles only because entry text is encrypted, and the app is not deployed yet. Next we want account deletion and data export, password reset, cloud deployment and optionally an AI-powered Mindy.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We'll now show a short live demo of MindTrack, and then we're happy to take your questions. (Before presenting: replace [App link] and the QR placeholder with your deployed link, or link a short screen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image" Target="../media/image-1003-5.png"/><Relationship Id="rId6"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E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a/dot0.png">    </p:cNvPr>
          <p:cNvPicPr>
            <a:picLocks noChangeAspect="1"/>
          </p:cNvPicPr>
          <p:nvPr/>
        </p:nvPicPr>
        <p:blipFill>
          <a:blip r:embed="rId1"/>
          <a:stretch>
            <a:fillRect/>
          </a:stretch>
        </p:blipFill>
        <p:spPr>
          <a:xfrm>
            <a:off x="7909560" y="402336"/>
            <a:ext cx="100584" cy="100584"/>
          </a:xfrm>
          <a:prstGeom prst="rect">
            <a:avLst/>
          </a:prstGeom>
        </p:spPr>
      </p:pic>
      <p:pic>
        <p:nvPicPr>
          <p:cNvPr id="3" name="Image 1" descr="a/dot1.png">    </p:cNvPr>
          <p:cNvPicPr>
            <a:picLocks noChangeAspect="1"/>
          </p:cNvPicPr>
          <p:nvPr/>
        </p:nvPicPr>
        <p:blipFill>
          <a:blip r:embed="rId2"/>
          <a:stretch>
            <a:fillRect/>
          </a:stretch>
        </p:blipFill>
        <p:spPr>
          <a:xfrm>
            <a:off x="8065008" y="402336"/>
            <a:ext cx="100584" cy="100584"/>
          </a:xfrm>
          <a:prstGeom prst="rect">
            <a:avLst/>
          </a:prstGeom>
        </p:spPr>
      </p:pic>
      <p:pic>
        <p:nvPicPr>
          <p:cNvPr id="4" name="Image 2" descr="a/dot2.png">    </p:cNvPr>
          <p:cNvPicPr>
            <a:picLocks noChangeAspect="1"/>
          </p:cNvPicPr>
          <p:nvPr/>
        </p:nvPicPr>
        <p:blipFill>
          <a:blip r:embed="rId3"/>
          <a:stretch>
            <a:fillRect/>
          </a:stretch>
        </p:blipFill>
        <p:spPr>
          <a:xfrm>
            <a:off x="8220456" y="402336"/>
            <a:ext cx="100584" cy="100584"/>
          </a:xfrm>
          <a:prstGeom prst="rect">
            <a:avLst/>
          </a:prstGeom>
        </p:spPr>
      </p:pic>
      <p:pic>
        <p:nvPicPr>
          <p:cNvPr id="5" name="Image 3" descr="a/dot3.png">    </p:cNvPr>
          <p:cNvPicPr>
            <a:picLocks noChangeAspect="1"/>
          </p:cNvPicPr>
          <p:nvPr/>
        </p:nvPicPr>
        <p:blipFill>
          <a:blip r:embed="rId4"/>
          <a:stretch>
            <a:fillRect/>
          </a:stretch>
        </p:blipFill>
        <p:spPr>
          <a:xfrm>
            <a:off x="8375904" y="402336"/>
            <a:ext cx="100584" cy="100584"/>
          </a:xfrm>
          <a:prstGeom prst="rect">
            <a:avLst/>
          </a:prstGeom>
        </p:spPr>
      </p:pic>
      <p:pic>
        <p:nvPicPr>
          <p:cNvPr id="6" name="Image 4" descr="a/dot4.png">    </p:cNvPr>
          <p:cNvPicPr>
            <a:picLocks noChangeAspect="1"/>
          </p:cNvPicPr>
          <p:nvPr/>
        </p:nvPicPr>
        <p:blipFill>
          <a:blip r:embed="rId5"/>
          <a:stretch>
            <a:fillRect/>
          </a:stretch>
        </p:blipFill>
        <p:spPr>
          <a:xfrm>
            <a:off x="8531352" y="402336"/>
            <a:ext cx="100584" cy="100584"/>
          </a:xfrm>
          <a:prstGeom prst="rect">
            <a:avLst/>
          </a:prstGeom>
        </p:spPr>
      </p:pic>
      <p:sp>
        <p:nvSpPr>
          <p:cNvPr id="7" name="Text 0"/>
          <p:cNvSpPr/>
          <p:nvPr/>
        </p:nvSpPr>
        <p:spPr>
          <a:xfrm>
            <a:off x="502920" y="4736592"/>
            <a:ext cx="4572000" cy="256032"/>
          </a:xfrm>
          <a:prstGeom prst="rect">
            <a:avLst/>
          </a:prstGeom>
          <a:noFill/>
          <a:ln/>
        </p:spPr>
        <p:txBody>
          <a:bodyPr wrap="square" lIns="0" tIns="0" rIns="0" bIns="0" rtlCol="0" anchor="ctr"/>
          <a:lstStyle/>
          <a:p>
            <a:pPr indent="0" marL="0">
              <a:buNone/>
            </a:pPr>
            <a:r>
              <a:rPr lang="en-US" sz="900" dirty="0">
                <a:solidFill>
                  <a:srgbClr val="60667D"/>
                </a:solidFill>
              </a:rPr>
              <a:t>MindTrack  ·  Privacy-first mood journaling</a:t>
            </a:r>
            <a:endParaRPr lang="en-US" sz="900" dirty="0"/>
          </a:p>
        </p:txBody>
      </p:sp>
      <p:sp>
        <p:nvSpPr>
          <p:cNvPr id="8" name="Text 1"/>
          <p:cNvSpPr/>
          <p:nvPr>
            <p:ph idx="106" type="body" hasCustomPrompt="1"/>
          </p:nvPr>
        </p:nvSpPr>
        <p:spPr>
          <a:xfrm>
            <a:off x="502920" y="329184"/>
            <a:ext cx="5486400" cy="237744"/>
          </a:xfrm>
          <a:prstGeom prst="rect">
            <a:avLst/>
          </a:prstGeom>
          <a:noFill/>
          <a:ln/>
        </p:spPr>
        <p:txBody>
          <a:bodyPr wrap="square" rtlCol="0"/>
          <a:lstStyle>
            <a:lvl1pPr indent="0" marL="0">
              <a:buNone/>
              <a:defRPr lang="en-US" sz="1000" b="1" spc="150" kern="0" dirty="0">
                <a:solidFill>
                  <a:srgbClr val="3F44A0"/>
                </a:solidFill>
              </a:defRPr>
            </a:lvl1pPr>
          </a:lstStyle>
          <a:p>
            <a:pPr indent="0" marL="0">
              <a:buNone/>
            </a:pPr>
            <a:endParaRPr lang="en-US" sz="1000" dirty="0"/>
          </a:p>
        </p:txBody>
      </p:sp>
      <p:sp>
        <p:nvSpPr>
          <p:cNvPr id="9" name="Text 1"/>
          <p:cNvSpPr/>
          <p:nvPr>
            <p:ph idx="107" type="title" hasCustomPrompt="1"/>
          </p:nvPr>
        </p:nvSpPr>
        <p:spPr>
          <a:xfrm>
            <a:off x="502920" y="566928"/>
            <a:ext cx="8138160" cy="548640"/>
          </a:xfrm>
          <a:prstGeom prst="rect">
            <a:avLst/>
          </a:prstGeom>
          <a:noFill/>
          <a:ln/>
        </p:spPr>
        <p:txBody>
          <a:bodyPr wrap="square" rtlCol="0"/>
          <a:lstStyle>
            <a:lvl1pPr algn="l" indent="0" marL="0">
              <a:buNone/>
              <a:defRPr lang="en-US" sz="2600" b="1" dirty="0">
                <a:solidFill>
                  <a:srgbClr val="1B1E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183880" y="4736592"/>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0667D"/>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83880" y="4736592"/>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066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3.png"/><Relationship Id="rId6" Type="http://schemas.openxmlformats.org/officeDocument/2006/relationships/image" Target="../media/image-3-6.png"/><Relationship Id="rId7" Type="http://schemas.openxmlformats.org/officeDocument/2006/relationships/image" Target="../media/image-3-3.png"/><Relationship Id="rId8" Type="http://schemas.openxmlformats.org/officeDocument/2006/relationships/image" Target="../media/image-3-8.png"/><Relationship Id="rId9" Type="http://schemas.openxmlformats.org/officeDocument/2006/relationships/image" Target="../media/image-3-3.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2.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3.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3.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548640"/>
            <a:ext cx="3657600" cy="256032"/>
          </a:xfrm>
          <a:prstGeom prst="rect">
            <a:avLst/>
          </a:prstGeom>
          <a:noFill/>
          <a:ln/>
        </p:spPr>
        <p:txBody>
          <a:bodyPr wrap="square" lIns="0" tIns="0" rIns="0" bIns="0" rtlCol="0" anchor="ctr"/>
          <a:lstStyle/>
          <a:p>
            <a:pPr indent="0" marL="0">
              <a:buNone/>
            </a:pPr>
            <a:r>
              <a:rPr lang="en-US" sz="1000" b="1" spc="200" kern="0" dirty="0">
                <a:solidFill>
                  <a:srgbClr val="F0B13F"/>
                </a:solidFill>
              </a:rPr>
              <a:t>COLLEGE MINI PROJECT</a:t>
            </a:r>
            <a:endParaRPr lang="en-US" sz="1000" dirty="0"/>
          </a:p>
        </p:txBody>
      </p:sp>
      <p:sp>
        <p:nvSpPr>
          <p:cNvPr id="3" name="Title"/>
          <p:cNvSpPr txBox="1"/>
          <p:nvPr/>
        </p:nvSpPr>
        <p:spPr>
          <a:xfrm>
            <a:off x="548640" y="841248"/>
            <a:ext cx="4114800" cy="8229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MindTrack</a:t>
            </a:r>
            <a:endParaRPr lang="en-US" sz="5400" dirty="0"/>
          </a:p>
        </p:txBody>
      </p:sp>
      <p:sp>
        <p:nvSpPr>
          <p:cNvPr id="4" name="Subtitle"/>
          <p:cNvSpPr txBox="1"/>
          <p:nvPr/>
        </p:nvSpPr>
        <p:spPr>
          <a:xfrm>
            <a:off x="548640" y="1737360"/>
            <a:ext cx="4114800" cy="566928"/>
          </a:xfrm>
          <a:prstGeom prst="rect">
            <a:avLst/>
          </a:prstGeom>
          <a:noFill/>
          <a:ln/>
        </p:spPr>
        <p:txBody>
          <a:bodyPr wrap="square" lIns="0" tIns="0" rIns="0" bIns="0" rtlCol="0" anchor="ctr"/>
          <a:lstStyle/>
          <a:p>
            <a:pPr indent="0" marL="0">
              <a:buNone/>
            </a:pPr>
            <a:r>
              <a:rPr lang="en-US" sz="1700" dirty="0">
                <a:solidFill>
                  <a:srgbClr val="C9CCE0"/>
                </a:solidFill>
              </a:rPr>
              <a:t>A Privacy-First Mood Journaling &amp;</a:t>
            </a:r>
            <a:endParaRPr lang="en-US" sz="1700" dirty="0"/>
          </a:p>
          <a:p>
            <a:pPr indent="0" marL="0">
              <a:buNone/>
            </a:pPr>
            <a:r>
              <a:rPr lang="en-US" sz="1700" dirty="0">
                <a:solidFill>
                  <a:srgbClr val="C9CCE0"/>
                </a:solidFill>
              </a:rPr>
              <a:t>Self-Reflection Web App</a:t>
            </a:r>
            <a:endParaRPr lang="en-US" sz="1700" dirty="0"/>
          </a:p>
        </p:txBody>
      </p:sp>
      <p:sp>
        <p:nvSpPr>
          <p:cNvPr id="5" name="Tagline"/>
          <p:cNvSpPr txBox="1"/>
          <p:nvPr/>
        </p:nvSpPr>
        <p:spPr>
          <a:xfrm>
            <a:off x="548640" y="2395728"/>
            <a:ext cx="4114800" cy="320040"/>
          </a:xfrm>
          <a:prstGeom prst="rect">
            <a:avLst/>
          </a:prstGeom>
          <a:noFill/>
          <a:ln/>
        </p:spPr>
        <p:txBody>
          <a:bodyPr wrap="square" lIns="0" tIns="0" rIns="0" bIns="0" rtlCol="0" anchor="ctr"/>
          <a:lstStyle/>
          <a:p>
            <a:pPr indent="0" marL="0">
              <a:buNone/>
            </a:pPr>
            <a:r>
              <a:rPr lang="en-US" sz="1500" i="1" dirty="0">
                <a:solidFill>
                  <a:srgbClr val="F0B13F"/>
                </a:solidFill>
                <a:latin typeface="Cambria" pitchFamily="34" charset="0"/>
                <a:ea typeface="Cambria" pitchFamily="34" charset="-122"/>
                <a:cs typeface="Cambria" pitchFamily="34" charset="-120"/>
              </a:rPr>
              <a:t>Your thoughts deserve a place to land.</a:t>
            </a:r>
            <a:endParaRPr lang="en-US" sz="1500" dirty="0"/>
          </a:p>
        </p:txBody>
      </p:sp>
      <p:sp>
        <p:nvSpPr>
          <p:cNvPr id="6" name="Team label"/>
          <p:cNvSpPr txBox="1"/>
          <p:nvPr/>
        </p:nvSpPr>
        <p:spPr>
          <a:xfrm>
            <a:off x="548640" y="3017520"/>
            <a:ext cx="1828800" cy="219456"/>
          </a:xfrm>
          <a:prstGeom prst="rect">
            <a:avLst/>
          </a:prstGeom>
          <a:noFill/>
          <a:ln/>
        </p:spPr>
        <p:txBody>
          <a:bodyPr wrap="square" lIns="0" tIns="0" rIns="0" bIns="0" rtlCol="0" anchor="ctr"/>
          <a:lstStyle/>
          <a:p>
            <a:pPr indent="0" marL="0">
              <a:buNone/>
            </a:pPr>
            <a:r>
              <a:rPr lang="en-US" sz="900" b="1" spc="200" kern="0" dirty="0">
                <a:solidFill>
                  <a:srgbClr val="C9CCE0"/>
                </a:solidFill>
              </a:rPr>
              <a:t>TEAM</a:t>
            </a:r>
            <a:endParaRPr lang="en-US" sz="900" dirty="0"/>
          </a:p>
        </p:txBody>
      </p:sp>
      <p:sp>
        <p:nvSpPr>
          <p:cNvPr id="7" name="Member 1"/>
          <p:cNvSpPr txBox="1"/>
          <p:nvPr/>
        </p:nvSpPr>
        <p:spPr>
          <a:xfrm>
            <a:off x="548640" y="3273552"/>
            <a:ext cx="2057400" cy="256032"/>
          </a:xfrm>
          <a:prstGeom prst="rect">
            <a:avLst/>
          </a:prstGeom>
          <a:noFill/>
          <a:ln/>
        </p:spPr>
        <p:txBody>
          <a:bodyPr wrap="square" lIns="0" tIns="0" rIns="0" bIns="0" rtlCol="0" anchor="ctr"/>
          <a:lstStyle/>
          <a:p>
            <a:pPr indent="0" marL="0">
              <a:buNone/>
            </a:pPr>
            <a:r>
              <a:rPr lang="en-US" sz="1100" dirty="0">
                <a:solidFill>
                  <a:srgbClr val="FFFFFF"/>
                </a:solidFill>
              </a:rPr>
              <a:t>[Member 1 Name – Roll No.]</a:t>
            </a:r>
            <a:endParaRPr lang="en-US" sz="1100" dirty="0"/>
          </a:p>
        </p:txBody>
      </p:sp>
      <p:sp>
        <p:nvSpPr>
          <p:cNvPr id="8" name="Member 2"/>
          <p:cNvSpPr txBox="1"/>
          <p:nvPr/>
        </p:nvSpPr>
        <p:spPr>
          <a:xfrm>
            <a:off x="2651760" y="3273552"/>
            <a:ext cx="2057400" cy="256032"/>
          </a:xfrm>
          <a:prstGeom prst="rect">
            <a:avLst/>
          </a:prstGeom>
          <a:noFill/>
          <a:ln/>
        </p:spPr>
        <p:txBody>
          <a:bodyPr wrap="square" lIns="0" tIns="0" rIns="0" bIns="0" rtlCol="0" anchor="ctr"/>
          <a:lstStyle/>
          <a:p>
            <a:pPr indent="0" marL="0">
              <a:buNone/>
            </a:pPr>
            <a:r>
              <a:rPr lang="en-US" sz="1100" dirty="0">
                <a:solidFill>
                  <a:srgbClr val="FFFFFF"/>
                </a:solidFill>
              </a:rPr>
              <a:t>[Member 2 Name – Roll No.]</a:t>
            </a:r>
            <a:endParaRPr lang="en-US" sz="1100" dirty="0"/>
          </a:p>
        </p:txBody>
      </p:sp>
      <p:sp>
        <p:nvSpPr>
          <p:cNvPr id="9" name="Member 3"/>
          <p:cNvSpPr txBox="1"/>
          <p:nvPr/>
        </p:nvSpPr>
        <p:spPr>
          <a:xfrm>
            <a:off x="548640" y="3547872"/>
            <a:ext cx="2057400" cy="256032"/>
          </a:xfrm>
          <a:prstGeom prst="rect">
            <a:avLst/>
          </a:prstGeom>
          <a:noFill/>
          <a:ln/>
        </p:spPr>
        <p:txBody>
          <a:bodyPr wrap="square" lIns="0" tIns="0" rIns="0" bIns="0" rtlCol="0" anchor="ctr"/>
          <a:lstStyle/>
          <a:p>
            <a:pPr indent="0" marL="0">
              <a:buNone/>
            </a:pPr>
            <a:r>
              <a:rPr lang="en-US" sz="1100" dirty="0">
                <a:solidFill>
                  <a:srgbClr val="FFFFFF"/>
                </a:solidFill>
              </a:rPr>
              <a:t>[Member 3 Name – Roll No.]</a:t>
            </a:r>
            <a:endParaRPr lang="en-US" sz="1100" dirty="0"/>
          </a:p>
        </p:txBody>
      </p:sp>
      <p:sp>
        <p:nvSpPr>
          <p:cNvPr id="10" name="Member 4"/>
          <p:cNvSpPr txBox="1"/>
          <p:nvPr/>
        </p:nvSpPr>
        <p:spPr>
          <a:xfrm>
            <a:off x="2651760" y="3547872"/>
            <a:ext cx="2057400" cy="256032"/>
          </a:xfrm>
          <a:prstGeom prst="rect">
            <a:avLst/>
          </a:prstGeom>
          <a:noFill/>
          <a:ln/>
        </p:spPr>
        <p:txBody>
          <a:bodyPr wrap="square" lIns="0" tIns="0" rIns="0" bIns="0" rtlCol="0" anchor="ctr"/>
          <a:lstStyle/>
          <a:p>
            <a:pPr indent="0" marL="0">
              <a:buNone/>
            </a:pPr>
            <a:r>
              <a:rPr lang="en-US" sz="1100" dirty="0">
                <a:solidFill>
                  <a:srgbClr val="FFFFFF"/>
                </a:solidFill>
              </a:rPr>
              <a:t>[Member 4 Name – Roll No.]</a:t>
            </a:r>
            <a:endParaRPr lang="en-US" sz="1100" dirty="0"/>
          </a:p>
        </p:txBody>
      </p:sp>
      <p:sp>
        <p:nvSpPr>
          <p:cNvPr id="11" name="Guide"/>
          <p:cNvSpPr txBox="1"/>
          <p:nvPr/>
        </p:nvSpPr>
        <p:spPr>
          <a:xfrm>
            <a:off x="548640" y="4005072"/>
            <a:ext cx="4206240" cy="256032"/>
          </a:xfrm>
          <a:prstGeom prst="rect">
            <a:avLst/>
          </a:prstGeom>
          <a:noFill/>
          <a:ln/>
        </p:spPr>
        <p:txBody>
          <a:bodyPr wrap="square" lIns="0" tIns="0" rIns="0" bIns="0" rtlCol="0" anchor="ctr"/>
          <a:lstStyle/>
          <a:p>
            <a:pPr indent="0" marL="0">
              <a:buNone/>
            </a:pPr>
            <a:r>
              <a:rPr lang="en-US" sz="1100" dirty="0">
                <a:solidFill>
                  <a:srgbClr val="C9CCE0"/>
                </a:solidFill>
              </a:rPr>
              <a:t>Guided by  </a:t>
            </a:r>
            <a:pPr indent="0" marL="0">
              <a:buNone/>
            </a:pPr>
            <a:r>
              <a:rPr lang="en-US" sz="1100" dirty="0">
                <a:solidFill>
                  <a:srgbClr val="FFFFFF"/>
                </a:solidFill>
              </a:rPr>
              <a:t>[Guide Name, Designation]</a:t>
            </a:r>
            <a:endParaRPr lang="en-US" sz="1100" dirty="0"/>
          </a:p>
        </p:txBody>
      </p:sp>
      <p:sp>
        <p:nvSpPr>
          <p:cNvPr id="12" name="College and date"/>
          <p:cNvSpPr txBox="1"/>
          <p:nvPr/>
        </p:nvSpPr>
        <p:spPr>
          <a:xfrm>
            <a:off x="548640" y="4297680"/>
            <a:ext cx="4206240" cy="256032"/>
          </a:xfrm>
          <a:prstGeom prst="rect">
            <a:avLst/>
          </a:prstGeom>
          <a:noFill/>
          <a:ln/>
        </p:spPr>
        <p:txBody>
          <a:bodyPr wrap="square" lIns="0" tIns="0" rIns="0" bIns="0" rtlCol="0" anchor="ctr"/>
          <a:lstStyle/>
          <a:p>
            <a:pPr indent="0" marL="0">
              <a:buNone/>
            </a:pPr>
            <a:r>
              <a:rPr lang="en-US" sz="1100" dirty="0">
                <a:solidFill>
                  <a:srgbClr val="C9CCE0"/>
                </a:solidFill>
              </a:rPr>
              <a:t>[Department], [College Name]  ·  [Month Year]</a:t>
            </a:r>
            <a:endParaRPr lang="en-US" sz="1100" dirty="0"/>
          </a:p>
        </p:txBody>
      </p:sp>
      <p:sp>
        <p:nvSpPr>
          <p:cNvPr id="13" name="Browser frame"/>
          <p:cNvSpPr/>
          <p:nvPr/>
        </p:nvSpPr>
        <p:spPr>
          <a:xfrm>
            <a:off x="4800600" y="914400"/>
            <a:ext cx="3931920" cy="2713482"/>
          </a:xfrm>
          <a:prstGeom prst="roundRect">
            <a:avLst>
              <a:gd name="adj" fmla="val 2696"/>
            </a:avLst>
          </a:prstGeom>
          <a:solidFill>
            <a:srgbClr val="2A2E52"/>
          </a:solidFill>
          <a:ln w="9525">
            <a:solidFill>
              <a:srgbClr val="3A3F6B"/>
            </a:solidFill>
            <a:prstDash val="solid"/>
          </a:ln>
        </p:spPr>
      </p:sp>
      <p:sp>
        <p:nvSpPr>
          <p:cNvPr id="14" name="Browser dot"/>
          <p:cNvSpPr/>
          <p:nvPr/>
        </p:nvSpPr>
        <p:spPr>
          <a:xfrm>
            <a:off x="4910328" y="987552"/>
            <a:ext cx="73152" cy="73152"/>
          </a:xfrm>
          <a:prstGeom prst="ellipse">
            <a:avLst/>
          </a:prstGeom>
          <a:solidFill>
            <a:srgbClr val="E57A5A"/>
          </a:solidFill>
          <a:ln w="12700">
            <a:solidFill>
              <a:srgbClr val="E57A5A"/>
            </a:solidFill>
            <a:prstDash val="solid"/>
          </a:ln>
        </p:spPr>
      </p:sp>
      <p:sp>
        <p:nvSpPr>
          <p:cNvPr id="15" name="Browser dot"/>
          <p:cNvSpPr/>
          <p:nvPr/>
        </p:nvSpPr>
        <p:spPr>
          <a:xfrm>
            <a:off x="5029200" y="987552"/>
            <a:ext cx="73152" cy="73152"/>
          </a:xfrm>
          <a:prstGeom prst="ellipse">
            <a:avLst/>
          </a:prstGeom>
          <a:solidFill>
            <a:srgbClr val="F0B13F"/>
          </a:solidFill>
          <a:ln w="12700">
            <a:solidFill>
              <a:srgbClr val="F0B13F"/>
            </a:solidFill>
            <a:prstDash val="solid"/>
          </a:ln>
        </p:spPr>
      </p:sp>
      <p:sp>
        <p:nvSpPr>
          <p:cNvPr id="16" name="Browser dot"/>
          <p:cNvSpPr/>
          <p:nvPr/>
        </p:nvSpPr>
        <p:spPr>
          <a:xfrm>
            <a:off x="5148072" y="987552"/>
            <a:ext cx="73152" cy="73152"/>
          </a:xfrm>
          <a:prstGeom prst="ellipse">
            <a:avLst/>
          </a:prstGeom>
          <a:solidFill>
            <a:srgbClr val="5DAA7E"/>
          </a:solidFill>
          <a:ln w="12700">
            <a:solidFill>
              <a:srgbClr val="5DAA7E"/>
            </a:solidFill>
            <a:prstDash val="solid"/>
          </a:ln>
        </p:spPr>
      </p:sp>
      <p:pic>
        <p:nvPicPr>
          <p:cNvPr id="17" name="Dashboard screenshot" descr="s/dashboard.jpg">    </p:cNvPr>
          <p:cNvPicPr>
            <a:picLocks noChangeAspect="1"/>
          </p:cNvPicPr>
          <p:nvPr/>
        </p:nvPicPr>
        <p:blipFill>
          <a:blip r:embed="rId1"/>
          <a:stretch>
            <a:fillRect/>
          </a:stretch>
        </p:blipFill>
        <p:spPr>
          <a:xfrm>
            <a:off x="4818888" y="1133856"/>
            <a:ext cx="3895344" cy="2434590"/>
          </a:xfrm>
          <a:prstGeom prst="rect">
            <a:avLst/>
          </a:prstGeom>
        </p:spPr>
      </p:pic>
      <p:sp>
        <p:nvSpPr>
          <p:cNvPr id="18" name="Screenshot caption"/>
          <p:cNvSpPr txBox="1"/>
          <p:nvPr/>
        </p:nvSpPr>
        <p:spPr>
          <a:xfrm>
            <a:off x="4800600" y="3701034"/>
            <a:ext cx="3108960" cy="228600"/>
          </a:xfrm>
          <a:prstGeom prst="rect">
            <a:avLst/>
          </a:prstGeom>
          <a:noFill/>
          <a:ln/>
        </p:spPr>
        <p:txBody>
          <a:bodyPr wrap="square" lIns="0" tIns="0" rIns="0" bIns="0" rtlCol="0" anchor="ctr"/>
          <a:lstStyle/>
          <a:p>
            <a:pPr indent="0" marL="0">
              <a:buNone/>
            </a:pPr>
            <a:r>
              <a:rPr lang="en-US" sz="900" i="1" dirty="0">
                <a:solidFill>
                  <a:srgbClr val="C9CCE0"/>
                </a:solidFill>
              </a:rPr>
              <a:t>Real app screenshot · demo account “Riya”</a:t>
            </a:r>
            <a:endParaRPr lang="en-US" sz="900" dirty="0"/>
          </a:p>
        </p:txBody>
      </p:sp>
      <p:pic>
        <p:nvPicPr>
          <p:cNvPr id="19" name="Doodle sparkle_a" descr="d/sparkle_a.png">    </p:cNvPr>
          <p:cNvPicPr>
            <a:picLocks noChangeAspect="1"/>
          </p:cNvPicPr>
          <p:nvPr/>
        </p:nvPicPr>
        <p:blipFill>
          <a:blip r:embed="rId2"/>
          <a:stretch>
            <a:fillRect/>
          </a:stretch>
        </p:blipFill>
        <p:spPr>
          <a:xfrm>
            <a:off x="8503920" y="548640"/>
            <a:ext cx="384048" cy="384048"/>
          </a:xfrm>
          <a:prstGeom prst="rect">
            <a:avLst/>
          </a:prstGeom>
        </p:spPr>
      </p:pic>
      <p:pic>
        <p:nvPicPr>
          <p:cNvPr id="20" name="Doodle note_w" descr="d/note_w.png">    </p:cNvPr>
          <p:cNvPicPr>
            <a:picLocks noChangeAspect="1"/>
          </p:cNvPicPr>
          <p:nvPr/>
        </p:nvPicPr>
        <p:blipFill>
          <a:blip r:embed="rId3"/>
          <a:stretch>
            <a:fillRect/>
          </a:stretch>
        </p:blipFill>
        <p:spPr>
          <a:xfrm>
            <a:off x="7909560" y="3931920"/>
            <a:ext cx="777240" cy="6309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6" type="body" hasCustomPrompt="1"/>
          </p:nvPr>
        </p:nvSpPr>
        <p:spPr>
          <a:xfrm>
            <a:off x="502920" y="329184"/>
            <a:ext cx="5486400" cy="237744"/>
          </a:xfrm>
          <a:prstGeom prst="rect">
            <a:avLst/>
          </a:prstGeom>
          <a:noFill/>
          <a:ln/>
        </p:spPr>
        <p:txBody>
          <a:bodyPr wrap="square" lIns="0" tIns="0" rIns="0" bIns="0" rtlCol="0"/>
          <a:lstStyle/>
          <a:p>
            <a:pPr indent="0" marL="0">
              <a:buNone/>
            </a:pPr>
            <a:r>
              <a:rPr lang="en-US" sz="1000" b="1" spc="150" kern="0" dirty="0">
                <a:solidFill>
                  <a:srgbClr val="3F44A0"/>
                </a:solidFill>
              </a:rPr>
              <a:t>02 / 09   WHY MINDTRACK</a:t>
            </a:r>
            <a:endParaRPr lang="en-US" sz="1000" dirty="0"/>
          </a:p>
        </p:txBody>
      </p:sp>
      <p:sp>
        <p:nvSpPr>
          <p:cNvPr id="3" name="Text 1"/>
          <p:cNvSpPr/>
          <p:nvPr>
            <p:ph idx="107" type="title" hasCustomPrompt="1"/>
          </p:nvPr>
        </p:nvSpPr>
        <p:spPr>
          <a:xfrm>
            <a:off x="502920" y="566928"/>
            <a:ext cx="8138160" cy="548640"/>
          </a:xfrm>
          <a:prstGeom prst="rect">
            <a:avLst/>
          </a:prstGeom>
          <a:noFill/>
          <a:ln/>
        </p:spPr>
        <p:txBody>
          <a:bodyPr wrap="square" lIns="0" tIns="0" rIns="0" bIns="0" rtlCol="0" anchor="ctr"/>
          <a:lstStyle/>
          <a:p>
            <a:pPr algn="l" indent="0" marL="0">
              <a:buNone/>
            </a:pPr>
            <a:r>
              <a:rPr lang="en-US" sz="2600" b="1" dirty="0">
                <a:solidFill>
                  <a:srgbClr val="1B1E3A"/>
                </a:solidFill>
                <a:latin typeface="Cambria" pitchFamily="34" charset="0"/>
                <a:ea typeface="Cambria" pitchFamily="34" charset="-122"/>
                <a:cs typeface="Cambria" pitchFamily="34" charset="-120"/>
              </a:rPr>
              <a:t>Problem Statement &amp; Objectives</a:t>
            </a:r>
            <a:endParaRPr lang="en-US" sz="2600" dirty="0"/>
          </a:p>
        </p:txBody>
      </p:sp>
      <p:sp>
        <p:nvSpPr>
          <p:cNvPr id="4" name="Problem panel"/>
          <p:cNvSpPr/>
          <p:nvPr/>
        </p:nvSpPr>
        <p:spPr>
          <a:xfrm>
            <a:off x="502920" y="1298448"/>
            <a:ext cx="3794760" cy="3246120"/>
          </a:xfrm>
          <a:prstGeom prst="roundRect">
            <a:avLst>
              <a:gd name="adj" fmla="val 2254"/>
            </a:avLst>
          </a:prstGeom>
          <a:solidFill>
            <a:srgbClr val="F3F4F8"/>
          </a:solidFill>
          <a:ln w="9525">
            <a:solidFill>
              <a:srgbClr val="F3F4F8"/>
            </a:solidFill>
            <a:prstDash val="solid"/>
          </a:ln>
        </p:spPr>
      </p:sp>
      <p:sp>
        <p:nvSpPr>
          <p:cNvPr id="5" name="Statistic card"/>
          <p:cNvSpPr/>
          <p:nvPr/>
        </p:nvSpPr>
        <p:spPr>
          <a:xfrm>
            <a:off x="640080" y="1435608"/>
            <a:ext cx="3520440" cy="896112"/>
          </a:xfrm>
          <a:prstGeom prst="roundRect">
            <a:avLst>
              <a:gd name="adj" fmla="val 8163"/>
            </a:avLst>
          </a:prstGeom>
          <a:solidFill>
            <a:srgbClr val="1B1E3A"/>
          </a:solidFill>
          <a:ln w="9525">
            <a:solidFill>
              <a:srgbClr val="1B1E3A"/>
            </a:solidFill>
            <a:prstDash val="solid"/>
          </a:ln>
        </p:spPr>
      </p:sp>
      <p:sp>
        <p:nvSpPr>
          <p:cNvPr id="6" name="Statistic"/>
          <p:cNvSpPr txBox="1"/>
          <p:nvPr/>
        </p:nvSpPr>
        <p:spPr>
          <a:xfrm>
            <a:off x="777240" y="1463040"/>
            <a:ext cx="1234440" cy="658368"/>
          </a:xfrm>
          <a:prstGeom prst="rect">
            <a:avLst/>
          </a:prstGeom>
          <a:noFill/>
          <a:ln/>
        </p:spPr>
        <p:txBody>
          <a:bodyPr wrap="square" lIns="0" tIns="0" rIns="0" bIns="0" rtlCol="0" anchor="ctr"/>
          <a:lstStyle/>
          <a:p>
            <a:pPr indent="0" marL="0">
              <a:buNone/>
            </a:pPr>
            <a:r>
              <a:rPr lang="en-US" sz="3000" b="1" dirty="0">
                <a:solidFill>
                  <a:srgbClr val="F0B13F"/>
                </a:solidFill>
                <a:latin typeface="Cambria" pitchFamily="34" charset="0"/>
                <a:ea typeface="Cambria" pitchFamily="34" charset="-122"/>
                <a:cs typeface="Cambria" pitchFamily="34" charset="-120"/>
              </a:rPr>
              <a:t>1 in 7</a:t>
            </a:r>
            <a:endParaRPr lang="en-US" sz="3000" dirty="0"/>
          </a:p>
        </p:txBody>
      </p:sp>
      <p:sp>
        <p:nvSpPr>
          <p:cNvPr id="7" name="Statistic text"/>
          <p:cNvSpPr txBox="1"/>
          <p:nvPr/>
        </p:nvSpPr>
        <p:spPr>
          <a:xfrm>
            <a:off x="2011680" y="1517904"/>
            <a:ext cx="2057400" cy="512064"/>
          </a:xfrm>
          <a:prstGeom prst="rect">
            <a:avLst/>
          </a:prstGeom>
          <a:noFill/>
          <a:ln/>
        </p:spPr>
        <p:txBody>
          <a:bodyPr wrap="square" lIns="0" tIns="0" rIns="0" bIns="0" rtlCol="0" anchor="t"/>
          <a:lstStyle/>
          <a:p>
            <a:pPr indent="0" marL="0">
              <a:buNone/>
            </a:pPr>
            <a:r>
              <a:rPr lang="en-US" sz="1100" dirty="0">
                <a:solidFill>
                  <a:srgbClr val="FFFFFF"/>
                </a:solidFill>
              </a:rPr>
              <a:t>10–19-year-olds worldwide experience a mental disorder</a:t>
            </a:r>
            <a:endParaRPr lang="en-US" sz="1100" dirty="0"/>
          </a:p>
        </p:txBody>
      </p:sp>
      <p:sp>
        <p:nvSpPr>
          <p:cNvPr id="8" name="Statistic source"/>
          <p:cNvSpPr txBox="1"/>
          <p:nvPr/>
        </p:nvSpPr>
        <p:spPr>
          <a:xfrm>
            <a:off x="777240" y="2084832"/>
            <a:ext cx="3291840" cy="182880"/>
          </a:xfrm>
          <a:prstGeom prst="rect">
            <a:avLst/>
          </a:prstGeom>
          <a:noFill/>
          <a:ln/>
        </p:spPr>
        <p:txBody>
          <a:bodyPr wrap="square" lIns="0" tIns="0" rIns="0" bIns="0" rtlCol="0" anchor="ctr"/>
          <a:lstStyle/>
          <a:p>
            <a:pPr indent="0" marL="0">
              <a:buNone/>
            </a:pPr>
            <a:r>
              <a:rPr lang="en-US" sz="800" i="1" dirty="0">
                <a:solidFill>
                  <a:srgbClr val="C9CCE0"/>
                </a:solidFill>
              </a:rPr>
              <a:t>Source: WHO, Mental health of adolescents, 2025</a:t>
            </a:r>
            <a:endParaRPr lang="en-US" sz="800" dirty="0"/>
          </a:p>
        </p:txBody>
      </p:sp>
      <p:sp>
        <p:nvSpPr>
          <p:cNvPr id="9" name="Text 7"/>
          <p:cNvSpPr txBox="1"/>
          <p:nvPr/>
        </p:nvSpPr>
        <p:spPr>
          <a:xfrm>
            <a:off x="685800" y="2432304"/>
            <a:ext cx="2743200" cy="182880"/>
          </a:xfrm>
          <a:prstGeom prst="rect">
            <a:avLst/>
          </a:prstGeom>
          <a:noFill/>
          <a:ln/>
        </p:spPr>
        <p:txBody>
          <a:bodyPr wrap="square" lIns="0" tIns="0" rIns="0" bIns="0" rtlCol="0" anchor="ctr"/>
          <a:lstStyle/>
          <a:p>
            <a:pPr indent="0" marL="0">
              <a:buNone/>
            </a:pPr>
            <a:r>
              <a:rPr lang="en-US" sz="900" b="1" spc="150" kern="0" dirty="0">
                <a:solidFill>
                  <a:srgbClr val="60667D"/>
                </a:solidFill>
              </a:rPr>
              <a:t>THE PROBLEM</a:t>
            </a:r>
            <a:endParaRPr lang="en-US" sz="900" dirty="0"/>
          </a:p>
        </p:txBody>
      </p:sp>
      <p:pic>
        <p:nvPicPr>
          <p:cNvPr id="10" name="Emoji shrug" descr="e/shrug.png">    </p:cNvPr>
          <p:cNvPicPr>
            <a:picLocks noChangeAspect="1"/>
          </p:cNvPicPr>
          <p:nvPr/>
        </p:nvPicPr>
        <p:blipFill>
          <a:blip r:embed="rId1"/>
          <a:stretch>
            <a:fillRect/>
          </a:stretch>
        </p:blipFill>
        <p:spPr>
          <a:xfrm>
            <a:off x="685800" y="2688336"/>
            <a:ext cx="237744" cy="237744"/>
          </a:xfrm>
          <a:prstGeom prst="rect">
            <a:avLst/>
          </a:prstGeom>
        </p:spPr>
      </p:pic>
      <p:sp>
        <p:nvSpPr>
          <p:cNvPr id="11" name="Problem 1"/>
          <p:cNvSpPr txBox="1"/>
          <p:nvPr/>
        </p:nvSpPr>
        <p:spPr>
          <a:xfrm>
            <a:off x="1051560" y="2670048"/>
            <a:ext cx="3108960" cy="420624"/>
          </a:xfrm>
          <a:prstGeom prst="rect">
            <a:avLst/>
          </a:prstGeom>
          <a:noFill/>
          <a:ln/>
        </p:spPr>
        <p:txBody>
          <a:bodyPr wrap="square" lIns="0" tIns="0" rIns="0" bIns="0" rtlCol="0" anchor="t"/>
          <a:lstStyle/>
          <a:p>
            <a:pPr indent="0" marL="0">
              <a:buNone/>
            </a:pPr>
            <a:r>
              <a:rPr lang="en-US" sz="1150" dirty="0">
                <a:solidFill>
                  <a:srgbClr val="23263A"/>
                </a:solidFill>
              </a:rPr>
              <a:t>Students and young adults rarely track how they feel or why.</a:t>
            </a:r>
            <a:endParaRPr lang="en-US" sz="1150" dirty="0"/>
          </a:p>
        </p:txBody>
      </p:sp>
      <p:pic>
        <p:nvPicPr>
          <p:cNvPr id="12" name="Emoji puzzle" descr="e/puzzle.png">    </p:cNvPr>
          <p:cNvPicPr>
            <a:picLocks noChangeAspect="1"/>
          </p:cNvPicPr>
          <p:nvPr/>
        </p:nvPicPr>
        <p:blipFill>
          <a:blip r:embed="rId2"/>
          <a:stretch>
            <a:fillRect/>
          </a:stretch>
        </p:blipFill>
        <p:spPr>
          <a:xfrm>
            <a:off x="685800" y="3145536"/>
            <a:ext cx="237744" cy="237744"/>
          </a:xfrm>
          <a:prstGeom prst="rect">
            <a:avLst/>
          </a:prstGeom>
        </p:spPr>
      </p:pic>
      <p:sp>
        <p:nvSpPr>
          <p:cNvPr id="13" name="Problem 2"/>
          <p:cNvSpPr txBox="1"/>
          <p:nvPr/>
        </p:nvSpPr>
        <p:spPr>
          <a:xfrm>
            <a:off x="1051560" y="3127248"/>
            <a:ext cx="3108960" cy="420624"/>
          </a:xfrm>
          <a:prstGeom prst="rect">
            <a:avLst/>
          </a:prstGeom>
          <a:noFill/>
          <a:ln/>
        </p:spPr>
        <p:txBody>
          <a:bodyPr wrap="square" lIns="0" tIns="0" rIns="0" bIns="0" rtlCol="0" anchor="t"/>
          <a:lstStyle/>
          <a:p>
            <a:pPr indent="0" marL="0">
              <a:buNone/>
            </a:pPr>
            <a:r>
              <a:rPr lang="en-US" sz="1150" dirty="0">
                <a:solidFill>
                  <a:srgbClr val="23263A"/>
                </a:solidFill>
              </a:rPr>
              <a:t>Most apps do only one thing: mood logs, journaling, or a chatbot.</a:t>
            </a:r>
            <a:endParaRPr lang="en-US" sz="1150" dirty="0"/>
          </a:p>
        </p:txBody>
      </p:sp>
      <p:pic>
        <p:nvPicPr>
          <p:cNvPr id="14" name="Emoji think" descr="e/think.png">    </p:cNvPr>
          <p:cNvPicPr>
            <a:picLocks noChangeAspect="1"/>
          </p:cNvPicPr>
          <p:nvPr/>
        </p:nvPicPr>
        <p:blipFill>
          <a:blip r:embed="rId3"/>
          <a:stretch>
            <a:fillRect/>
          </a:stretch>
        </p:blipFill>
        <p:spPr>
          <a:xfrm>
            <a:off x="685800" y="3602736"/>
            <a:ext cx="237744" cy="237744"/>
          </a:xfrm>
          <a:prstGeom prst="rect">
            <a:avLst/>
          </a:prstGeom>
        </p:spPr>
      </p:pic>
      <p:sp>
        <p:nvSpPr>
          <p:cNvPr id="15" name="Problem 3"/>
          <p:cNvSpPr txBox="1"/>
          <p:nvPr/>
        </p:nvSpPr>
        <p:spPr>
          <a:xfrm>
            <a:off x="1051560" y="3584448"/>
            <a:ext cx="3108960" cy="420624"/>
          </a:xfrm>
          <a:prstGeom prst="rect">
            <a:avLst/>
          </a:prstGeom>
          <a:noFill/>
          <a:ln/>
        </p:spPr>
        <p:txBody>
          <a:bodyPr wrap="square" lIns="0" tIns="0" rIns="0" bIns="0" rtlCol="0" anchor="t"/>
          <a:lstStyle/>
          <a:p>
            <a:pPr indent="0" marL="0">
              <a:buNone/>
            </a:pPr>
            <a:r>
              <a:rPr lang="en-US" sz="1150" dirty="0">
                <a:solidFill>
                  <a:srgbClr val="23263A"/>
                </a:solidFill>
              </a:rPr>
              <a:t>Generic insights feel like black boxes, or worse, like diagnoses.</a:t>
            </a:r>
            <a:endParaRPr lang="en-US" sz="1150" dirty="0"/>
          </a:p>
        </p:txBody>
      </p:sp>
      <p:pic>
        <p:nvPicPr>
          <p:cNvPr id="16" name="Emoji lock" descr="e/lock.png">    </p:cNvPr>
          <p:cNvPicPr>
            <a:picLocks noChangeAspect="1"/>
          </p:cNvPicPr>
          <p:nvPr/>
        </p:nvPicPr>
        <p:blipFill>
          <a:blip r:embed="rId4"/>
          <a:stretch>
            <a:fillRect/>
          </a:stretch>
        </p:blipFill>
        <p:spPr>
          <a:xfrm>
            <a:off x="685800" y="4059936"/>
            <a:ext cx="237744" cy="237744"/>
          </a:xfrm>
          <a:prstGeom prst="rect">
            <a:avLst/>
          </a:prstGeom>
        </p:spPr>
      </p:pic>
      <p:sp>
        <p:nvSpPr>
          <p:cNvPr id="17" name="Problem 4"/>
          <p:cNvSpPr txBox="1"/>
          <p:nvPr/>
        </p:nvSpPr>
        <p:spPr>
          <a:xfrm>
            <a:off x="1051560" y="4041648"/>
            <a:ext cx="3108960" cy="420624"/>
          </a:xfrm>
          <a:prstGeom prst="rect">
            <a:avLst/>
          </a:prstGeom>
          <a:noFill/>
          <a:ln/>
        </p:spPr>
        <p:txBody>
          <a:bodyPr wrap="square" lIns="0" tIns="0" rIns="0" bIns="0" rtlCol="0" anchor="t"/>
          <a:lstStyle/>
          <a:p>
            <a:pPr indent="0" marL="0">
              <a:buNone/>
            </a:pPr>
            <a:r>
              <a:rPr lang="en-US" sz="1150" dirty="0">
                <a:solidFill>
                  <a:srgbClr val="23263A"/>
                </a:solidFill>
              </a:rPr>
              <a:t>Private thoughts deserve real privacy protection.</a:t>
            </a:r>
            <a:endParaRPr lang="en-US" sz="1150" dirty="0"/>
          </a:p>
        </p:txBody>
      </p:sp>
      <p:sp>
        <p:nvSpPr>
          <p:cNvPr id="18" name="Objectives panel"/>
          <p:cNvSpPr/>
          <p:nvPr/>
        </p:nvSpPr>
        <p:spPr>
          <a:xfrm>
            <a:off x="4434840" y="1298448"/>
            <a:ext cx="4206240" cy="3246120"/>
          </a:xfrm>
          <a:prstGeom prst="roundRect">
            <a:avLst>
              <a:gd name="adj" fmla="val 2254"/>
            </a:avLst>
          </a:prstGeom>
          <a:solidFill>
            <a:srgbClr val="FFFFFF"/>
          </a:solidFill>
          <a:ln w="9525">
            <a:solidFill>
              <a:srgbClr val="DCDFE9"/>
            </a:solidFill>
            <a:prstDash val="solid"/>
          </a:ln>
        </p:spPr>
      </p:sp>
      <p:pic>
        <p:nvPicPr>
          <p:cNvPr id="19" name="Emoji target" descr="e/target.png">    </p:cNvPr>
          <p:cNvPicPr>
            <a:picLocks noChangeAspect="1"/>
          </p:cNvPicPr>
          <p:nvPr/>
        </p:nvPicPr>
        <p:blipFill>
          <a:blip r:embed="rId5"/>
          <a:stretch>
            <a:fillRect/>
          </a:stretch>
        </p:blipFill>
        <p:spPr>
          <a:xfrm>
            <a:off x="4590288" y="1417320"/>
            <a:ext cx="256032" cy="256032"/>
          </a:xfrm>
          <a:prstGeom prst="rect">
            <a:avLst/>
          </a:prstGeom>
        </p:spPr>
      </p:pic>
      <p:sp>
        <p:nvSpPr>
          <p:cNvPr id="20" name="Text 13"/>
          <p:cNvSpPr txBox="1"/>
          <p:nvPr/>
        </p:nvSpPr>
        <p:spPr>
          <a:xfrm>
            <a:off x="4919472" y="1399032"/>
            <a:ext cx="3200400" cy="292608"/>
          </a:xfrm>
          <a:prstGeom prst="rect">
            <a:avLst/>
          </a:prstGeom>
          <a:noFill/>
          <a:ln/>
        </p:spPr>
        <p:txBody>
          <a:bodyPr wrap="square" lIns="0" tIns="0" rIns="0" bIns="0" rtlCol="0" anchor="ctr"/>
          <a:lstStyle/>
          <a:p>
            <a:pPr indent="0" marL="0">
              <a:buNone/>
            </a:pPr>
            <a:r>
              <a:rPr lang="en-US" sz="1500" b="1" dirty="0">
                <a:solidFill>
                  <a:srgbClr val="1B1E3A"/>
                </a:solidFill>
                <a:latin typeface="Cambria" pitchFamily="34" charset="0"/>
                <a:ea typeface="Cambria" pitchFamily="34" charset="-122"/>
                <a:cs typeface="Cambria" pitchFamily="34" charset="-120"/>
              </a:rPr>
              <a:t>What we set out to do</a:t>
            </a:r>
            <a:endParaRPr lang="en-US" sz="1500" dirty="0"/>
          </a:p>
        </p:txBody>
      </p:sp>
      <p:sp>
        <p:nvSpPr>
          <p:cNvPr id="21" name="Legend"/>
          <p:cNvSpPr txBox="1"/>
          <p:nvPr/>
        </p:nvSpPr>
        <p:spPr>
          <a:xfrm>
            <a:off x="4590288" y="1700784"/>
            <a:ext cx="3931920" cy="201168"/>
          </a:xfrm>
          <a:prstGeom prst="rect">
            <a:avLst/>
          </a:prstGeom>
          <a:noFill/>
          <a:ln/>
        </p:spPr>
        <p:txBody>
          <a:bodyPr wrap="square" lIns="0" tIns="0" rIns="0" bIns="0" rtlCol="0" anchor="ctr"/>
          <a:lstStyle/>
          <a:p>
            <a:pPr indent="0" marL="0">
              <a:buNone/>
            </a:pPr>
            <a:r>
              <a:rPr lang="en-US" sz="850" dirty="0">
                <a:solidFill>
                  <a:srgbClr val="60667D"/>
                </a:solidFill>
              </a:rPr>
              <a:t>…and how typical single-purpose apps compare   ✓ yes   ~ partly   – no</a:t>
            </a:r>
            <a:endParaRPr lang="en-US" sz="850" dirty="0"/>
          </a:p>
        </p:txBody>
      </p:sp>
      <p:graphicFrame>
        <p:nvGraphicFramePr>
          <p:cNvPr id="3" name="Objectives comparison"/>
          <p:cNvGraphicFramePr>
            <a:graphicFrameLocks noGrp="1"/>
          </p:cNvGraphicFramePr>
          <p:nvPr>
            <p:extLst>
              <p:ext uri="{D42A27DB-BD31-4B8C-83A1-F6EECF244321}">
                <p14:modId xmlns:p14="http://schemas.microsoft.com/office/powerpoint/2010/main" val="1579011935"/>
              </p:ext>
            </p:extLst>
          </p:nvPr>
        </p:nvGraphicFramePr>
        <p:xfrm>
          <a:off x="4572000" y="1956816"/>
          <a:ext cx="3931920" cy="914400"/>
        </p:xfrm>
        <a:graphic>
          <a:graphicData uri="http://schemas.openxmlformats.org/drawingml/2006/table">
            <a:tbl>
              <a:tblPr/>
              <a:tblGrid>
                <a:gridCol w="1965960"/>
                <a:gridCol w="457200"/>
                <a:gridCol w="457200"/>
                <a:gridCol w="457200"/>
                <a:gridCol w="594360"/>
              </a:tblGrid>
              <a:tr h="329184">
                <a:tc>
                  <a:txBody>
                    <a:bodyPr/>
                    <a:lstStyle/>
                    <a:p>
                      <a:pPr indent="0" marL="0">
                        <a:buNone/>
                      </a:pPr>
                      <a:r>
                        <a:rPr lang="en-US" sz="800" b="1" spc="100" kern="0" dirty="0">
                          <a:solidFill>
                            <a:srgbClr val="60667D"/>
                          </a:solidFill>
                          <a:latin typeface="Calibri" pitchFamily="34" charset="0"/>
                          <a:ea typeface="Calibri" pitchFamily="34" charset="-122"/>
                          <a:cs typeface="Calibri" pitchFamily="34" charset="-120"/>
                        </a:rPr>
                        <a:t>OBJECTIVE</a:t>
                      </a:r>
                      <a:endParaRPr lang="en-US" sz="8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800" b="1" dirty="0">
                          <a:solidFill>
                            <a:srgbClr val="60667D"/>
                          </a:solidFill>
                          <a:latin typeface="Calibri" pitchFamily="34" charset="0"/>
                          <a:ea typeface="Calibri" pitchFamily="34" charset="-122"/>
                          <a:cs typeface="Calibri" pitchFamily="34" charset="-120"/>
                        </a:rPr>
                        <a:t>Mood app</a:t>
                      </a:r>
                      <a:endParaRPr lang="en-US" sz="800" dirty="0">
                        <a:latin typeface="Calibri" charset="0"/>
                        <a:ea typeface="Calibri" charset="0"/>
                        <a:cs typeface="Calibri" charset="0"/>
                      </a:endParaRPr>
                    </a:p>
                  </a:txBody>
                  <a:tcPr marL="18288" marR="18288"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60667D"/>
                          </a:solidFill>
                          <a:latin typeface="Calibri" pitchFamily="34" charset="0"/>
                          <a:ea typeface="Calibri" pitchFamily="34" charset="-122"/>
                          <a:cs typeface="Calibri" pitchFamily="34" charset="-120"/>
                        </a:rPr>
                        <a:t>Journal app</a:t>
                      </a:r>
                      <a:endParaRPr lang="en-US" sz="800" dirty="0">
                        <a:latin typeface="Calibri" charset="0"/>
                        <a:ea typeface="Calibri" charset="0"/>
                        <a:cs typeface="Calibri" charset="0"/>
                      </a:endParaRPr>
                    </a:p>
                  </a:txBody>
                  <a:tcPr marL="18288" marR="18288"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60667D"/>
                          </a:solidFill>
                          <a:latin typeface="Calibri" pitchFamily="34" charset="0"/>
                          <a:ea typeface="Calibri" pitchFamily="34" charset="-122"/>
                          <a:cs typeface="Calibri" pitchFamily="34" charset="-120"/>
                        </a:rPr>
                        <a:t>Chatbot</a:t>
                      </a:r>
                      <a:endParaRPr lang="en-US" sz="800" dirty="0">
                        <a:latin typeface="Calibri" charset="0"/>
                        <a:ea typeface="Calibri" charset="0"/>
                        <a:cs typeface="Calibri" charset="0"/>
                      </a:endParaRPr>
                    </a:p>
                  </a:txBody>
                  <a:tcPr marL="18288" marR="18288"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FFFFFF"/>
                          </a:solidFill>
                          <a:latin typeface="Calibri" pitchFamily="34" charset="0"/>
                          <a:ea typeface="Calibri" pitchFamily="34" charset="-122"/>
                          <a:cs typeface="Calibri" pitchFamily="34" charset="-120"/>
                        </a:rPr>
                        <a:t>MindTrack</a:t>
                      </a:r>
                      <a:endParaRPr lang="en-US" sz="800" dirty="0">
                        <a:latin typeface="Calibri" charset="0"/>
                        <a:ea typeface="Calibri" charset="0"/>
                        <a:cs typeface="Calibri" charset="0"/>
                      </a:endParaRPr>
                    </a:p>
                  </a:txBody>
                  <a:tcPr marL="18288" marR="18288"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solidFill>
                      <a:srgbClr val="3F44A0"/>
                    </a:solidFill>
                  </a:tcPr>
                </a:tc>
              </a:tr>
              <a:tr h="438912">
                <a:tc>
                  <a:txBody>
                    <a:bodyPr/>
                    <a:lstStyle/>
                    <a:p>
                      <a:pPr indent="0" marL="0">
                        <a:buNone/>
                      </a:pPr>
                      <a:r>
                        <a:rPr lang="en-US" sz="1050" dirty="0">
                          <a:solidFill>
                            <a:srgbClr val="23263A"/>
                          </a:solidFill>
                          <a:latin typeface="Calibri" pitchFamily="34" charset="0"/>
                          <a:ea typeface="Calibri" pitchFamily="34" charset="-122"/>
                          <a:cs typeface="Calibri" pitchFamily="34" charset="-120"/>
                        </a:rPr>
                        <a:t>Make daily mood check-ins quick and comforting.</a:t>
                      </a:r>
                      <a:endParaRPr lang="en-US" sz="105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b="1" dirty="0">
                          <a:solidFill>
                            <a:srgbClr val="2326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300" b="1" dirty="0">
                          <a:solidFill>
                            <a:srgbClr val="3F44A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solidFill>
                      <a:srgbClr val="ECEDF8"/>
                    </a:solidFill>
                  </a:tcPr>
                </a:tc>
              </a:tr>
              <a:tr h="438912">
                <a:tc>
                  <a:txBody>
                    <a:bodyPr/>
                    <a:lstStyle/>
                    <a:p>
                      <a:pPr indent="0" marL="0">
                        <a:buNone/>
                      </a:pPr>
                      <a:r>
                        <a:rPr lang="en-US" sz="1050" dirty="0">
                          <a:solidFill>
                            <a:srgbClr val="23263A"/>
                          </a:solidFill>
                          <a:latin typeface="Calibri" pitchFamily="34" charset="0"/>
                          <a:ea typeface="Calibri" pitchFamily="34" charset="-122"/>
                          <a:cs typeface="Calibri" pitchFamily="34" charset="-120"/>
                        </a:rPr>
                        <a:t>Turn a user's own entries into understandable, non-diagnostic patterns.</a:t>
                      </a:r>
                      <a:endParaRPr lang="en-US" sz="105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300" b="1" dirty="0">
                          <a:solidFill>
                            <a:srgbClr val="3F44A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solidFill>
                      <a:srgbClr val="ECEDF8"/>
                    </a:solidFill>
                  </a:tcPr>
                </a:tc>
              </a:tr>
              <a:tr h="438912">
                <a:tc>
                  <a:txBody>
                    <a:bodyPr/>
                    <a:lstStyle/>
                    <a:p>
                      <a:pPr indent="0" marL="0">
                        <a:buNone/>
                      </a:pPr>
                      <a:r>
                        <a:rPr lang="en-US" sz="1050" dirty="0">
                          <a:solidFill>
                            <a:srgbClr val="23263A"/>
                          </a:solidFill>
                          <a:latin typeface="Calibri" pitchFamily="34" charset="0"/>
                          <a:ea typeface="Calibri" pitchFamily="34" charset="-122"/>
                          <a:cs typeface="Calibri" pitchFamily="34" charset="-120"/>
                        </a:rPr>
                        <a:t>Encourage reflection with gentle CBT-inspired prompts.</a:t>
                      </a:r>
                      <a:endParaRPr lang="en-US" sz="105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300" b="1" dirty="0">
                          <a:solidFill>
                            <a:srgbClr val="3F44A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solidFill>
                      <a:srgbClr val="ECEDF8"/>
                    </a:solidFill>
                  </a:tcPr>
                </a:tc>
              </a:tr>
              <a:tr h="438912">
                <a:tc>
                  <a:txBody>
                    <a:bodyPr/>
                    <a:lstStyle/>
                    <a:p>
                      <a:pPr indent="0" marL="0">
                        <a:buNone/>
                      </a:pPr>
                      <a:r>
                        <a:rPr lang="en-US" sz="1050" dirty="0">
                          <a:solidFill>
                            <a:srgbClr val="23263A"/>
                          </a:solidFill>
                          <a:latin typeface="Calibri" pitchFamily="34" charset="0"/>
                          <a:ea typeface="Calibri" pitchFamily="34" charset="-122"/>
                          <a:cs typeface="Calibri" pitchFamily="34" charset="-120"/>
                        </a:rPr>
                        <a:t>Protect journal text with encryption.</a:t>
                      </a:r>
                      <a:endParaRPr lang="en-US" sz="105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300" b="1" dirty="0">
                          <a:solidFill>
                            <a:srgbClr val="3F44A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solidFill>
                      <a:srgbClr val="ECEDF8"/>
                    </a:solidFill>
                  </a:tcPr>
                </a:tc>
              </a:tr>
              <a:tr h="438912">
                <a:tc>
                  <a:txBody>
                    <a:bodyPr/>
                    <a:lstStyle/>
                    <a:p>
                      <a:pPr indent="0" marL="0">
                        <a:buNone/>
                      </a:pPr>
                      <a:r>
                        <a:rPr lang="en-US" sz="1050" dirty="0">
                          <a:solidFill>
                            <a:srgbClr val="23263A"/>
                          </a:solidFill>
                          <a:latin typeface="Calibri" pitchFamily="34" charset="0"/>
                          <a:ea typeface="Calibri" pitchFamily="34" charset="-122"/>
                          <a:cs typeface="Calibri" pitchFamily="34" charset="-120"/>
                        </a:rPr>
                        <a:t>Let users export a counselor-friendly PDF, on their terms.</a:t>
                      </a:r>
                      <a:endParaRPr lang="en-US" sz="105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200" dirty="0">
                          <a:solidFill>
                            <a:srgbClr val="60667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tcPr>
                </a:tc>
                <a:tc>
                  <a:txBody>
                    <a:bodyPr/>
                    <a:lstStyle/>
                    <a:p>
                      <a:pPr algn="ctr" indent="0" marL="0">
                        <a:buNone/>
                      </a:pPr>
                      <a:r>
                        <a:rPr lang="en-US" sz="1300" b="1" dirty="0">
                          <a:solidFill>
                            <a:srgbClr val="3F44A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6350" cap="flat" cmpd="sng" algn="ctr">
                      <a:solidFill>
                        <a:srgbClr val="DCDFE9"/>
                      </a:solidFill>
                      <a:prstDash val="solid"/>
                      <a:round/>
                      <a:headEnd type="none" w="med" len="med"/>
                      <a:tailEnd type="none" w="med" len="med"/>
                    </a:lnB>
                    <a:solidFill>
                      <a:srgbClr val="ECEDF8"/>
                    </a:solidFill>
                  </a:tcPr>
                </a:tc>
              </a:tr>
            </a:tbl>
          </a:graphicData>
        </a:graphic>
      </p:graphicFrame>
      <p:sp>
        <p:nvSpPr>
          <p:cNvPr id="25" name="Slide Number Placeholder 0"/>
          <p:cNvSpPr>
            <a:spLocks noGrp="1"/>
          </p:cNvSpPr>
          <p:nvPr>
            <p:ph type="sldNum" sz="quarter" idx="4294967295"/>
          </p:nvPr>
        </p:nvSpPr>
        <p:spPr>
          <a:xfrm>
            <a:off x="8183880" y="4736592"/>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066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6" type="body" hasCustomPrompt="1"/>
          </p:nvPr>
        </p:nvSpPr>
        <p:spPr>
          <a:xfrm>
            <a:off x="502920" y="329184"/>
            <a:ext cx="5486400" cy="237744"/>
          </a:xfrm>
          <a:prstGeom prst="rect">
            <a:avLst/>
          </a:prstGeom>
          <a:noFill/>
          <a:ln/>
        </p:spPr>
        <p:txBody>
          <a:bodyPr wrap="square" lIns="0" tIns="0" rIns="0" bIns="0" rtlCol="0"/>
          <a:lstStyle/>
          <a:p>
            <a:pPr indent="0" marL="0">
              <a:buNone/>
            </a:pPr>
            <a:r>
              <a:rPr lang="en-US" sz="1000" b="1" spc="150" kern="0" dirty="0">
                <a:solidFill>
                  <a:srgbClr val="3F44A0"/>
                </a:solidFill>
              </a:rPr>
              <a:t>03 / 09   WHAT IT DOES</a:t>
            </a:r>
            <a:endParaRPr lang="en-US" sz="1000" dirty="0"/>
          </a:p>
        </p:txBody>
      </p:sp>
      <p:sp>
        <p:nvSpPr>
          <p:cNvPr id="3" name="Text 1"/>
          <p:cNvSpPr/>
          <p:nvPr>
            <p:ph idx="107" type="title" hasCustomPrompt="1"/>
          </p:nvPr>
        </p:nvSpPr>
        <p:spPr>
          <a:xfrm>
            <a:off x="502920" y="566928"/>
            <a:ext cx="8138160" cy="548640"/>
          </a:xfrm>
          <a:prstGeom prst="rect">
            <a:avLst/>
          </a:prstGeom>
          <a:noFill/>
          <a:ln/>
        </p:spPr>
        <p:txBody>
          <a:bodyPr wrap="square" lIns="0" tIns="0" rIns="0" bIns="0" rtlCol="0" anchor="ctr"/>
          <a:lstStyle/>
          <a:p>
            <a:pPr algn="l" indent="0" marL="0">
              <a:buNone/>
            </a:pPr>
            <a:r>
              <a:rPr lang="en-US" sz="2600" b="1" dirty="0">
                <a:solidFill>
                  <a:srgbClr val="1B1E3A"/>
                </a:solidFill>
                <a:latin typeface="Cambria" pitchFamily="34" charset="0"/>
                <a:ea typeface="Cambria" pitchFamily="34" charset="-122"/>
                <a:cs typeface="Cambria" pitchFamily="34" charset="-120"/>
              </a:rPr>
              <a:t>Key Features</a:t>
            </a:r>
            <a:endParaRPr lang="en-US" sz="2600" dirty="0"/>
          </a:p>
        </p:txBody>
      </p:sp>
      <p:sp>
        <p:nvSpPr>
          <p:cNvPr id="4" name="Story intro"/>
          <p:cNvSpPr txBox="1"/>
          <p:nvPr/>
        </p:nvSpPr>
        <p:spPr>
          <a:xfrm>
            <a:off x="502920" y="1188720"/>
            <a:ext cx="5120640" cy="274320"/>
          </a:xfrm>
          <a:prstGeom prst="rect">
            <a:avLst/>
          </a:prstGeom>
          <a:noFill/>
          <a:ln/>
        </p:spPr>
        <p:txBody>
          <a:bodyPr wrap="square" lIns="0" tIns="0" rIns="0" bIns="0" rtlCol="0" anchor="ctr"/>
          <a:lstStyle/>
          <a:p>
            <a:pPr indent="0" marL="0">
              <a:buNone/>
            </a:pPr>
            <a:r>
              <a:rPr lang="en-US" sz="1300" i="1" dirty="0">
                <a:solidFill>
                  <a:srgbClr val="3F44A0"/>
                </a:solidFill>
                <a:latin typeface="Cambria" pitchFamily="34" charset="0"/>
                <a:ea typeface="Cambria" pitchFamily="34" charset="-122"/>
                <a:cs typeface="Cambria" pitchFamily="34" charset="-120"/>
              </a:rPr>
              <a:t>Follow Riya, our demo user, through one exam week →</a:t>
            </a:r>
            <a:endParaRPr lang="en-US" sz="1300" dirty="0"/>
          </a:p>
        </p:txBody>
      </p:sp>
      <p:pic>
        <p:nvPicPr>
          <p:cNvPr id="5" name="Mindy" descr="a/mindy.png">    </p:cNvPr>
          <p:cNvPicPr>
            <a:picLocks noChangeAspect="1"/>
          </p:cNvPicPr>
          <p:nvPr/>
        </p:nvPicPr>
        <p:blipFill>
          <a:blip r:embed="rId1"/>
          <a:stretch>
            <a:fillRect/>
          </a:stretch>
        </p:blipFill>
        <p:spPr>
          <a:xfrm>
            <a:off x="5989320" y="1133856"/>
            <a:ext cx="274320" cy="356616"/>
          </a:xfrm>
          <a:prstGeom prst="rect">
            <a:avLst/>
          </a:prstGeom>
        </p:spPr>
      </p:pic>
      <p:sp>
        <p:nvSpPr>
          <p:cNvPr id="6" name="Mindy feature"/>
          <p:cNvSpPr txBox="1"/>
          <p:nvPr/>
        </p:nvSpPr>
        <p:spPr>
          <a:xfrm>
            <a:off x="6327648" y="1188720"/>
            <a:ext cx="2331720" cy="274320"/>
          </a:xfrm>
          <a:prstGeom prst="rect">
            <a:avLst/>
          </a:prstGeom>
          <a:noFill/>
          <a:ln/>
        </p:spPr>
        <p:txBody>
          <a:bodyPr wrap="square" lIns="0" tIns="0" rIns="0" bIns="0" rtlCol="0" anchor="ctr"/>
          <a:lstStyle/>
          <a:p>
            <a:pPr indent="0" marL="0">
              <a:buNone/>
            </a:pPr>
            <a:r>
              <a:rPr lang="en-US" sz="1050" b="1" dirty="0">
                <a:solidFill>
                  <a:srgbClr val="1B1E3A"/>
                </a:solidFill>
              </a:rPr>
              <a:t>+ Mindy</a:t>
            </a:r>
            <a:pPr indent="0" marL="0">
              <a:buNone/>
            </a:pPr>
            <a:r>
              <a:rPr lang="en-US" sz="1050" dirty="0">
                <a:solidFill>
                  <a:srgbClr val="23263A"/>
                </a:solidFill>
              </a:rPr>
              <a:t>, a friendly companion chatbot</a:t>
            </a:r>
            <a:endParaRPr lang="en-US" sz="1050" dirty="0"/>
          </a:p>
        </p:txBody>
      </p:sp>
      <p:sp>
        <p:nvSpPr>
          <p:cNvPr id="7" name="Emoji disc"/>
          <p:cNvSpPr/>
          <p:nvPr/>
        </p:nvSpPr>
        <p:spPr>
          <a:xfrm>
            <a:off x="502920" y="1591056"/>
            <a:ext cx="512064" cy="512064"/>
          </a:xfrm>
          <a:prstGeom prst="ellipse">
            <a:avLst/>
          </a:prstGeom>
          <a:solidFill>
            <a:srgbClr val="F3F4F8"/>
          </a:solidFill>
          <a:ln w="12700">
            <a:solidFill>
              <a:srgbClr val="F3F4F8"/>
            </a:solidFill>
            <a:prstDash val="solid"/>
          </a:ln>
        </p:spPr>
      </p:sp>
      <p:pic>
        <p:nvPicPr>
          <p:cNvPr id="8" name="Emoji smile" descr="e/smile.png">    </p:cNvPr>
          <p:cNvPicPr>
            <a:picLocks noChangeAspect="1"/>
          </p:cNvPicPr>
          <p:nvPr/>
        </p:nvPicPr>
        <p:blipFill>
          <a:blip r:embed="rId2"/>
          <a:stretch>
            <a:fillRect/>
          </a:stretch>
        </p:blipFill>
        <p:spPr>
          <a:xfrm>
            <a:off x="615574" y="1703710"/>
            <a:ext cx="286756" cy="286756"/>
          </a:xfrm>
          <a:prstGeom prst="rect">
            <a:avLst/>
          </a:prstGeom>
        </p:spPr>
      </p:pic>
      <p:pic>
        <p:nvPicPr>
          <p:cNvPr id="9" name="Doodle arrow_i" descr="d/arrow_i.png">    </p:cNvPr>
          <p:cNvPicPr>
            <a:picLocks noChangeAspect="1"/>
          </p:cNvPicPr>
          <p:nvPr/>
        </p:nvPicPr>
        <p:blipFill>
          <a:blip r:embed="rId3"/>
          <a:stretch>
            <a:fillRect/>
          </a:stretch>
        </p:blipFill>
        <p:spPr>
          <a:xfrm>
            <a:off x="1179576" y="1719072"/>
            <a:ext cx="777240" cy="274320"/>
          </a:xfrm>
          <a:prstGeom prst="rect">
            <a:avLst/>
          </a:prstGeom>
        </p:spPr>
      </p:pic>
      <p:sp>
        <p:nvSpPr>
          <p:cNvPr id="10" name="Text 5"/>
          <p:cNvSpPr txBox="1"/>
          <p:nvPr/>
        </p:nvSpPr>
        <p:spPr>
          <a:xfrm>
            <a:off x="502920" y="2194560"/>
            <a:ext cx="1517904" cy="182880"/>
          </a:xfrm>
          <a:prstGeom prst="rect">
            <a:avLst/>
          </a:prstGeom>
          <a:noFill/>
          <a:ln/>
        </p:spPr>
        <p:txBody>
          <a:bodyPr wrap="square" lIns="0" tIns="0" rIns="0" bIns="0" rtlCol="0" anchor="ctr"/>
          <a:lstStyle/>
          <a:p>
            <a:pPr indent="0" marL="0">
              <a:buNone/>
            </a:pPr>
            <a:r>
              <a:rPr lang="en-US" sz="900" b="1" spc="150" kern="0" dirty="0">
                <a:solidFill>
                  <a:srgbClr val="60667D"/>
                </a:solidFill>
              </a:rPr>
              <a:t>STEP 1</a:t>
            </a:r>
            <a:endParaRPr lang="en-US" sz="900" dirty="0"/>
          </a:p>
        </p:txBody>
      </p:sp>
      <p:sp>
        <p:nvSpPr>
          <p:cNvPr id="11" name="Text 6"/>
          <p:cNvSpPr txBox="1"/>
          <p:nvPr/>
        </p:nvSpPr>
        <p:spPr>
          <a:xfrm>
            <a:off x="502920" y="2377440"/>
            <a:ext cx="1517904" cy="292608"/>
          </a:xfrm>
          <a:prstGeom prst="rect">
            <a:avLst/>
          </a:prstGeom>
          <a:noFill/>
          <a:ln/>
        </p:spPr>
        <p:txBody>
          <a:bodyPr wrap="square" lIns="0" tIns="0" rIns="0" bIns="0" rtlCol="0" anchor="ctr"/>
          <a:lstStyle/>
          <a:p>
            <a:pPr indent="0" marL="0">
              <a:buNone/>
            </a:pPr>
            <a:r>
              <a:rPr lang="en-US" sz="1500" b="1" dirty="0">
                <a:solidFill>
                  <a:srgbClr val="1B1E3A"/>
                </a:solidFill>
                <a:latin typeface="Cambria" pitchFamily="34" charset="0"/>
                <a:ea typeface="Cambria" pitchFamily="34" charset="-122"/>
                <a:cs typeface="Cambria" pitchFamily="34" charset="-120"/>
              </a:rPr>
              <a:t>Check in</a:t>
            </a:r>
            <a:endParaRPr lang="en-US" sz="1500" dirty="0"/>
          </a:p>
        </p:txBody>
      </p:sp>
      <p:sp>
        <p:nvSpPr>
          <p:cNvPr id="12" name="Feature 1"/>
          <p:cNvSpPr txBox="1"/>
          <p:nvPr/>
        </p:nvSpPr>
        <p:spPr>
          <a:xfrm>
            <a:off x="502920" y="2697480"/>
            <a:ext cx="1472184" cy="685800"/>
          </a:xfrm>
          <a:prstGeom prst="rect">
            <a:avLst/>
          </a:prstGeom>
          <a:noFill/>
          <a:ln/>
        </p:spPr>
        <p:txBody>
          <a:bodyPr wrap="square" lIns="0" tIns="0" rIns="0" bIns="0" rtlCol="0" anchor="t"/>
          <a:lstStyle/>
          <a:p>
            <a:pPr indent="0" marL="0">
              <a:buNone/>
            </a:pPr>
            <a:r>
              <a:rPr lang="en-US" sz="1100" dirty="0">
                <a:solidFill>
                  <a:srgbClr val="23263A"/>
                </a:solidFill>
              </a:rPr>
              <a:t>Daily mood check-in (5 moods) + optional note and context tags</a:t>
            </a:r>
            <a:endParaRPr lang="en-US" sz="1100" dirty="0"/>
          </a:p>
        </p:txBody>
      </p:sp>
      <p:sp>
        <p:nvSpPr>
          <p:cNvPr id="13" name="Story card"/>
          <p:cNvSpPr/>
          <p:nvPr/>
        </p:nvSpPr>
        <p:spPr>
          <a:xfrm>
            <a:off x="502920" y="3456432"/>
            <a:ext cx="1517904" cy="1024128"/>
          </a:xfrm>
          <a:prstGeom prst="roundRect">
            <a:avLst>
              <a:gd name="adj" fmla="val 7143"/>
            </a:avLst>
          </a:prstGeom>
          <a:solidFill>
            <a:srgbClr val="FFF4DC"/>
          </a:solidFill>
          <a:ln w="9525">
            <a:solidFill>
              <a:srgbClr val="FFF4DC"/>
            </a:solidFill>
            <a:prstDash val="solid"/>
          </a:ln>
        </p:spPr>
      </p:sp>
      <p:sp>
        <p:nvSpPr>
          <p:cNvPr id="14" name="Text 9"/>
          <p:cNvSpPr txBox="1"/>
          <p:nvPr/>
        </p:nvSpPr>
        <p:spPr>
          <a:xfrm>
            <a:off x="612648" y="3529584"/>
            <a:ext cx="914400" cy="182880"/>
          </a:xfrm>
          <a:prstGeom prst="rect">
            <a:avLst/>
          </a:prstGeom>
          <a:noFill/>
          <a:ln/>
        </p:spPr>
        <p:txBody>
          <a:bodyPr wrap="square" lIns="0" tIns="0" rIns="0" bIns="0" rtlCol="0" anchor="ctr"/>
          <a:lstStyle/>
          <a:p>
            <a:pPr indent="0" marL="0">
              <a:buNone/>
            </a:pPr>
            <a:r>
              <a:rPr lang="en-US" sz="800" b="1" spc="150" kern="0" dirty="0">
                <a:solidFill>
                  <a:srgbClr val="A8740C"/>
                </a:solidFill>
              </a:rPr>
              <a:t>RIYA</a:t>
            </a:r>
            <a:endParaRPr lang="en-US" sz="800" dirty="0"/>
          </a:p>
        </p:txBody>
      </p:sp>
      <p:sp>
        <p:nvSpPr>
          <p:cNvPr id="15" name="Story 1"/>
          <p:cNvSpPr txBox="1"/>
          <p:nvPr/>
        </p:nvSpPr>
        <p:spPr>
          <a:xfrm>
            <a:off x="612648" y="3721608"/>
            <a:ext cx="1316736" cy="713232"/>
          </a:xfrm>
          <a:prstGeom prst="rect">
            <a:avLst/>
          </a:prstGeom>
          <a:noFill/>
          <a:ln/>
        </p:spPr>
        <p:txBody>
          <a:bodyPr wrap="square" lIns="0" tIns="0" rIns="0" bIns="0" rtlCol="0" anchor="t"/>
          <a:lstStyle/>
          <a:p>
            <a:pPr indent="0" marL="0">
              <a:buNone/>
            </a:pPr>
            <a:r>
              <a:rPr lang="en-US" sz="1050" i="1" dirty="0">
                <a:solidFill>
                  <a:srgbClr val="1B1E3A"/>
                </a:solidFill>
                <a:latin typeface="Cambria" pitchFamily="34" charset="0"/>
                <a:ea typeface="Cambria" pitchFamily="34" charset="-122"/>
                <a:cs typeface="Cambria" pitchFamily="34" charset="-120"/>
              </a:rPr>
              <a:t>Day 1: logs “Low” and tags Study as exam week starts.</a:t>
            </a:r>
            <a:endParaRPr lang="en-US" sz="1050" dirty="0"/>
          </a:p>
        </p:txBody>
      </p:sp>
      <p:sp>
        <p:nvSpPr>
          <p:cNvPr id="16" name="Emoji disc"/>
          <p:cNvSpPr/>
          <p:nvPr/>
        </p:nvSpPr>
        <p:spPr>
          <a:xfrm>
            <a:off x="2162556" y="1591056"/>
            <a:ext cx="512064" cy="512064"/>
          </a:xfrm>
          <a:prstGeom prst="ellipse">
            <a:avLst/>
          </a:prstGeom>
          <a:solidFill>
            <a:srgbClr val="F3F4F8"/>
          </a:solidFill>
          <a:ln w="12700">
            <a:solidFill>
              <a:srgbClr val="F3F4F8"/>
            </a:solidFill>
            <a:prstDash val="solid"/>
          </a:ln>
        </p:spPr>
      </p:sp>
      <p:pic>
        <p:nvPicPr>
          <p:cNvPr id="17" name="Emoji notebook" descr="e/notebook.png">    </p:cNvPr>
          <p:cNvPicPr>
            <a:picLocks noChangeAspect="1"/>
          </p:cNvPicPr>
          <p:nvPr/>
        </p:nvPicPr>
        <p:blipFill>
          <a:blip r:embed="rId4"/>
          <a:stretch>
            <a:fillRect/>
          </a:stretch>
        </p:blipFill>
        <p:spPr>
          <a:xfrm>
            <a:off x="2275210" y="1703710"/>
            <a:ext cx="286756" cy="286756"/>
          </a:xfrm>
          <a:prstGeom prst="rect">
            <a:avLst/>
          </a:prstGeom>
        </p:spPr>
      </p:pic>
      <p:pic>
        <p:nvPicPr>
          <p:cNvPr id="18" name="Doodle arrow_i" descr="d/arrow_i.png">    </p:cNvPr>
          <p:cNvPicPr>
            <a:picLocks noChangeAspect="1"/>
          </p:cNvPicPr>
          <p:nvPr/>
        </p:nvPicPr>
        <p:blipFill>
          <a:blip r:embed="rId5"/>
          <a:stretch>
            <a:fillRect/>
          </a:stretch>
        </p:blipFill>
        <p:spPr>
          <a:xfrm>
            <a:off x="2839212" y="1719072"/>
            <a:ext cx="777240" cy="274320"/>
          </a:xfrm>
          <a:prstGeom prst="rect">
            <a:avLst/>
          </a:prstGeom>
        </p:spPr>
      </p:pic>
      <p:sp>
        <p:nvSpPr>
          <p:cNvPr id="19" name="Text 12"/>
          <p:cNvSpPr txBox="1"/>
          <p:nvPr/>
        </p:nvSpPr>
        <p:spPr>
          <a:xfrm>
            <a:off x="2162556" y="2194560"/>
            <a:ext cx="1517904" cy="182880"/>
          </a:xfrm>
          <a:prstGeom prst="rect">
            <a:avLst/>
          </a:prstGeom>
          <a:noFill/>
          <a:ln/>
        </p:spPr>
        <p:txBody>
          <a:bodyPr wrap="square" lIns="0" tIns="0" rIns="0" bIns="0" rtlCol="0" anchor="ctr"/>
          <a:lstStyle/>
          <a:p>
            <a:pPr indent="0" marL="0">
              <a:buNone/>
            </a:pPr>
            <a:r>
              <a:rPr lang="en-US" sz="900" b="1" spc="150" kern="0" dirty="0">
                <a:solidFill>
                  <a:srgbClr val="60667D"/>
                </a:solidFill>
              </a:rPr>
              <a:t>STEP 2</a:t>
            </a:r>
            <a:endParaRPr lang="en-US" sz="900" dirty="0"/>
          </a:p>
        </p:txBody>
      </p:sp>
      <p:sp>
        <p:nvSpPr>
          <p:cNvPr id="20" name="Text 13"/>
          <p:cNvSpPr txBox="1"/>
          <p:nvPr/>
        </p:nvSpPr>
        <p:spPr>
          <a:xfrm>
            <a:off x="2162556" y="2377440"/>
            <a:ext cx="1517904" cy="292608"/>
          </a:xfrm>
          <a:prstGeom prst="rect">
            <a:avLst/>
          </a:prstGeom>
          <a:noFill/>
          <a:ln/>
        </p:spPr>
        <p:txBody>
          <a:bodyPr wrap="square" lIns="0" tIns="0" rIns="0" bIns="0" rtlCol="0" anchor="ctr"/>
          <a:lstStyle/>
          <a:p>
            <a:pPr indent="0" marL="0">
              <a:buNone/>
            </a:pPr>
            <a:r>
              <a:rPr lang="en-US" sz="1500" b="1" dirty="0">
                <a:solidFill>
                  <a:srgbClr val="1B1E3A"/>
                </a:solidFill>
                <a:latin typeface="Cambria" pitchFamily="34" charset="0"/>
                <a:ea typeface="Cambria" pitchFamily="34" charset="-122"/>
                <a:cs typeface="Cambria" pitchFamily="34" charset="-120"/>
              </a:rPr>
              <a:t>Journal</a:t>
            </a:r>
            <a:endParaRPr lang="en-US" sz="1500" dirty="0"/>
          </a:p>
        </p:txBody>
      </p:sp>
      <p:sp>
        <p:nvSpPr>
          <p:cNvPr id="21" name="Feature 2"/>
          <p:cNvSpPr txBox="1"/>
          <p:nvPr/>
        </p:nvSpPr>
        <p:spPr>
          <a:xfrm>
            <a:off x="2162556" y="2697480"/>
            <a:ext cx="1472184" cy="685800"/>
          </a:xfrm>
          <a:prstGeom prst="rect">
            <a:avLst/>
          </a:prstGeom>
          <a:noFill/>
          <a:ln/>
        </p:spPr>
        <p:txBody>
          <a:bodyPr wrap="square" lIns="0" tIns="0" rIns="0" bIns="0" rtlCol="0" anchor="t"/>
          <a:lstStyle/>
          <a:p>
            <a:pPr indent="0" marL="0">
              <a:buNone/>
            </a:pPr>
            <a:r>
              <a:rPr lang="en-US" sz="1100" dirty="0">
                <a:solidFill>
                  <a:srgbClr val="23263A"/>
                </a:solidFill>
              </a:rPr>
              <a:t>Private journal: create, edit, delete, history</a:t>
            </a:r>
            <a:endParaRPr lang="en-US" sz="1100" dirty="0"/>
          </a:p>
        </p:txBody>
      </p:sp>
      <p:sp>
        <p:nvSpPr>
          <p:cNvPr id="22" name="Story card"/>
          <p:cNvSpPr/>
          <p:nvPr/>
        </p:nvSpPr>
        <p:spPr>
          <a:xfrm>
            <a:off x="2162556" y="3456432"/>
            <a:ext cx="1517904" cy="1024128"/>
          </a:xfrm>
          <a:prstGeom prst="roundRect">
            <a:avLst>
              <a:gd name="adj" fmla="val 7143"/>
            </a:avLst>
          </a:prstGeom>
          <a:solidFill>
            <a:srgbClr val="FFF4DC"/>
          </a:solidFill>
          <a:ln w="9525">
            <a:solidFill>
              <a:srgbClr val="FFF4DC"/>
            </a:solidFill>
            <a:prstDash val="solid"/>
          </a:ln>
        </p:spPr>
      </p:sp>
      <p:sp>
        <p:nvSpPr>
          <p:cNvPr id="23" name="Text 16"/>
          <p:cNvSpPr txBox="1"/>
          <p:nvPr/>
        </p:nvSpPr>
        <p:spPr>
          <a:xfrm>
            <a:off x="2272284" y="3529584"/>
            <a:ext cx="914400" cy="182880"/>
          </a:xfrm>
          <a:prstGeom prst="rect">
            <a:avLst/>
          </a:prstGeom>
          <a:noFill/>
          <a:ln/>
        </p:spPr>
        <p:txBody>
          <a:bodyPr wrap="square" lIns="0" tIns="0" rIns="0" bIns="0" rtlCol="0" anchor="ctr"/>
          <a:lstStyle/>
          <a:p>
            <a:pPr indent="0" marL="0">
              <a:buNone/>
            </a:pPr>
            <a:r>
              <a:rPr lang="en-US" sz="800" b="1" spc="150" kern="0" dirty="0">
                <a:solidFill>
                  <a:srgbClr val="A8740C"/>
                </a:solidFill>
              </a:rPr>
              <a:t>RIYA</a:t>
            </a:r>
            <a:endParaRPr lang="en-US" sz="800" dirty="0"/>
          </a:p>
        </p:txBody>
      </p:sp>
      <p:sp>
        <p:nvSpPr>
          <p:cNvPr id="24" name="Story 2"/>
          <p:cNvSpPr txBox="1"/>
          <p:nvPr/>
        </p:nvSpPr>
        <p:spPr>
          <a:xfrm>
            <a:off x="2272284" y="3721608"/>
            <a:ext cx="1316736" cy="713232"/>
          </a:xfrm>
          <a:prstGeom prst="rect">
            <a:avLst/>
          </a:prstGeom>
          <a:noFill/>
          <a:ln/>
        </p:spPr>
        <p:txBody>
          <a:bodyPr wrap="square" lIns="0" tIns="0" rIns="0" bIns="0" rtlCol="0" anchor="t"/>
          <a:lstStyle/>
          <a:p>
            <a:pPr indent="0" marL="0">
              <a:buNone/>
            </a:pPr>
            <a:r>
              <a:rPr lang="en-US" sz="1050" i="1" dirty="0">
                <a:solidFill>
                  <a:srgbClr val="1B1E3A"/>
                </a:solidFill>
                <a:latin typeface="Cambria" pitchFamily="34" charset="0"/>
                <a:ea typeface="Cambria" pitchFamily="34" charset="-122"/>
                <a:cs typeface="Cambria" pitchFamily="34" charset="-120"/>
              </a:rPr>
              <a:t>Writes about late nights and two deadlines on one day.</a:t>
            </a:r>
            <a:endParaRPr lang="en-US" sz="1050" dirty="0"/>
          </a:p>
        </p:txBody>
      </p:sp>
      <p:sp>
        <p:nvSpPr>
          <p:cNvPr id="25" name="Emoji disc"/>
          <p:cNvSpPr/>
          <p:nvPr/>
        </p:nvSpPr>
        <p:spPr>
          <a:xfrm>
            <a:off x="3822192" y="1591056"/>
            <a:ext cx="512064" cy="512064"/>
          </a:xfrm>
          <a:prstGeom prst="ellipse">
            <a:avLst/>
          </a:prstGeom>
          <a:solidFill>
            <a:srgbClr val="F3F4F8"/>
          </a:solidFill>
          <a:ln w="12700">
            <a:solidFill>
              <a:srgbClr val="F3F4F8"/>
            </a:solidFill>
            <a:prstDash val="solid"/>
          </a:ln>
        </p:spPr>
      </p:sp>
      <p:pic>
        <p:nvPicPr>
          <p:cNvPr id="26" name="Emoji chart" descr="e/chart.png">    </p:cNvPr>
          <p:cNvPicPr>
            <a:picLocks noChangeAspect="1"/>
          </p:cNvPicPr>
          <p:nvPr/>
        </p:nvPicPr>
        <p:blipFill>
          <a:blip r:embed="rId6"/>
          <a:stretch>
            <a:fillRect/>
          </a:stretch>
        </p:blipFill>
        <p:spPr>
          <a:xfrm>
            <a:off x="3934846" y="1703710"/>
            <a:ext cx="286756" cy="286756"/>
          </a:xfrm>
          <a:prstGeom prst="rect">
            <a:avLst/>
          </a:prstGeom>
        </p:spPr>
      </p:pic>
      <p:pic>
        <p:nvPicPr>
          <p:cNvPr id="27" name="Doodle arrow_i" descr="d/arrow_i.png">    </p:cNvPr>
          <p:cNvPicPr>
            <a:picLocks noChangeAspect="1"/>
          </p:cNvPicPr>
          <p:nvPr/>
        </p:nvPicPr>
        <p:blipFill>
          <a:blip r:embed="rId7"/>
          <a:stretch>
            <a:fillRect/>
          </a:stretch>
        </p:blipFill>
        <p:spPr>
          <a:xfrm>
            <a:off x="4498848" y="1719072"/>
            <a:ext cx="777240" cy="274320"/>
          </a:xfrm>
          <a:prstGeom prst="rect">
            <a:avLst/>
          </a:prstGeom>
        </p:spPr>
      </p:pic>
      <p:sp>
        <p:nvSpPr>
          <p:cNvPr id="28" name="Text 19"/>
          <p:cNvSpPr txBox="1"/>
          <p:nvPr/>
        </p:nvSpPr>
        <p:spPr>
          <a:xfrm>
            <a:off x="3822192" y="2194560"/>
            <a:ext cx="1517904" cy="182880"/>
          </a:xfrm>
          <a:prstGeom prst="rect">
            <a:avLst/>
          </a:prstGeom>
          <a:noFill/>
          <a:ln/>
        </p:spPr>
        <p:txBody>
          <a:bodyPr wrap="square" lIns="0" tIns="0" rIns="0" bIns="0" rtlCol="0" anchor="ctr"/>
          <a:lstStyle/>
          <a:p>
            <a:pPr indent="0" marL="0">
              <a:buNone/>
            </a:pPr>
            <a:r>
              <a:rPr lang="en-US" sz="900" b="1" spc="150" kern="0" dirty="0">
                <a:solidFill>
                  <a:srgbClr val="60667D"/>
                </a:solidFill>
              </a:rPr>
              <a:t>STEP 3</a:t>
            </a:r>
            <a:endParaRPr lang="en-US" sz="900" dirty="0"/>
          </a:p>
        </p:txBody>
      </p:sp>
      <p:sp>
        <p:nvSpPr>
          <p:cNvPr id="29" name="Text 20"/>
          <p:cNvSpPr txBox="1"/>
          <p:nvPr/>
        </p:nvSpPr>
        <p:spPr>
          <a:xfrm>
            <a:off x="3822192" y="2377440"/>
            <a:ext cx="1517904" cy="292608"/>
          </a:xfrm>
          <a:prstGeom prst="rect">
            <a:avLst/>
          </a:prstGeom>
          <a:noFill/>
          <a:ln/>
        </p:spPr>
        <p:txBody>
          <a:bodyPr wrap="square" lIns="0" tIns="0" rIns="0" bIns="0" rtlCol="0" anchor="ctr"/>
          <a:lstStyle/>
          <a:p>
            <a:pPr indent="0" marL="0">
              <a:buNone/>
            </a:pPr>
            <a:r>
              <a:rPr lang="en-US" sz="1500" b="1" dirty="0">
                <a:solidFill>
                  <a:srgbClr val="1B1E3A"/>
                </a:solidFill>
                <a:latin typeface="Cambria" pitchFamily="34" charset="0"/>
                <a:ea typeface="Cambria" pitchFamily="34" charset="-122"/>
                <a:cs typeface="Cambria" pitchFamily="34" charset="-120"/>
              </a:rPr>
              <a:t>Insights</a:t>
            </a:r>
            <a:endParaRPr lang="en-US" sz="1500" dirty="0"/>
          </a:p>
        </p:txBody>
      </p:sp>
      <p:sp>
        <p:nvSpPr>
          <p:cNvPr id="30" name="Feature 3"/>
          <p:cNvSpPr txBox="1"/>
          <p:nvPr/>
        </p:nvSpPr>
        <p:spPr>
          <a:xfrm>
            <a:off x="3822192" y="2697480"/>
            <a:ext cx="1472184" cy="685800"/>
          </a:xfrm>
          <a:prstGeom prst="rect">
            <a:avLst/>
          </a:prstGeom>
          <a:noFill/>
          <a:ln/>
        </p:spPr>
        <p:txBody>
          <a:bodyPr wrap="square" lIns="0" tIns="0" rIns="0" bIns="0" rtlCol="0" anchor="t"/>
          <a:lstStyle/>
          <a:p>
            <a:pPr indent="0" marL="0">
              <a:buNone/>
            </a:pPr>
            <a:r>
              <a:rPr lang="en-US" sz="1100" dirty="0">
                <a:solidFill>
                  <a:srgbClr val="23263A"/>
                </a:solidFill>
              </a:rPr>
              <a:t>Mood chart, top contexts, Mood × Context, evidence-based observations</a:t>
            </a:r>
            <a:endParaRPr lang="en-US" sz="1100" dirty="0"/>
          </a:p>
        </p:txBody>
      </p:sp>
      <p:sp>
        <p:nvSpPr>
          <p:cNvPr id="31" name="Story card"/>
          <p:cNvSpPr/>
          <p:nvPr/>
        </p:nvSpPr>
        <p:spPr>
          <a:xfrm>
            <a:off x="3822192" y="3456432"/>
            <a:ext cx="1517904" cy="1024128"/>
          </a:xfrm>
          <a:prstGeom prst="roundRect">
            <a:avLst>
              <a:gd name="adj" fmla="val 7143"/>
            </a:avLst>
          </a:prstGeom>
          <a:solidFill>
            <a:srgbClr val="FFF4DC"/>
          </a:solidFill>
          <a:ln w="9525">
            <a:solidFill>
              <a:srgbClr val="FFF4DC"/>
            </a:solidFill>
            <a:prstDash val="solid"/>
          </a:ln>
        </p:spPr>
      </p:sp>
      <p:sp>
        <p:nvSpPr>
          <p:cNvPr id="32" name="Text 23"/>
          <p:cNvSpPr txBox="1"/>
          <p:nvPr/>
        </p:nvSpPr>
        <p:spPr>
          <a:xfrm>
            <a:off x="3931920" y="3529584"/>
            <a:ext cx="914400" cy="182880"/>
          </a:xfrm>
          <a:prstGeom prst="rect">
            <a:avLst/>
          </a:prstGeom>
          <a:noFill/>
          <a:ln/>
        </p:spPr>
        <p:txBody>
          <a:bodyPr wrap="square" lIns="0" tIns="0" rIns="0" bIns="0" rtlCol="0" anchor="ctr"/>
          <a:lstStyle/>
          <a:p>
            <a:pPr indent="0" marL="0">
              <a:buNone/>
            </a:pPr>
            <a:r>
              <a:rPr lang="en-US" sz="800" b="1" spc="150" kern="0" dirty="0">
                <a:solidFill>
                  <a:srgbClr val="A8740C"/>
                </a:solidFill>
              </a:rPr>
              <a:t>RIYA</a:t>
            </a:r>
            <a:endParaRPr lang="en-US" sz="800" dirty="0"/>
          </a:p>
        </p:txBody>
      </p:sp>
      <p:sp>
        <p:nvSpPr>
          <p:cNvPr id="33" name="Story 3"/>
          <p:cNvSpPr txBox="1"/>
          <p:nvPr/>
        </p:nvSpPr>
        <p:spPr>
          <a:xfrm>
            <a:off x="3931920" y="3721608"/>
            <a:ext cx="1316736" cy="713232"/>
          </a:xfrm>
          <a:prstGeom prst="rect">
            <a:avLst/>
          </a:prstGeom>
          <a:noFill/>
          <a:ln/>
        </p:spPr>
        <p:txBody>
          <a:bodyPr wrap="square" lIns="0" tIns="0" rIns="0" bIns="0" rtlCol="0" anchor="t"/>
          <a:lstStyle/>
          <a:p>
            <a:pPr indent="0" marL="0">
              <a:buNone/>
            </a:pPr>
            <a:r>
              <a:rPr lang="en-US" sz="1050" i="1" dirty="0">
                <a:solidFill>
                  <a:srgbClr val="1B1E3A"/>
                </a:solidFill>
                <a:latin typeface="Cambria" pitchFamily="34" charset="0"/>
                <a:ea typeface="Cambria" pitchFamily="34" charset="-122"/>
                <a:cs typeface="Cambria" pitchFamily="34" charset="-120"/>
              </a:rPr>
              <a:t>Sees a good mood in 5 of her 6 Health &amp; wellbeing entries.</a:t>
            </a:r>
            <a:endParaRPr lang="en-US" sz="1050" dirty="0"/>
          </a:p>
        </p:txBody>
      </p:sp>
      <p:sp>
        <p:nvSpPr>
          <p:cNvPr id="34" name="Emoji disc"/>
          <p:cNvSpPr/>
          <p:nvPr/>
        </p:nvSpPr>
        <p:spPr>
          <a:xfrm>
            <a:off x="5481828" y="1591056"/>
            <a:ext cx="512064" cy="512064"/>
          </a:xfrm>
          <a:prstGeom prst="ellipse">
            <a:avLst/>
          </a:prstGeom>
          <a:solidFill>
            <a:srgbClr val="F3F4F8"/>
          </a:solidFill>
          <a:ln w="12700">
            <a:solidFill>
              <a:srgbClr val="F3F4F8"/>
            </a:solidFill>
            <a:prstDash val="solid"/>
          </a:ln>
        </p:spPr>
      </p:sp>
      <p:pic>
        <p:nvPicPr>
          <p:cNvPr id="35" name="Emoji thought" descr="e/thought.png">    </p:cNvPr>
          <p:cNvPicPr>
            <a:picLocks noChangeAspect="1"/>
          </p:cNvPicPr>
          <p:nvPr/>
        </p:nvPicPr>
        <p:blipFill>
          <a:blip r:embed="rId8"/>
          <a:stretch>
            <a:fillRect/>
          </a:stretch>
        </p:blipFill>
        <p:spPr>
          <a:xfrm>
            <a:off x="5594482" y="1703710"/>
            <a:ext cx="286756" cy="286756"/>
          </a:xfrm>
          <a:prstGeom prst="rect">
            <a:avLst/>
          </a:prstGeom>
        </p:spPr>
      </p:pic>
      <p:pic>
        <p:nvPicPr>
          <p:cNvPr id="36" name="Doodle arrow_i" descr="d/arrow_i.png">    </p:cNvPr>
          <p:cNvPicPr>
            <a:picLocks noChangeAspect="1"/>
          </p:cNvPicPr>
          <p:nvPr/>
        </p:nvPicPr>
        <p:blipFill>
          <a:blip r:embed="rId9"/>
          <a:stretch>
            <a:fillRect/>
          </a:stretch>
        </p:blipFill>
        <p:spPr>
          <a:xfrm>
            <a:off x="6158484" y="1719072"/>
            <a:ext cx="777240" cy="274320"/>
          </a:xfrm>
          <a:prstGeom prst="rect">
            <a:avLst/>
          </a:prstGeom>
        </p:spPr>
      </p:pic>
      <p:sp>
        <p:nvSpPr>
          <p:cNvPr id="37" name="Text 26"/>
          <p:cNvSpPr txBox="1"/>
          <p:nvPr/>
        </p:nvSpPr>
        <p:spPr>
          <a:xfrm>
            <a:off x="5481828" y="2194560"/>
            <a:ext cx="1517904" cy="182880"/>
          </a:xfrm>
          <a:prstGeom prst="rect">
            <a:avLst/>
          </a:prstGeom>
          <a:noFill/>
          <a:ln/>
        </p:spPr>
        <p:txBody>
          <a:bodyPr wrap="square" lIns="0" tIns="0" rIns="0" bIns="0" rtlCol="0" anchor="ctr"/>
          <a:lstStyle/>
          <a:p>
            <a:pPr indent="0" marL="0">
              <a:buNone/>
            </a:pPr>
            <a:r>
              <a:rPr lang="en-US" sz="900" b="1" spc="150" kern="0" dirty="0">
                <a:solidFill>
                  <a:srgbClr val="60667D"/>
                </a:solidFill>
              </a:rPr>
              <a:t>STEP 4</a:t>
            </a:r>
            <a:endParaRPr lang="en-US" sz="900" dirty="0"/>
          </a:p>
        </p:txBody>
      </p:sp>
      <p:sp>
        <p:nvSpPr>
          <p:cNvPr id="38" name="Text 27"/>
          <p:cNvSpPr txBox="1"/>
          <p:nvPr/>
        </p:nvSpPr>
        <p:spPr>
          <a:xfrm>
            <a:off x="5481828" y="2377440"/>
            <a:ext cx="1517904" cy="292608"/>
          </a:xfrm>
          <a:prstGeom prst="rect">
            <a:avLst/>
          </a:prstGeom>
          <a:noFill/>
          <a:ln/>
        </p:spPr>
        <p:txBody>
          <a:bodyPr wrap="square" lIns="0" tIns="0" rIns="0" bIns="0" rtlCol="0" anchor="ctr"/>
          <a:lstStyle/>
          <a:p>
            <a:pPr indent="0" marL="0">
              <a:buNone/>
            </a:pPr>
            <a:r>
              <a:rPr lang="en-US" sz="1500" b="1" dirty="0">
                <a:solidFill>
                  <a:srgbClr val="1B1E3A"/>
                </a:solidFill>
                <a:latin typeface="Cambria" pitchFamily="34" charset="0"/>
                <a:ea typeface="Cambria" pitchFamily="34" charset="-122"/>
                <a:cs typeface="Cambria" pitchFamily="34" charset="-120"/>
              </a:rPr>
              <a:t>Reflect</a:t>
            </a:r>
            <a:endParaRPr lang="en-US" sz="1500" dirty="0"/>
          </a:p>
        </p:txBody>
      </p:sp>
      <p:sp>
        <p:nvSpPr>
          <p:cNvPr id="39" name="Feature 4"/>
          <p:cNvSpPr txBox="1"/>
          <p:nvPr/>
        </p:nvSpPr>
        <p:spPr>
          <a:xfrm>
            <a:off x="5481828" y="2697480"/>
            <a:ext cx="1472184" cy="685800"/>
          </a:xfrm>
          <a:prstGeom prst="rect">
            <a:avLst/>
          </a:prstGeom>
          <a:noFill/>
          <a:ln/>
        </p:spPr>
        <p:txBody>
          <a:bodyPr wrap="square" lIns="0" tIns="0" rIns="0" bIns="0" rtlCol="0" anchor="t"/>
          <a:lstStyle/>
          <a:p>
            <a:pPr indent="0" marL="0">
              <a:buNone/>
            </a:pPr>
            <a:r>
              <a:rPr lang="en-US" sz="1100" dirty="0">
                <a:solidFill>
                  <a:srgbClr val="23263A"/>
                </a:solidFill>
              </a:rPr>
              <a:t>Reflection prompts with private answers</a:t>
            </a:r>
            <a:endParaRPr lang="en-US" sz="1100" dirty="0"/>
          </a:p>
        </p:txBody>
      </p:sp>
      <p:sp>
        <p:nvSpPr>
          <p:cNvPr id="40" name="Story card"/>
          <p:cNvSpPr/>
          <p:nvPr/>
        </p:nvSpPr>
        <p:spPr>
          <a:xfrm>
            <a:off x="5481828" y="3456432"/>
            <a:ext cx="1517904" cy="1024128"/>
          </a:xfrm>
          <a:prstGeom prst="roundRect">
            <a:avLst>
              <a:gd name="adj" fmla="val 7143"/>
            </a:avLst>
          </a:prstGeom>
          <a:solidFill>
            <a:srgbClr val="FFF4DC"/>
          </a:solidFill>
          <a:ln w="9525">
            <a:solidFill>
              <a:srgbClr val="FFF4DC"/>
            </a:solidFill>
            <a:prstDash val="solid"/>
          </a:ln>
        </p:spPr>
      </p:sp>
      <p:sp>
        <p:nvSpPr>
          <p:cNvPr id="41" name="Text 30"/>
          <p:cNvSpPr txBox="1"/>
          <p:nvPr/>
        </p:nvSpPr>
        <p:spPr>
          <a:xfrm>
            <a:off x="5591556" y="3529584"/>
            <a:ext cx="914400" cy="182880"/>
          </a:xfrm>
          <a:prstGeom prst="rect">
            <a:avLst/>
          </a:prstGeom>
          <a:noFill/>
          <a:ln/>
        </p:spPr>
        <p:txBody>
          <a:bodyPr wrap="square" lIns="0" tIns="0" rIns="0" bIns="0" rtlCol="0" anchor="ctr"/>
          <a:lstStyle/>
          <a:p>
            <a:pPr indent="0" marL="0">
              <a:buNone/>
            </a:pPr>
            <a:r>
              <a:rPr lang="en-US" sz="800" b="1" spc="150" kern="0" dirty="0">
                <a:solidFill>
                  <a:srgbClr val="A8740C"/>
                </a:solidFill>
              </a:rPr>
              <a:t>RIYA</a:t>
            </a:r>
            <a:endParaRPr lang="en-US" sz="800" dirty="0"/>
          </a:p>
        </p:txBody>
      </p:sp>
      <p:sp>
        <p:nvSpPr>
          <p:cNvPr id="42" name="Story 4"/>
          <p:cNvSpPr txBox="1"/>
          <p:nvPr/>
        </p:nvSpPr>
        <p:spPr>
          <a:xfrm>
            <a:off x="5591556" y="3721608"/>
            <a:ext cx="1316736" cy="713232"/>
          </a:xfrm>
          <a:prstGeom prst="rect">
            <a:avLst/>
          </a:prstGeom>
          <a:noFill/>
          <a:ln/>
        </p:spPr>
        <p:txBody>
          <a:bodyPr wrap="square" lIns="0" tIns="0" rIns="0" bIns="0" rtlCol="0" anchor="t"/>
          <a:lstStyle/>
          <a:p>
            <a:pPr indent="0" marL="0">
              <a:buNone/>
            </a:pPr>
            <a:r>
              <a:rPr lang="en-US" sz="1050" i="1" dirty="0">
                <a:solidFill>
                  <a:srgbClr val="1B1E3A"/>
                </a:solidFill>
                <a:latin typeface="Cambria" pitchFamily="34" charset="0"/>
                <a:ea typeface="Cambria" pitchFamily="34" charset="-122"/>
                <a:cs typeface="Cambria" pitchFamily="34" charset="-120"/>
              </a:rPr>
              <a:t>Realises the evening walks are what helped most.</a:t>
            </a:r>
            <a:endParaRPr lang="en-US" sz="1050" dirty="0"/>
          </a:p>
        </p:txBody>
      </p:sp>
      <p:sp>
        <p:nvSpPr>
          <p:cNvPr id="43" name="Emoji disc"/>
          <p:cNvSpPr/>
          <p:nvPr/>
        </p:nvSpPr>
        <p:spPr>
          <a:xfrm>
            <a:off x="7141464" y="1591056"/>
            <a:ext cx="512064" cy="512064"/>
          </a:xfrm>
          <a:prstGeom prst="ellipse">
            <a:avLst/>
          </a:prstGeom>
          <a:solidFill>
            <a:srgbClr val="F3F4F8"/>
          </a:solidFill>
          <a:ln w="12700">
            <a:solidFill>
              <a:srgbClr val="F3F4F8"/>
            </a:solidFill>
            <a:prstDash val="solid"/>
          </a:ln>
        </p:spPr>
      </p:sp>
      <p:pic>
        <p:nvPicPr>
          <p:cNvPr id="44" name="Emoji page" descr="e/page.png">    </p:cNvPr>
          <p:cNvPicPr>
            <a:picLocks noChangeAspect="1"/>
          </p:cNvPicPr>
          <p:nvPr/>
        </p:nvPicPr>
        <p:blipFill>
          <a:blip r:embed="rId10"/>
          <a:stretch>
            <a:fillRect/>
          </a:stretch>
        </p:blipFill>
        <p:spPr>
          <a:xfrm>
            <a:off x="7254118" y="1703710"/>
            <a:ext cx="286756" cy="286756"/>
          </a:xfrm>
          <a:prstGeom prst="rect">
            <a:avLst/>
          </a:prstGeom>
        </p:spPr>
      </p:pic>
      <p:sp>
        <p:nvSpPr>
          <p:cNvPr id="45" name="Text 33"/>
          <p:cNvSpPr txBox="1"/>
          <p:nvPr/>
        </p:nvSpPr>
        <p:spPr>
          <a:xfrm>
            <a:off x="7141464" y="2194560"/>
            <a:ext cx="1517904" cy="182880"/>
          </a:xfrm>
          <a:prstGeom prst="rect">
            <a:avLst/>
          </a:prstGeom>
          <a:noFill/>
          <a:ln/>
        </p:spPr>
        <p:txBody>
          <a:bodyPr wrap="square" lIns="0" tIns="0" rIns="0" bIns="0" rtlCol="0" anchor="ctr"/>
          <a:lstStyle/>
          <a:p>
            <a:pPr indent="0" marL="0">
              <a:buNone/>
            </a:pPr>
            <a:r>
              <a:rPr lang="en-US" sz="900" b="1" spc="150" kern="0" dirty="0">
                <a:solidFill>
                  <a:srgbClr val="60667D"/>
                </a:solidFill>
              </a:rPr>
              <a:t>STEP 5</a:t>
            </a:r>
            <a:endParaRPr lang="en-US" sz="900" dirty="0"/>
          </a:p>
        </p:txBody>
      </p:sp>
      <p:sp>
        <p:nvSpPr>
          <p:cNvPr id="46" name="Text 34"/>
          <p:cNvSpPr txBox="1"/>
          <p:nvPr/>
        </p:nvSpPr>
        <p:spPr>
          <a:xfrm>
            <a:off x="7141464" y="2377440"/>
            <a:ext cx="1517904" cy="292608"/>
          </a:xfrm>
          <a:prstGeom prst="rect">
            <a:avLst/>
          </a:prstGeom>
          <a:noFill/>
          <a:ln/>
        </p:spPr>
        <p:txBody>
          <a:bodyPr wrap="square" lIns="0" tIns="0" rIns="0" bIns="0" rtlCol="0" anchor="ctr"/>
          <a:lstStyle/>
          <a:p>
            <a:pPr indent="0" marL="0">
              <a:buNone/>
            </a:pPr>
            <a:r>
              <a:rPr lang="en-US" sz="1500" b="1" dirty="0">
                <a:solidFill>
                  <a:srgbClr val="1B1E3A"/>
                </a:solidFill>
                <a:latin typeface="Cambria" pitchFamily="34" charset="0"/>
                <a:ea typeface="Cambria" pitchFamily="34" charset="-122"/>
                <a:cs typeface="Cambria" pitchFamily="34" charset="-120"/>
              </a:rPr>
              <a:t>Report</a:t>
            </a:r>
            <a:endParaRPr lang="en-US" sz="1500" dirty="0"/>
          </a:p>
        </p:txBody>
      </p:sp>
      <p:sp>
        <p:nvSpPr>
          <p:cNvPr id="47" name="Feature 5"/>
          <p:cNvSpPr txBox="1"/>
          <p:nvPr/>
        </p:nvSpPr>
        <p:spPr>
          <a:xfrm>
            <a:off x="7141464" y="2697480"/>
            <a:ext cx="1472184" cy="685800"/>
          </a:xfrm>
          <a:prstGeom prst="rect">
            <a:avLst/>
          </a:prstGeom>
          <a:noFill/>
          <a:ln/>
        </p:spPr>
        <p:txBody>
          <a:bodyPr wrap="square" lIns="0" tIns="0" rIns="0" bIns="0" rtlCol="0" anchor="t"/>
          <a:lstStyle/>
          <a:p>
            <a:pPr indent="0" marL="0">
              <a:buNone/>
            </a:pPr>
            <a:r>
              <a:rPr lang="en-US" sz="1100" dirty="0">
                <a:solidFill>
                  <a:srgbClr val="23263A"/>
                </a:solidFill>
              </a:rPr>
              <a:t>PDF reflection report (journal text only if the user opts in)</a:t>
            </a:r>
            <a:endParaRPr lang="en-US" sz="1100" dirty="0"/>
          </a:p>
        </p:txBody>
      </p:sp>
      <p:sp>
        <p:nvSpPr>
          <p:cNvPr id="48" name="Story card"/>
          <p:cNvSpPr/>
          <p:nvPr/>
        </p:nvSpPr>
        <p:spPr>
          <a:xfrm>
            <a:off x="7141464" y="3456432"/>
            <a:ext cx="1517904" cy="1024128"/>
          </a:xfrm>
          <a:prstGeom prst="roundRect">
            <a:avLst>
              <a:gd name="adj" fmla="val 7143"/>
            </a:avLst>
          </a:prstGeom>
          <a:solidFill>
            <a:srgbClr val="FFF4DC"/>
          </a:solidFill>
          <a:ln w="9525">
            <a:solidFill>
              <a:srgbClr val="FFF4DC"/>
            </a:solidFill>
            <a:prstDash val="solid"/>
          </a:ln>
        </p:spPr>
      </p:sp>
      <p:sp>
        <p:nvSpPr>
          <p:cNvPr id="49" name="Text 37"/>
          <p:cNvSpPr txBox="1"/>
          <p:nvPr/>
        </p:nvSpPr>
        <p:spPr>
          <a:xfrm>
            <a:off x="7251192" y="3529584"/>
            <a:ext cx="914400" cy="182880"/>
          </a:xfrm>
          <a:prstGeom prst="rect">
            <a:avLst/>
          </a:prstGeom>
          <a:noFill/>
          <a:ln/>
        </p:spPr>
        <p:txBody>
          <a:bodyPr wrap="square" lIns="0" tIns="0" rIns="0" bIns="0" rtlCol="0" anchor="ctr"/>
          <a:lstStyle/>
          <a:p>
            <a:pPr indent="0" marL="0">
              <a:buNone/>
            </a:pPr>
            <a:r>
              <a:rPr lang="en-US" sz="800" b="1" spc="150" kern="0" dirty="0">
                <a:solidFill>
                  <a:srgbClr val="A8740C"/>
                </a:solidFill>
              </a:rPr>
              <a:t>RIYA</a:t>
            </a:r>
            <a:endParaRPr lang="en-US" sz="800" dirty="0"/>
          </a:p>
        </p:txBody>
      </p:sp>
      <p:sp>
        <p:nvSpPr>
          <p:cNvPr id="50" name="Story 5"/>
          <p:cNvSpPr txBox="1"/>
          <p:nvPr/>
        </p:nvSpPr>
        <p:spPr>
          <a:xfrm>
            <a:off x="7251192" y="3721608"/>
            <a:ext cx="1316736" cy="713232"/>
          </a:xfrm>
          <a:prstGeom prst="rect">
            <a:avLst/>
          </a:prstGeom>
          <a:noFill/>
          <a:ln/>
        </p:spPr>
        <p:txBody>
          <a:bodyPr wrap="square" lIns="0" tIns="0" rIns="0" bIns="0" rtlCol="0" anchor="t"/>
          <a:lstStyle/>
          <a:p>
            <a:pPr indent="0" marL="0">
              <a:buNone/>
            </a:pPr>
            <a:r>
              <a:rPr lang="en-US" sz="1050" i="1" dirty="0">
                <a:solidFill>
                  <a:srgbClr val="1B1E3A"/>
                </a:solidFill>
                <a:latin typeface="Cambria" pitchFamily="34" charset="0"/>
                <a:ea typeface="Cambria" pitchFamily="34" charset="-122"/>
                <a:cs typeface="Cambria" pitchFamily="34" charset="-120"/>
              </a:rPr>
              <a:t>Shares a PDF with her counsellor, journal text left out.</a:t>
            </a:r>
            <a:endParaRPr lang="en-US" sz="1050" dirty="0"/>
          </a:p>
        </p:txBody>
      </p:sp>
      <p:sp>
        <p:nvSpPr>
          <p:cNvPr id="25" name="Slide Number Placeholder 0"/>
          <p:cNvSpPr>
            <a:spLocks noGrp="1"/>
          </p:cNvSpPr>
          <p:nvPr>
            <p:ph type="sldNum" sz="quarter" idx="4294967295"/>
          </p:nvPr>
        </p:nvSpPr>
        <p:spPr>
          <a:xfrm>
            <a:off x="8183880" y="4736592"/>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0667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6" type="body" hasCustomPrompt="1"/>
          </p:nvPr>
        </p:nvSpPr>
        <p:spPr>
          <a:xfrm>
            <a:off x="502920" y="329184"/>
            <a:ext cx="5486400" cy="237744"/>
          </a:xfrm>
          <a:prstGeom prst="rect">
            <a:avLst/>
          </a:prstGeom>
          <a:noFill/>
          <a:ln/>
        </p:spPr>
        <p:txBody>
          <a:bodyPr wrap="square" lIns="0" tIns="0" rIns="0" bIns="0" rtlCol="0"/>
          <a:lstStyle/>
          <a:p>
            <a:pPr indent="0" marL="0">
              <a:buNone/>
            </a:pPr>
            <a:r>
              <a:rPr lang="en-US" sz="1000" b="1" spc="150" kern="0" dirty="0">
                <a:solidFill>
                  <a:srgbClr val="3F44A0"/>
                </a:solidFill>
              </a:rPr>
              <a:t>04 / 09   HOW IT'S BUILT</a:t>
            </a:r>
            <a:endParaRPr lang="en-US" sz="1000" dirty="0"/>
          </a:p>
        </p:txBody>
      </p:sp>
      <p:sp>
        <p:nvSpPr>
          <p:cNvPr id="3" name="Text 1"/>
          <p:cNvSpPr/>
          <p:nvPr>
            <p:ph idx="107" type="title" hasCustomPrompt="1"/>
          </p:nvPr>
        </p:nvSpPr>
        <p:spPr>
          <a:xfrm>
            <a:off x="502920" y="566928"/>
            <a:ext cx="8138160" cy="548640"/>
          </a:xfrm>
          <a:prstGeom prst="rect">
            <a:avLst/>
          </a:prstGeom>
          <a:noFill/>
          <a:ln/>
        </p:spPr>
        <p:txBody>
          <a:bodyPr wrap="square" lIns="0" tIns="0" rIns="0" bIns="0" rtlCol="0" anchor="ctr"/>
          <a:lstStyle/>
          <a:p>
            <a:pPr algn="l" indent="0" marL="0">
              <a:buNone/>
            </a:pPr>
            <a:r>
              <a:rPr lang="en-US" sz="2600" b="1" dirty="0">
                <a:solidFill>
                  <a:srgbClr val="1B1E3A"/>
                </a:solidFill>
                <a:latin typeface="Cambria" pitchFamily="34" charset="0"/>
                <a:ea typeface="Cambria" pitchFamily="34" charset="-122"/>
                <a:cs typeface="Cambria" pitchFamily="34" charset="-120"/>
              </a:rPr>
              <a:t>Technology Stack</a:t>
            </a:r>
            <a:endParaRPr lang="en-US" sz="2600" dirty="0"/>
          </a:p>
        </p:txBody>
      </p:sp>
      <p:graphicFrame>
        <p:nvGraphicFramePr>
          <p:cNvPr id="5" name="Stack table"/>
          <p:cNvGraphicFramePr>
            <a:graphicFrameLocks noGrp="1"/>
          </p:cNvGraphicFramePr>
          <p:nvPr>
            <p:extLst>
              <p:ext uri="{D42A27DB-BD31-4B8C-83A1-F6EECF244321}">
                <p14:modId xmlns:p14="http://schemas.microsoft.com/office/powerpoint/2010/main" val="1579011935"/>
              </p:ext>
            </p:extLst>
          </p:nvPr>
        </p:nvGraphicFramePr>
        <p:xfrm>
          <a:off x="502920" y="1298448"/>
          <a:ext cx="8138160" cy="914400"/>
        </p:xfrm>
        <a:graphic>
          <a:graphicData uri="http://schemas.openxmlformats.org/drawingml/2006/table">
            <a:tbl>
              <a:tblPr/>
              <a:tblGrid>
                <a:gridCol w="2377440"/>
                <a:gridCol w="5760720"/>
              </a:tblGrid>
              <a:tr h="347472">
                <a:tc>
                  <a:txBody>
                    <a:bodyPr/>
                    <a:lstStyle/>
                    <a:p>
                      <a:pPr indent="0" marL="0">
                        <a:buNone/>
                      </a:pPr>
                      <a:r>
                        <a:rPr lang="en-US" sz="1000" b="1" spc="150" kern="0" dirty="0">
                          <a:solidFill>
                            <a:srgbClr val="FFFFFF"/>
                          </a:solidFill>
                          <a:latin typeface="Calibri" pitchFamily="34" charset="0"/>
                          <a:ea typeface="Calibri" pitchFamily="34" charset="-122"/>
                          <a:cs typeface="Calibri" pitchFamily="34" charset="-120"/>
                        </a:rPr>
                        <a:t>LAYER</a:t>
                      </a:r>
                      <a:endParaRPr lang="en-US" sz="1000" dirty="0">
                        <a:latin typeface="Calibri" charset="0"/>
                        <a:ea typeface="Calibri" charset="0"/>
                        <a:cs typeface="Calibri" charset="0"/>
                      </a:endParaRPr>
                    </a:p>
                  </a:txBody>
                  <a:tcPr marL="566928" marR="91440" marT="0" marB="0" anchor="ctr">
                    <a:lnL w="0" cap="flat" cmpd="sng" algn="ctr">
                      <a:noFill/>
                    </a:lnL>
                    <a:lnR w="0" cap="flat" cmpd="sng" algn="ctr">
                      <a:noFill/>
                    </a:lnR>
                    <a:lnT w="0" cap="flat" cmpd="sng" algn="ctr">
                      <a:noFill/>
                    </a:lnT>
                    <a:lnB w="0" cap="flat" cmpd="sng" algn="ctr">
                      <a:noFill/>
                    </a:lnB>
                    <a:solidFill>
                      <a:srgbClr val="1B1E3A"/>
                    </a:solidFill>
                  </a:tcPr>
                </a:tc>
                <a:tc>
                  <a:txBody>
                    <a:bodyPr/>
                    <a:lstStyle/>
                    <a:p>
                      <a:pPr indent="0" marL="0">
                        <a:buNone/>
                      </a:pPr>
                      <a:r>
                        <a:rPr lang="en-US" sz="1000" b="1" spc="150" kern="0" dirty="0">
                          <a:solidFill>
                            <a:srgbClr val="FFFFFF"/>
                          </a:solidFill>
                          <a:latin typeface="Calibri" pitchFamily="34" charset="0"/>
                          <a:ea typeface="Calibri" pitchFamily="34" charset="-122"/>
                          <a:cs typeface="Calibri" pitchFamily="34" charset="-120"/>
                        </a:rPr>
                        <a:t>TECHNOLOGIES</a:t>
                      </a:r>
                      <a:endParaRPr lang="en-US" sz="100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0" cap="flat" cmpd="sng" algn="ctr">
                      <a:noFill/>
                    </a:lnB>
                    <a:solidFill>
                      <a:srgbClr val="1B1E3A"/>
                    </a:solidFill>
                  </a:tcPr>
                </a:tc>
              </a:tr>
              <a:tr h="411480">
                <a:tc>
                  <a:txBody>
                    <a:bodyPr/>
                    <a:lstStyle/>
                    <a:p>
                      <a:pPr indent="0" marL="0">
                        <a:buNone/>
                      </a:pPr>
                      <a:r>
                        <a:rPr lang="en-US" sz="1250" b="1" dirty="0">
                          <a:solidFill>
                            <a:srgbClr val="1B1E3A"/>
                          </a:solidFill>
                          <a:latin typeface="Cambria" pitchFamily="34" charset="0"/>
                          <a:ea typeface="Cambria" pitchFamily="34" charset="-122"/>
                          <a:cs typeface="Cambria" pitchFamily="34" charset="-120"/>
                        </a:rPr>
                        <a:t>Backend</a:t>
                      </a:r>
                      <a:endParaRPr lang="en-US" sz="1250" dirty="0">
                        <a:latin typeface="Cambria" charset="0"/>
                        <a:ea typeface="Cambria" charset="0"/>
                        <a:cs typeface="Cambria" charset="0"/>
                      </a:endParaRPr>
                    </a:p>
                  </a:txBody>
                  <a:tcPr marL="566928" marR="9144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3F4F8"/>
                    </a:solidFill>
                  </a:tcPr>
                </a:tc>
                <a:tc>
                  <a:txBody>
                    <a:bodyPr/>
                    <a:lstStyle/>
                    <a:p>
                      <a:pPr indent="0" marL="0">
                        <a:buNone/>
                      </a:pPr>
                      <a:r>
                        <a:rPr lang="en-US" sz="1250" dirty="0">
                          <a:solidFill>
                            <a:srgbClr val="23263A"/>
                          </a:solidFill>
                          <a:latin typeface="Calibri" pitchFamily="34" charset="0"/>
                          <a:ea typeface="Calibri" pitchFamily="34" charset="-122"/>
                          <a:cs typeface="Calibri" pitchFamily="34" charset="-120"/>
                        </a:rPr>
                        <a:t>Python, Flask (Jinja2 templates), Flask-SQLAlchemy</a:t>
                      </a:r>
                      <a:endParaRPr lang="en-US" sz="125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3F4F8"/>
                    </a:solidFill>
                  </a:tcPr>
                </a:tc>
              </a:tr>
              <a:tr h="411480">
                <a:tc>
                  <a:txBody>
                    <a:bodyPr/>
                    <a:lstStyle/>
                    <a:p>
                      <a:pPr indent="0" marL="0">
                        <a:buNone/>
                      </a:pPr>
                      <a:r>
                        <a:rPr lang="en-US" sz="1250" b="1" dirty="0">
                          <a:solidFill>
                            <a:srgbClr val="1B1E3A"/>
                          </a:solidFill>
                          <a:latin typeface="Cambria" pitchFamily="34" charset="0"/>
                          <a:ea typeface="Cambria" pitchFamily="34" charset="-122"/>
                          <a:cs typeface="Cambria" pitchFamily="34" charset="-120"/>
                        </a:rPr>
                        <a:t>Database</a:t>
                      </a:r>
                      <a:endParaRPr lang="en-US" sz="1250" dirty="0">
                        <a:latin typeface="Cambria" charset="0"/>
                        <a:ea typeface="Cambria" charset="0"/>
                        <a:cs typeface="Cambria" charset="0"/>
                      </a:endParaRPr>
                    </a:p>
                  </a:txBody>
                  <a:tcPr marL="566928" marR="9144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FFFFF"/>
                    </a:solidFill>
                  </a:tcPr>
                </a:tc>
                <a:tc>
                  <a:txBody>
                    <a:bodyPr/>
                    <a:lstStyle/>
                    <a:p>
                      <a:pPr indent="0" marL="0">
                        <a:buNone/>
                      </a:pPr>
                      <a:r>
                        <a:rPr lang="en-US" sz="1250" dirty="0">
                          <a:solidFill>
                            <a:srgbClr val="23263A"/>
                          </a:solidFill>
                          <a:latin typeface="Calibri" pitchFamily="34" charset="0"/>
                          <a:ea typeface="Calibri" pitchFamily="34" charset="-122"/>
                          <a:cs typeface="Calibri" pitchFamily="34" charset="-120"/>
                        </a:rPr>
                        <a:t>SQLite (local); PostgreSQL ready for production</a:t>
                      </a:r>
                      <a:endParaRPr lang="en-US" sz="125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B1E3A"/>
                          </a:solidFill>
                          <a:latin typeface="Cambria" pitchFamily="34" charset="0"/>
                          <a:ea typeface="Cambria" pitchFamily="34" charset="-122"/>
                          <a:cs typeface="Cambria" pitchFamily="34" charset="-120"/>
                        </a:rPr>
                        <a:t>Security</a:t>
                      </a:r>
                      <a:endParaRPr lang="en-US" sz="1250" dirty="0">
                        <a:latin typeface="Cambria" charset="0"/>
                        <a:ea typeface="Cambria" charset="0"/>
                        <a:cs typeface="Cambria" charset="0"/>
                      </a:endParaRPr>
                    </a:p>
                  </a:txBody>
                  <a:tcPr marL="566928" marR="9144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3F4F8"/>
                    </a:solidFill>
                  </a:tcPr>
                </a:tc>
                <a:tc>
                  <a:txBody>
                    <a:bodyPr/>
                    <a:lstStyle/>
                    <a:p>
                      <a:pPr indent="0" marL="0">
                        <a:buNone/>
                      </a:pPr>
                      <a:r>
                        <a:rPr lang="en-US" sz="1250" dirty="0">
                          <a:solidFill>
                            <a:srgbClr val="23263A"/>
                          </a:solidFill>
                          <a:latin typeface="Calibri" pitchFamily="34" charset="0"/>
                          <a:ea typeface="Calibri" pitchFamily="34" charset="-122"/>
                          <a:cs typeface="Calibri" pitchFamily="34" charset="-120"/>
                        </a:rPr>
                        <a:t>Werkzeug password hashing, Flask-WTF CSRF, Fernet encryption (cryptography)</a:t>
                      </a:r>
                      <a:endParaRPr lang="en-US" sz="125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3F4F8"/>
                    </a:solidFill>
                  </a:tcPr>
                </a:tc>
              </a:tr>
              <a:tr h="411480">
                <a:tc>
                  <a:txBody>
                    <a:bodyPr/>
                    <a:lstStyle/>
                    <a:p>
                      <a:pPr indent="0" marL="0">
                        <a:buNone/>
                      </a:pPr>
                      <a:r>
                        <a:rPr lang="en-US" sz="1250" b="1" dirty="0">
                          <a:solidFill>
                            <a:srgbClr val="1B1E3A"/>
                          </a:solidFill>
                          <a:latin typeface="Cambria" pitchFamily="34" charset="0"/>
                          <a:ea typeface="Cambria" pitchFamily="34" charset="-122"/>
                          <a:cs typeface="Cambria" pitchFamily="34" charset="-120"/>
                        </a:rPr>
                        <a:t>Analysis</a:t>
                      </a:r>
                      <a:endParaRPr lang="en-US" sz="1250" dirty="0">
                        <a:latin typeface="Cambria" charset="0"/>
                        <a:ea typeface="Cambria" charset="0"/>
                        <a:cs typeface="Cambria" charset="0"/>
                      </a:endParaRPr>
                    </a:p>
                  </a:txBody>
                  <a:tcPr marL="566928" marR="9144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FFFFF"/>
                    </a:solidFill>
                  </a:tcPr>
                </a:tc>
                <a:tc>
                  <a:txBody>
                    <a:bodyPr/>
                    <a:lstStyle/>
                    <a:p>
                      <a:pPr indent="0" marL="0">
                        <a:buNone/>
                      </a:pPr>
                      <a:r>
                        <a:rPr lang="en-US" sz="1250" dirty="0">
                          <a:solidFill>
                            <a:srgbClr val="23263A"/>
                          </a:solidFill>
                          <a:latin typeface="Calibri" pitchFamily="34" charset="0"/>
                          <a:ea typeface="Calibri" pitchFamily="34" charset="-122"/>
                          <a:cs typeface="Calibri" pitchFamily="34" charset="-120"/>
                        </a:rPr>
                        <a:t>TextBlob sentiment, keyword-based theme detection</a:t>
                      </a:r>
                      <a:endParaRPr lang="en-US" sz="125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B1E3A"/>
                          </a:solidFill>
                          <a:latin typeface="Cambria" pitchFamily="34" charset="0"/>
                          <a:ea typeface="Cambria" pitchFamily="34" charset="-122"/>
                          <a:cs typeface="Cambria" pitchFamily="34" charset="-120"/>
                        </a:rPr>
                        <a:t>Visuals &amp; reports</a:t>
                      </a:r>
                      <a:endParaRPr lang="en-US" sz="1250" dirty="0">
                        <a:latin typeface="Cambria" charset="0"/>
                        <a:ea typeface="Cambria" charset="0"/>
                        <a:cs typeface="Cambria" charset="0"/>
                      </a:endParaRPr>
                    </a:p>
                  </a:txBody>
                  <a:tcPr marL="566928" marR="9144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3F4F8"/>
                    </a:solidFill>
                  </a:tcPr>
                </a:tc>
                <a:tc>
                  <a:txBody>
                    <a:bodyPr/>
                    <a:lstStyle/>
                    <a:p>
                      <a:pPr indent="0" marL="0">
                        <a:buNone/>
                      </a:pPr>
                      <a:r>
                        <a:rPr lang="en-US" sz="1250" dirty="0">
                          <a:solidFill>
                            <a:srgbClr val="23263A"/>
                          </a:solidFill>
                          <a:latin typeface="Calibri" pitchFamily="34" charset="0"/>
                          <a:ea typeface="Calibri" pitchFamily="34" charset="-122"/>
                          <a:cs typeface="Calibri" pitchFamily="34" charset="-120"/>
                        </a:rPr>
                        <a:t>Chart.js, ReportLab (PDF)</a:t>
                      </a:r>
                      <a:endParaRPr lang="en-US" sz="125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3F4F8"/>
                    </a:solidFill>
                  </a:tcPr>
                </a:tc>
              </a:tr>
              <a:tr h="411480">
                <a:tc>
                  <a:txBody>
                    <a:bodyPr/>
                    <a:lstStyle/>
                    <a:p>
                      <a:pPr indent="0" marL="0">
                        <a:buNone/>
                      </a:pPr>
                      <a:r>
                        <a:rPr lang="en-US" sz="1250" b="1" dirty="0">
                          <a:solidFill>
                            <a:srgbClr val="1B1E3A"/>
                          </a:solidFill>
                          <a:latin typeface="Cambria" pitchFamily="34" charset="0"/>
                          <a:ea typeface="Cambria" pitchFamily="34" charset="-122"/>
                          <a:cs typeface="Cambria" pitchFamily="34" charset="-120"/>
                        </a:rPr>
                        <a:t>Frontend</a:t>
                      </a:r>
                      <a:endParaRPr lang="en-US" sz="1250" dirty="0">
                        <a:latin typeface="Cambria" charset="0"/>
                        <a:ea typeface="Cambria" charset="0"/>
                        <a:cs typeface="Cambria" charset="0"/>
                      </a:endParaRPr>
                    </a:p>
                  </a:txBody>
                  <a:tcPr marL="566928" marR="9144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FFFFF"/>
                    </a:solidFill>
                  </a:tcPr>
                </a:tc>
                <a:tc>
                  <a:txBody>
                    <a:bodyPr/>
                    <a:lstStyle/>
                    <a:p>
                      <a:pPr indent="0" marL="0">
                        <a:buNone/>
                      </a:pPr>
                      <a:r>
                        <a:rPr lang="en-US" sz="1250" dirty="0">
                          <a:solidFill>
                            <a:srgbClr val="23263A"/>
                          </a:solidFill>
                          <a:latin typeface="Calibri" pitchFamily="34" charset="0"/>
                          <a:ea typeface="Calibri" pitchFamily="34" charset="-122"/>
                          <a:cs typeface="Calibri" pitchFamily="34" charset="-120"/>
                        </a:rPr>
                        <a:t>HTML, CSS, vanilla JavaScript</a:t>
                      </a:r>
                      <a:endParaRPr lang="en-US" sz="125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B1E3A"/>
                          </a:solidFill>
                          <a:latin typeface="Cambria" pitchFamily="34" charset="0"/>
                          <a:ea typeface="Cambria" pitchFamily="34" charset="-122"/>
                          <a:cs typeface="Cambria" pitchFamily="34" charset="-120"/>
                        </a:rPr>
                        <a:t>Testing &amp; deployment</a:t>
                      </a:r>
                      <a:endParaRPr lang="en-US" sz="1250" dirty="0">
                        <a:latin typeface="Cambria" charset="0"/>
                        <a:ea typeface="Cambria" charset="0"/>
                        <a:cs typeface="Cambria" charset="0"/>
                      </a:endParaRPr>
                    </a:p>
                  </a:txBody>
                  <a:tcPr marL="566928" marR="9144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3F4F8"/>
                    </a:solidFill>
                  </a:tcPr>
                </a:tc>
                <a:tc>
                  <a:txBody>
                    <a:bodyPr/>
                    <a:lstStyle/>
                    <a:p>
                      <a:pPr indent="0" marL="0">
                        <a:buNone/>
                      </a:pPr>
                      <a:r>
                        <a:rPr lang="en-US" sz="1250" dirty="0">
                          <a:solidFill>
                            <a:srgbClr val="23263A"/>
                          </a:solidFill>
                          <a:latin typeface="Calibri" pitchFamily="34" charset="0"/>
                          <a:ea typeface="Calibri" pitchFamily="34" charset="-122"/>
                          <a:cs typeface="Calibri" pitchFamily="34" charset="-120"/>
                        </a:rPr>
                        <a:t>pytest, Docker, Gunicorn, Cloud Run + Firebase Hosting (prepared)</a:t>
                      </a:r>
                      <a:endParaRPr lang="en-US" sz="1250" dirty="0">
                        <a:latin typeface="Calibri" charset="0"/>
                        <a:ea typeface="Calibri" charset="0"/>
                        <a:cs typeface="Calibri" charset="0"/>
                      </a:endParaRPr>
                    </a:p>
                  </a:txBody>
                  <a:tcPr marL="137160" marR="137160" marT="0" marB="0" anchor="ctr">
                    <a:lnL w="0" cap="flat" cmpd="sng" algn="ctr">
                      <a:noFill/>
                    </a:lnL>
                    <a:lnR w="0" cap="flat" cmpd="sng" algn="ctr">
                      <a:noFill/>
                    </a:lnR>
                    <a:lnT w="0" cap="flat" cmpd="sng" algn="ctr">
                      <a:noFill/>
                    </a:lnT>
                    <a:lnB w="9525" cap="flat" cmpd="sng" algn="ctr">
                      <a:solidFill>
                        <a:srgbClr val="DCDFE9"/>
                      </a:solidFill>
                      <a:prstDash val="solid"/>
                      <a:round/>
                      <a:headEnd type="none" w="med" len="med"/>
                      <a:tailEnd type="none" w="med" len="med"/>
                    </a:lnB>
                    <a:solidFill>
                      <a:srgbClr val="F3F4F8"/>
                    </a:solidFill>
                  </a:tcPr>
                </a:tc>
              </a:tr>
            </a:tbl>
          </a:graphicData>
        </a:graphic>
      </p:graphicFrame>
      <p:sp>
        <p:nvSpPr>
          <p:cNvPr id="5" name="Tech icon tile"/>
          <p:cNvSpPr/>
          <p:nvPr/>
        </p:nvSpPr>
        <p:spPr>
          <a:xfrm>
            <a:off x="603504" y="1714500"/>
            <a:ext cx="274320" cy="274320"/>
          </a:xfrm>
          <a:prstGeom prst="roundRect">
            <a:avLst>
              <a:gd name="adj" fmla="val 20000"/>
            </a:avLst>
          </a:prstGeom>
          <a:solidFill>
            <a:srgbClr val="E4E5F5"/>
          </a:solidFill>
          <a:ln w="12700">
            <a:solidFill>
              <a:srgbClr val="E4E5F5"/>
            </a:solidFill>
            <a:prstDash val="solid"/>
          </a:ln>
        </p:spPr>
      </p:sp>
      <p:pic>
        <p:nvPicPr>
          <p:cNvPr id="6" name="Tech icon" descr="s/LuServer.png">    </p:cNvPr>
          <p:cNvPicPr>
            <a:picLocks noChangeAspect="1"/>
          </p:cNvPicPr>
          <p:nvPr/>
        </p:nvPicPr>
        <p:blipFill>
          <a:blip r:embed="rId1"/>
          <a:stretch>
            <a:fillRect/>
          </a:stretch>
        </p:blipFill>
        <p:spPr>
          <a:xfrm>
            <a:off x="649224" y="1760220"/>
            <a:ext cx="182880" cy="182880"/>
          </a:xfrm>
          <a:prstGeom prst="rect">
            <a:avLst/>
          </a:prstGeom>
        </p:spPr>
      </p:pic>
      <p:sp>
        <p:nvSpPr>
          <p:cNvPr id="7" name="Tech icon tile"/>
          <p:cNvSpPr/>
          <p:nvPr/>
        </p:nvSpPr>
        <p:spPr>
          <a:xfrm>
            <a:off x="603504" y="2125980"/>
            <a:ext cx="274320" cy="274320"/>
          </a:xfrm>
          <a:prstGeom prst="roundRect">
            <a:avLst>
              <a:gd name="adj" fmla="val 20000"/>
            </a:avLst>
          </a:prstGeom>
          <a:solidFill>
            <a:srgbClr val="E4E5F5"/>
          </a:solidFill>
          <a:ln w="12700">
            <a:solidFill>
              <a:srgbClr val="E4E5F5"/>
            </a:solidFill>
            <a:prstDash val="solid"/>
          </a:ln>
        </p:spPr>
      </p:sp>
      <p:pic>
        <p:nvPicPr>
          <p:cNvPr id="8" name="Tech icon" descr="s/LuDatabase.png">    </p:cNvPr>
          <p:cNvPicPr>
            <a:picLocks noChangeAspect="1"/>
          </p:cNvPicPr>
          <p:nvPr/>
        </p:nvPicPr>
        <p:blipFill>
          <a:blip r:embed="rId2"/>
          <a:stretch>
            <a:fillRect/>
          </a:stretch>
        </p:blipFill>
        <p:spPr>
          <a:xfrm>
            <a:off x="649224" y="2171700"/>
            <a:ext cx="182880" cy="182880"/>
          </a:xfrm>
          <a:prstGeom prst="rect">
            <a:avLst/>
          </a:prstGeom>
        </p:spPr>
      </p:pic>
      <p:sp>
        <p:nvSpPr>
          <p:cNvPr id="9" name="Tech icon tile"/>
          <p:cNvSpPr/>
          <p:nvPr/>
        </p:nvSpPr>
        <p:spPr>
          <a:xfrm>
            <a:off x="603504" y="2537460"/>
            <a:ext cx="274320" cy="274320"/>
          </a:xfrm>
          <a:prstGeom prst="roundRect">
            <a:avLst>
              <a:gd name="adj" fmla="val 20000"/>
            </a:avLst>
          </a:prstGeom>
          <a:solidFill>
            <a:srgbClr val="E4E5F5"/>
          </a:solidFill>
          <a:ln w="12700">
            <a:solidFill>
              <a:srgbClr val="E4E5F5"/>
            </a:solidFill>
            <a:prstDash val="solid"/>
          </a:ln>
        </p:spPr>
      </p:sp>
      <p:pic>
        <p:nvPicPr>
          <p:cNvPr id="10" name="Tech icon" descr="s/LuShieldCheck.png">    </p:cNvPr>
          <p:cNvPicPr>
            <a:picLocks noChangeAspect="1"/>
          </p:cNvPicPr>
          <p:nvPr/>
        </p:nvPicPr>
        <p:blipFill>
          <a:blip r:embed="rId3"/>
          <a:stretch>
            <a:fillRect/>
          </a:stretch>
        </p:blipFill>
        <p:spPr>
          <a:xfrm>
            <a:off x="649224" y="2583180"/>
            <a:ext cx="182880" cy="182880"/>
          </a:xfrm>
          <a:prstGeom prst="rect">
            <a:avLst/>
          </a:prstGeom>
        </p:spPr>
      </p:pic>
      <p:sp>
        <p:nvSpPr>
          <p:cNvPr id="11" name="Tech icon tile"/>
          <p:cNvSpPr/>
          <p:nvPr/>
        </p:nvSpPr>
        <p:spPr>
          <a:xfrm>
            <a:off x="603504" y="2948940"/>
            <a:ext cx="274320" cy="274320"/>
          </a:xfrm>
          <a:prstGeom prst="roundRect">
            <a:avLst>
              <a:gd name="adj" fmla="val 20000"/>
            </a:avLst>
          </a:prstGeom>
          <a:solidFill>
            <a:srgbClr val="E4E5F5"/>
          </a:solidFill>
          <a:ln w="12700">
            <a:solidFill>
              <a:srgbClr val="E4E5F5"/>
            </a:solidFill>
            <a:prstDash val="solid"/>
          </a:ln>
        </p:spPr>
      </p:sp>
      <p:pic>
        <p:nvPicPr>
          <p:cNvPr id="12" name="Tech icon" descr="s/LuBrainCircuit.png">    </p:cNvPr>
          <p:cNvPicPr>
            <a:picLocks noChangeAspect="1"/>
          </p:cNvPicPr>
          <p:nvPr/>
        </p:nvPicPr>
        <p:blipFill>
          <a:blip r:embed="rId4"/>
          <a:stretch>
            <a:fillRect/>
          </a:stretch>
        </p:blipFill>
        <p:spPr>
          <a:xfrm>
            <a:off x="649224" y="2994660"/>
            <a:ext cx="182880" cy="182880"/>
          </a:xfrm>
          <a:prstGeom prst="rect">
            <a:avLst/>
          </a:prstGeom>
        </p:spPr>
      </p:pic>
      <p:sp>
        <p:nvSpPr>
          <p:cNvPr id="13" name="Tech icon tile"/>
          <p:cNvSpPr/>
          <p:nvPr/>
        </p:nvSpPr>
        <p:spPr>
          <a:xfrm>
            <a:off x="603504" y="3360420"/>
            <a:ext cx="274320" cy="274320"/>
          </a:xfrm>
          <a:prstGeom prst="roundRect">
            <a:avLst>
              <a:gd name="adj" fmla="val 20000"/>
            </a:avLst>
          </a:prstGeom>
          <a:solidFill>
            <a:srgbClr val="E4E5F5"/>
          </a:solidFill>
          <a:ln w="12700">
            <a:solidFill>
              <a:srgbClr val="E4E5F5"/>
            </a:solidFill>
            <a:prstDash val="solid"/>
          </a:ln>
        </p:spPr>
      </p:sp>
      <p:pic>
        <p:nvPicPr>
          <p:cNvPr id="14" name="Tech icon" descr="s/LuChartColumn.png">    </p:cNvPr>
          <p:cNvPicPr>
            <a:picLocks noChangeAspect="1"/>
          </p:cNvPicPr>
          <p:nvPr/>
        </p:nvPicPr>
        <p:blipFill>
          <a:blip r:embed="rId5"/>
          <a:stretch>
            <a:fillRect/>
          </a:stretch>
        </p:blipFill>
        <p:spPr>
          <a:xfrm>
            <a:off x="649224" y="3406140"/>
            <a:ext cx="182880" cy="182880"/>
          </a:xfrm>
          <a:prstGeom prst="rect">
            <a:avLst/>
          </a:prstGeom>
        </p:spPr>
      </p:pic>
      <p:sp>
        <p:nvSpPr>
          <p:cNvPr id="15" name="Tech icon tile"/>
          <p:cNvSpPr/>
          <p:nvPr/>
        </p:nvSpPr>
        <p:spPr>
          <a:xfrm>
            <a:off x="603504" y="3771900"/>
            <a:ext cx="274320" cy="274320"/>
          </a:xfrm>
          <a:prstGeom prst="roundRect">
            <a:avLst>
              <a:gd name="adj" fmla="val 20000"/>
            </a:avLst>
          </a:prstGeom>
          <a:solidFill>
            <a:srgbClr val="E4E5F5"/>
          </a:solidFill>
          <a:ln w="12700">
            <a:solidFill>
              <a:srgbClr val="E4E5F5"/>
            </a:solidFill>
            <a:prstDash val="solid"/>
          </a:ln>
        </p:spPr>
      </p:sp>
      <p:pic>
        <p:nvPicPr>
          <p:cNvPr id="16" name="Tech icon" descr="s/LuCodeXml.png">    </p:cNvPr>
          <p:cNvPicPr>
            <a:picLocks noChangeAspect="1"/>
          </p:cNvPicPr>
          <p:nvPr/>
        </p:nvPicPr>
        <p:blipFill>
          <a:blip r:embed="rId6"/>
          <a:stretch>
            <a:fillRect/>
          </a:stretch>
        </p:blipFill>
        <p:spPr>
          <a:xfrm>
            <a:off x="649224" y="3817620"/>
            <a:ext cx="182880" cy="182880"/>
          </a:xfrm>
          <a:prstGeom prst="rect">
            <a:avLst/>
          </a:prstGeom>
        </p:spPr>
      </p:pic>
      <p:sp>
        <p:nvSpPr>
          <p:cNvPr id="17" name="Tech icon tile"/>
          <p:cNvSpPr/>
          <p:nvPr/>
        </p:nvSpPr>
        <p:spPr>
          <a:xfrm>
            <a:off x="603504" y="4183380"/>
            <a:ext cx="274320" cy="274320"/>
          </a:xfrm>
          <a:prstGeom prst="roundRect">
            <a:avLst>
              <a:gd name="adj" fmla="val 20000"/>
            </a:avLst>
          </a:prstGeom>
          <a:solidFill>
            <a:srgbClr val="E4E5F5"/>
          </a:solidFill>
          <a:ln w="12700">
            <a:solidFill>
              <a:srgbClr val="E4E5F5"/>
            </a:solidFill>
            <a:prstDash val="solid"/>
          </a:ln>
        </p:spPr>
      </p:sp>
      <p:pic>
        <p:nvPicPr>
          <p:cNvPr id="18" name="Tech icon" descr="s/LuFlaskConical.png">    </p:cNvPr>
          <p:cNvPicPr>
            <a:picLocks noChangeAspect="1"/>
          </p:cNvPicPr>
          <p:nvPr/>
        </p:nvPicPr>
        <p:blipFill>
          <a:blip r:embed="rId7"/>
          <a:stretch>
            <a:fillRect/>
          </a:stretch>
        </p:blipFill>
        <p:spPr>
          <a:xfrm>
            <a:off x="649224" y="4229100"/>
            <a:ext cx="182880" cy="182880"/>
          </a:xfrm>
          <a:prstGeom prst="rect">
            <a:avLst/>
          </a:prstGeom>
        </p:spPr>
      </p:pic>
      <p:sp>
        <p:nvSpPr>
          <p:cNvPr id="25" name="Slide Number Placeholder 0"/>
          <p:cNvSpPr>
            <a:spLocks noGrp="1"/>
          </p:cNvSpPr>
          <p:nvPr>
            <p:ph type="sldNum" sz="quarter" idx="4294967295"/>
          </p:nvPr>
        </p:nvSpPr>
        <p:spPr>
          <a:xfrm>
            <a:off x="8183880" y="4736592"/>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066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6" type="body" hasCustomPrompt="1"/>
          </p:nvPr>
        </p:nvSpPr>
        <p:spPr>
          <a:xfrm>
            <a:off x="502920" y="329184"/>
            <a:ext cx="5486400" cy="237744"/>
          </a:xfrm>
          <a:prstGeom prst="rect">
            <a:avLst/>
          </a:prstGeom>
          <a:noFill/>
          <a:ln/>
        </p:spPr>
        <p:txBody>
          <a:bodyPr wrap="square" lIns="0" tIns="0" rIns="0" bIns="0" rtlCol="0"/>
          <a:lstStyle/>
          <a:p>
            <a:pPr indent="0" marL="0">
              <a:buNone/>
            </a:pPr>
            <a:r>
              <a:rPr lang="en-US" sz="1000" b="1" spc="150" kern="0" dirty="0">
                <a:solidFill>
                  <a:srgbClr val="3F44A0"/>
                </a:solidFill>
              </a:rPr>
              <a:t>05 / 09   HOW IT FITS TOGETHER</a:t>
            </a:r>
            <a:endParaRPr lang="en-US" sz="1000" dirty="0"/>
          </a:p>
        </p:txBody>
      </p:sp>
      <p:sp>
        <p:nvSpPr>
          <p:cNvPr id="3" name="Text 1"/>
          <p:cNvSpPr/>
          <p:nvPr>
            <p:ph idx="107" type="title" hasCustomPrompt="1"/>
          </p:nvPr>
        </p:nvSpPr>
        <p:spPr>
          <a:xfrm>
            <a:off x="502920" y="566928"/>
            <a:ext cx="8138160" cy="548640"/>
          </a:xfrm>
          <a:prstGeom prst="rect">
            <a:avLst/>
          </a:prstGeom>
          <a:noFill/>
          <a:ln/>
        </p:spPr>
        <p:txBody>
          <a:bodyPr wrap="square" lIns="0" tIns="0" rIns="0" bIns="0" rtlCol="0" anchor="ctr"/>
          <a:lstStyle/>
          <a:p>
            <a:pPr algn="l" indent="0" marL="0">
              <a:buNone/>
            </a:pPr>
            <a:r>
              <a:rPr lang="en-US" sz="2600" b="1" dirty="0">
                <a:solidFill>
                  <a:srgbClr val="1B1E3A"/>
                </a:solidFill>
                <a:latin typeface="Cambria" pitchFamily="34" charset="0"/>
                <a:ea typeface="Cambria" pitchFamily="34" charset="-122"/>
                <a:cs typeface="Cambria" pitchFamily="34" charset="-120"/>
              </a:rPr>
              <a:t>System Architecture</a:t>
            </a:r>
            <a:endParaRPr lang="en-US" sz="2600" dirty="0"/>
          </a:p>
        </p:txBody>
      </p:sp>
      <p:sp>
        <p:nvSpPr>
          <p:cNvPr id="4" name="Layer Browser"/>
          <p:cNvSpPr/>
          <p:nvPr/>
        </p:nvSpPr>
        <p:spPr>
          <a:xfrm>
            <a:off x="502920" y="1298448"/>
            <a:ext cx="1463040" cy="713232"/>
          </a:xfrm>
          <a:prstGeom prst="roundRect">
            <a:avLst>
              <a:gd name="adj" fmla="val 10256"/>
            </a:avLst>
          </a:prstGeom>
          <a:solidFill>
            <a:srgbClr val="1B1E3A"/>
          </a:solidFill>
          <a:ln w="9525">
            <a:solidFill>
              <a:srgbClr val="1B1E3A"/>
            </a:solidFill>
            <a:prstDash val="solid"/>
          </a:ln>
        </p:spPr>
      </p:sp>
      <p:pic>
        <p:nvPicPr>
          <p:cNvPr id="5" name="Emoji globe" descr="e/globe.png">    </p:cNvPr>
          <p:cNvPicPr>
            <a:picLocks noChangeAspect="1"/>
          </p:cNvPicPr>
          <p:nvPr/>
        </p:nvPicPr>
        <p:blipFill>
          <a:blip r:embed="rId1"/>
          <a:stretch>
            <a:fillRect/>
          </a:stretch>
        </p:blipFill>
        <p:spPr>
          <a:xfrm>
            <a:off x="630936" y="1371600"/>
            <a:ext cx="219456" cy="219456"/>
          </a:xfrm>
          <a:prstGeom prst="rect">
            <a:avLst/>
          </a:prstGeom>
        </p:spPr>
      </p:pic>
      <p:sp>
        <p:nvSpPr>
          <p:cNvPr id="6" name="Text 3"/>
          <p:cNvSpPr txBox="1"/>
          <p:nvPr/>
        </p:nvSpPr>
        <p:spPr>
          <a:xfrm>
            <a:off x="630936" y="1609344"/>
            <a:ext cx="1243584" cy="365760"/>
          </a:xfrm>
          <a:prstGeom prst="rect">
            <a:avLst/>
          </a:prstGeom>
          <a:noFill/>
          <a:ln/>
        </p:spPr>
        <p:txBody>
          <a:bodyPr wrap="square" lIns="0" tIns="0" rIns="0" bIns="0" rtlCol="0" anchor="t"/>
          <a:lstStyle/>
          <a:p>
            <a:pPr indent="0" marL="0">
              <a:buNone/>
            </a:pPr>
            <a:r>
              <a:rPr lang="en-US" sz="1150" b="1" dirty="0">
                <a:solidFill>
                  <a:srgbClr val="FFFFFF"/>
                </a:solidFill>
              </a:rPr>
              <a:t>Browser</a:t>
            </a:r>
            <a:endParaRPr lang="en-US" sz="1150" dirty="0"/>
          </a:p>
        </p:txBody>
      </p:sp>
      <p:sp>
        <p:nvSpPr>
          <p:cNvPr id="7" name="Arrow"/>
          <p:cNvSpPr/>
          <p:nvPr/>
        </p:nvSpPr>
        <p:spPr>
          <a:xfrm>
            <a:off x="1993392" y="1655064"/>
            <a:ext cx="150876" cy="0"/>
          </a:xfrm>
          <a:prstGeom prst="line">
            <a:avLst/>
          </a:prstGeom>
          <a:noFill/>
          <a:ln w="15875">
            <a:solidFill>
              <a:srgbClr val="3F44A0"/>
            </a:solidFill>
            <a:prstDash val="solid"/>
            <a:tailEnd type="triangle"/>
          </a:ln>
        </p:spPr>
      </p:sp>
      <p:sp>
        <p:nvSpPr>
          <p:cNvPr id="8" name="Layer detail"/>
          <p:cNvSpPr/>
          <p:nvPr/>
        </p:nvSpPr>
        <p:spPr>
          <a:xfrm>
            <a:off x="502920" y="2103120"/>
            <a:ext cx="1463040" cy="2395728"/>
          </a:xfrm>
          <a:prstGeom prst="roundRect">
            <a:avLst>
              <a:gd name="adj" fmla="val 5000"/>
            </a:avLst>
          </a:prstGeom>
          <a:solidFill>
            <a:srgbClr val="F3F4F8"/>
          </a:solidFill>
          <a:ln w="9525">
            <a:solidFill>
              <a:srgbClr val="F3F4F8"/>
            </a:solidFill>
            <a:prstDash val="solid"/>
          </a:ln>
        </p:spPr>
      </p:sp>
      <p:sp>
        <p:nvSpPr>
          <p:cNvPr id="9" name="Text 6"/>
          <p:cNvSpPr txBox="1"/>
          <p:nvPr/>
        </p:nvSpPr>
        <p:spPr>
          <a:xfrm>
            <a:off x="630936" y="2212848"/>
            <a:ext cx="1280160" cy="201168"/>
          </a:xfrm>
          <a:prstGeom prst="rect">
            <a:avLst/>
          </a:prstGeom>
          <a:noFill/>
          <a:ln/>
        </p:spPr>
        <p:txBody>
          <a:bodyPr wrap="square" lIns="0" tIns="0" rIns="0" bIns="0" rtlCol="0" anchor="ctr"/>
          <a:lstStyle/>
          <a:p>
            <a:pPr indent="0" marL="0">
              <a:buNone/>
            </a:pPr>
            <a:r>
              <a:rPr lang="en-US" sz="850" b="1" spc="150" kern="0" dirty="0">
                <a:solidFill>
                  <a:srgbClr val="60667D"/>
                </a:solidFill>
              </a:rPr>
              <a:t>CLIENT</a:t>
            </a:r>
            <a:endParaRPr lang="en-US" sz="850" dirty="0"/>
          </a:p>
        </p:txBody>
      </p:sp>
      <p:sp>
        <p:nvSpPr>
          <p:cNvPr id="10" name="Layer items"/>
          <p:cNvSpPr txBox="1"/>
          <p:nvPr/>
        </p:nvSpPr>
        <p:spPr>
          <a:xfrm>
            <a:off x="630936" y="2468880"/>
            <a:ext cx="1261872" cy="196596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3263A"/>
                </a:solidFill>
              </a:rPr>
              <a:t>HTML, CSS, vanilla JS</a:t>
            </a:r>
            <a:endParaRPr lang="en-US" sz="1100" dirty="0"/>
          </a:p>
          <a:p>
            <a:pPr marL="152400" indent="-152400">
              <a:spcAft>
                <a:spcPts val="300"/>
              </a:spcAft>
              <a:buSzPct val="100000"/>
              <a:buChar char="•"/>
            </a:pPr>
            <a:r>
              <a:rPr lang="en-US" sz="1100" dirty="0">
                <a:solidFill>
                  <a:srgbClr val="23263A"/>
                </a:solidFill>
              </a:rPr>
              <a:t>Jinja2-rendered pages</a:t>
            </a:r>
            <a:endParaRPr lang="en-US" sz="1100" dirty="0"/>
          </a:p>
          <a:p>
            <a:pPr marL="152400" indent="-152400">
              <a:spcAft>
                <a:spcPts val="300"/>
              </a:spcAft>
              <a:buSzPct val="100000"/>
              <a:buChar char="•"/>
            </a:pPr>
            <a:r>
              <a:rPr lang="en-US" sz="1100" dirty="0">
                <a:solidFill>
                  <a:srgbClr val="23263A"/>
                </a:solidFill>
              </a:rPr>
              <a:t>Chart.js charts</a:t>
            </a:r>
            <a:endParaRPr lang="en-US" sz="1100" dirty="0"/>
          </a:p>
        </p:txBody>
      </p:sp>
      <p:sp>
        <p:nvSpPr>
          <p:cNvPr id="11" name="Layer Flask routes (blueprints)"/>
          <p:cNvSpPr/>
          <p:nvPr/>
        </p:nvSpPr>
        <p:spPr>
          <a:xfrm>
            <a:off x="2171700" y="1298448"/>
            <a:ext cx="1463040" cy="713232"/>
          </a:xfrm>
          <a:prstGeom prst="roundRect">
            <a:avLst>
              <a:gd name="adj" fmla="val 10256"/>
            </a:avLst>
          </a:prstGeom>
          <a:solidFill>
            <a:srgbClr val="1B1E3A"/>
          </a:solidFill>
          <a:ln w="9525">
            <a:solidFill>
              <a:srgbClr val="1B1E3A"/>
            </a:solidFill>
            <a:prstDash val="solid"/>
          </a:ln>
        </p:spPr>
      </p:sp>
      <p:pic>
        <p:nvPicPr>
          <p:cNvPr id="12" name="Emoji traffic" descr="e/traffic.png">    </p:cNvPr>
          <p:cNvPicPr>
            <a:picLocks noChangeAspect="1"/>
          </p:cNvPicPr>
          <p:nvPr/>
        </p:nvPicPr>
        <p:blipFill>
          <a:blip r:embed="rId2"/>
          <a:stretch>
            <a:fillRect/>
          </a:stretch>
        </p:blipFill>
        <p:spPr>
          <a:xfrm>
            <a:off x="2299716" y="1371600"/>
            <a:ext cx="219456" cy="219456"/>
          </a:xfrm>
          <a:prstGeom prst="rect">
            <a:avLst/>
          </a:prstGeom>
        </p:spPr>
      </p:pic>
      <p:sp>
        <p:nvSpPr>
          <p:cNvPr id="13" name="Text 9"/>
          <p:cNvSpPr txBox="1"/>
          <p:nvPr/>
        </p:nvSpPr>
        <p:spPr>
          <a:xfrm>
            <a:off x="2299716" y="1609344"/>
            <a:ext cx="1243584" cy="365760"/>
          </a:xfrm>
          <a:prstGeom prst="rect">
            <a:avLst/>
          </a:prstGeom>
          <a:noFill/>
          <a:ln/>
        </p:spPr>
        <p:txBody>
          <a:bodyPr wrap="square" lIns="0" tIns="0" rIns="0" bIns="0" rtlCol="0" anchor="t"/>
          <a:lstStyle/>
          <a:p>
            <a:pPr indent="0" marL="0">
              <a:buNone/>
            </a:pPr>
            <a:r>
              <a:rPr lang="en-US" sz="1150" b="1" dirty="0">
                <a:solidFill>
                  <a:srgbClr val="FFFFFF"/>
                </a:solidFill>
              </a:rPr>
              <a:t>Flask routes (blueprints)</a:t>
            </a:r>
            <a:endParaRPr lang="en-US" sz="1150" dirty="0"/>
          </a:p>
        </p:txBody>
      </p:sp>
      <p:sp>
        <p:nvSpPr>
          <p:cNvPr id="14" name="Arrow"/>
          <p:cNvSpPr/>
          <p:nvPr/>
        </p:nvSpPr>
        <p:spPr>
          <a:xfrm>
            <a:off x="3662172" y="1655064"/>
            <a:ext cx="150876" cy="0"/>
          </a:xfrm>
          <a:prstGeom prst="line">
            <a:avLst/>
          </a:prstGeom>
          <a:noFill/>
          <a:ln w="15875">
            <a:solidFill>
              <a:srgbClr val="3F44A0"/>
            </a:solidFill>
            <a:prstDash val="solid"/>
            <a:tailEnd type="triangle"/>
          </a:ln>
        </p:spPr>
      </p:sp>
      <p:sp>
        <p:nvSpPr>
          <p:cNvPr id="15" name="Layer detail"/>
          <p:cNvSpPr/>
          <p:nvPr/>
        </p:nvSpPr>
        <p:spPr>
          <a:xfrm>
            <a:off x="2171700" y="2103120"/>
            <a:ext cx="1463040" cy="2395728"/>
          </a:xfrm>
          <a:prstGeom prst="roundRect">
            <a:avLst>
              <a:gd name="adj" fmla="val 5000"/>
            </a:avLst>
          </a:prstGeom>
          <a:solidFill>
            <a:srgbClr val="F3F4F8"/>
          </a:solidFill>
          <a:ln w="9525">
            <a:solidFill>
              <a:srgbClr val="F3F4F8"/>
            </a:solidFill>
            <a:prstDash val="solid"/>
          </a:ln>
        </p:spPr>
      </p:sp>
      <p:sp>
        <p:nvSpPr>
          <p:cNvPr id="16" name="Text 12"/>
          <p:cNvSpPr txBox="1"/>
          <p:nvPr/>
        </p:nvSpPr>
        <p:spPr>
          <a:xfrm>
            <a:off x="2299716" y="2212848"/>
            <a:ext cx="1280160" cy="201168"/>
          </a:xfrm>
          <a:prstGeom prst="rect">
            <a:avLst/>
          </a:prstGeom>
          <a:noFill/>
          <a:ln/>
        </p:spPr>
        <p:txBody>
          <a:bodyPr wrap="square" lIns="0" tIns="0" rIns="0" bIns="0" rtlCol="0" anchor="ctr"/>
          <a:lstStyle/>
          <a:p>
            <a:pPr indent="0" marL="0">
              <a:buNone/>
            </a:pPr>
            <a:r>
              <a:rPr lang="en-US" sz="850" b="1" spc="150" kern="0" dirty="0">
                <a:solidFill>
                  <a:srgbClr val="60667D"/>
                </a:solidFill>
              </a:rPr>
              <a:t>BLUEPRINTS</a:t>
            </a:r>
            <a:endParaRPr lang="en-US" sz="850" dirty="0"/>
          </a:p>
        </p:txBody>
      </p:sp>
      <p:sp>
        <p:nvSpPr>
          <p:cNvPr id="17" name="Layer items"/>
          <p:cNvSpPr txBox="1"/>
          <p:nvPr/>
        </p:nvSpPr>
        <p:spPr>
          <a:xfrm>
            <a:off x="2299716" y="2468880"/>
            <a:ext cx="1261872" cy="196596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3263A"/>
                </a:solidFill>
              </a:rPr>
              <a:t>auth</a:t>
            </a:r>
            <a:endParaRPr lang="en-US" sz="1100" dirty="0"/>
          </a:p>
          <a:p>
            <a:pPr marL="152400" indent="-152400">
              <a:spcAft>
                <a:spcPts val="300"/>
              </a:spcAft>
              <a:buSzPct val="100000"/>
              <a:buChar char="•"/>
            </a:pPr>
            <a:r>
              <a:rPr lang="en-US" sz="1100" dirty="0">
                <a:solidFill>
                  <a:srgbClr val="23263A"/>
                </a:solidFill>
              </a:rPr>
              <a:t>dashboard</a:t>
            </a:r>
            <a:endParaRPr lang="en-US" sz="1100" dirty="0"/>
          </a:p>
          <a:p>
            <a:pPr marL="152400" indent="-152400">
              <a:spcAft>
                <a:spcPts val="300"/>
              </a:spcAft>
              <a:buSzPct val="100000"/>
              <a:buChar char="•"/>
            </a:pPr>
            <a:r>
              <a:rPr lang="en-US" sz="1100" dirty="0">
                <a:solidFill>
                  <a:srgbClr val="23263A"/>
                </a:solidFill>
              </a:rPr>
              <a:t>journal</a:t>
            </a:r>
            <a:endParaRPr lang="en-US" sz="1100" dirty="0"/>
          </a:p>
          <a:p>
            <a:pPr marL="152400" indent="-152400">
              <a:spcAft>
                <a:spcPts val="300"/>
              </a:spcAft>
              <a:buSzPct val="100000"/>
              <a:buChar char="•"/>
            </a:pPr>
            <a:r>
              <a:rPr lang="en-US" sz="1100" dirty="0">
                <a:solidFill>
                  <a:srgbClr val="23263A"/>
                </a:solidFill>
              </a:rPr>
              <a:t>insights</a:t>
            </a:r>
            <a:endParaRPr lang="en-US" sz="1100" dirty="0"/>
          </a:p>
          <a:p>
            <a:pPr marL="152400" indent="-152400">
              <a:spcAft>
                <a:spcPts val="300"/>
              </a:spcAft>
              <a:buSzPct val="100000"/>
              <a:buChar char="•"/>
            </a:pPr>
            <a:r>
              <a:rPr lang="en-US" sz="1100" dirty="0">
                <a:solidFill>
                  <a:srgbClr val="23263A"/>
                </a:solidFill>
              </a:rPr>
              <a:t>reports</a:t>
            </a:r>
            <a:endParaRPr lang="en-US" sz="1100" dirty="0"/>
          </a:p>
          <a:p>
            <a:pPr marL="152400" indent="-152400">
              <a:spcAft>
                <a:spcPts val="300"/>
              </a:spcAft>
              <a:buSzPct val="100000"/>
              <a:buChar char="•"/>
            </a:pPr>
            <a:r>
              <a:rPr lang="en-US" sz="1100" dirty="0">
                <a:solidFill>
                  <a:srgbClr val="23263A"/>
                </a:solidFill>
              </a:rPr>
              <a:t>mindy</a:t>
            </a:r>
            <a:endParaRPr lang="en-US" sz="1100" dirty="0"/>
          </a:p>
        </p:txBody>
      </p:sp>
      <p:sp>
        <p:nvSpPr>
          <p:cNvPr id="18" name="Layer Service layer"/>
          <p:cNvSpPr/>
          <p:nvPr/>
        </p:nvSpPr>
        <p:spPr>
          <a:xfrm>
            <a:off x="3840480" y="1298448"/>
            <a:ext cx="1463040" cy="713232"/>
          </a:xfrm>
          <a:prstGeom prst="roundRect">
            <a:avLst>
              <a:gd name="adj" fmla="val 10256"/>
            </a:avLst>
          </a:prstGeom>
          <a:solidFill>
            <a:srgbClr val="3F44A0"/>
          </a:solidFill>
          <a:ln w="9525">
            <a:solidFill>
              <a:srgbClr val="3F44A0"/>
            </a:solidFill>
            <a:prstDash val="solid"/>
          </a:ln>
        </p:spPr>
      </p:sp>
      <p:pic>
        <p:nvPicPr>
          <p:cNvPr id="19" name="Emoji gear" descr="e/gear.png">    </p:cNvPr>
          <p:cNvPicPr>
            <a:picLocks noChangeAspect="1"/>
          </p:cNvPicPr>
          <p:nvPr/>
        </p:nvPicPr>
        <p:blipFill>
          <a:blip r:embed="rId3"/>
          <a:stretch>
            <a:fillRect/>
          </a:stretch>
        </p:blipFill>
        <p:spPr>
          <a:xfrm>
            <a:off x="3968496" y="1371600"/>
            <a:ext cx="219456" cy="219456"/>
          </a:xfrm>
          <a:prstGeom prst="rect">
            <a:avLst/>
          </a:prstGeom>
        </p:spPr>
      </p:pic>
      <p:sp>
        <p:nvSpPr>
          <p:cNvPr id="20" name="Text 15"/>
          <p:cNvSpPr txBox="1"/>
          <p:nvPr/>
        </p:nvSpPr>
        <p:spPr>
          <a:xfrm>
            <a:off x="3968496" y="1609344"/>
            <a:ext cx="1243584" cy="365760"/>
          </a:xfrm>
          <a:prstGeom prst="rect">
            <a:avLst/>
          </a:prstGeom>
          <a:noFill/>
          <a:ln/>
        </p:spPr>
        <p:txBody>
          <a:bodyPr wrap="square" lIns="0" tIns="0" rIns="0" bIns="0" rtlCol="0" anchor="t"/>
          <a:lstStyle/>
          <a:p>
            <a:pPr indent="0" marL="0">
              <a:buNone/>
            </a:pPr>
            <a:r>
              <a:rPr lang="en-US" sz="1150" b="1" dirty="0">
                <a:solidFill>
                  <a:srgbClr val="FFFFFF"/>
                </a:solidFill>
              </a:rPr>
              <a:t>Service layer</a:t>
            </a:r>
            <a:endParaRPr lang="en-US" sz="1150" dirty="0"/>
          </a:p>
        </p:txBody>
      </p:sp>
      <p:sp>
        <p:nvSpPr>
          <p:cNvPr id="21" name="Arrow"/>
          <p:cNvSpPr/>
          <p:nvPr/>
        </p:nvSpPr>
        <p:spPr>
          <a:xfrm>
            <a:off x="5330952" y="1655064"/>
            <a:ext cx="150876" cy="0"/>
          </a:xfrm>
          <a:prstGeom prst="line">
            <a:avLst/>
          </a:prstGeom>
          <a:noFill/>
          <a:ln w="15875">
            <a:solidFill>
              <a:srgbClr val="3F44A0"/>
            </a:solidFill>
            <a:prstDash val="solid"/>
            <a:tailEnd type="triangle"/>
          </a:ln>
        </p:spPr>
      </p:sp>
      <p:sp>
        <p:nvSpPr>
          <p:cNvPr id="22" name="Layer detail"/>
          <p:cNvSpPr/>
          <p:nvPr/>
        </p:nvSpPr>
        <p:spPr>
          <a:xfrm>
            <a:off x="3840480" y="2103120"/>
            <a:ext cx="1463040" cy="2395728"/>
          </a:xfrm>
          <a:prstGeom prst="roundRect">
            <a:avLst>
              <a:gd name="adj" fmla="val 5000"/>
            </a:avLst>
          </a:prstGeom>
          <a:solidFill>
            <a:srgbClr val="F3F4F8"/>
          </a:solidFill>
          <a:ln w="9525">
            <a:solidFill>
              <a:srgbClr val="F3F4F8"/>
            </a:solidFill>
            <a:prstDash val="solid"/>
          </a:ln>
        </p:spPr>
      </p:sp>
      <p:sp>
        <p:nvSpPr>
          <p:cNvPr id="23" name="Text 18"/>
          <p:cNvSpPr txBox="1"/>
          <p:nvPr/>
        </p:nvSpPr>
        <p:spPr>
          <a:xfrm>
            <a:off x="3968496" y="2212848"/>
            <a:ext cx="1280160" cy="201168"/>
          </a:xfrm>
          <a:prstGeom prst="rect">
            <a:avLst/>
          </a:prstGeom>
          <a:noFill/>
          <a:ln/>
        </p:spPr>
        <p:txBody>
          <a:bodyPr wrap="square" lIns="0" tIns="0" rIns="0" bIns="0" rtlCol="0" anchor="ctr"/>
          <a:lstStyle/>
          <a:p>
            <a:pPr indent="0" marL="0">
              <a:buNone/>
            </a:pPr>
            <a:r>
              <a:rPr lang="en-US" sz="850" b="1" spc="150" kern="0" dirty="0">
                <a:solidFill>
                  <a:srgbClr val="60667D"/>
                </a:solidFill>
              </a:rPr>
              <a:t>SERVICES</a:t>
            </a:r>
            <a:endParaRPr lang="en-US" sz="850" dirty="0"/>
          </a:p>
        </p:txBody>
      </p:sp>
      <p:sp>
        <p:nvSpPr>
          <p:cNvPr id="24" name="Layer items"/>
          <p:cNvSpPr txBox="1"/>
          <p:nvPr/>
        </p:nvSpPr>
        <p:spPr>
          <a:xfrm>
            <a:off x="3968496" y="2468880"/>
            <a:ext cx="1261872" cy="196596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3263A"/>
                </a:solidFill>
              </a:rPr>
              <a:t>encryption</a:t>
            </a:r>
            <a:endParaRPr lang="en-US" sz="1100" dirty="0"/>
          </a:p>
          <a:p>
            <a:pPr marL="152400" indent="-152400">
              <a:spcAft>
                <a:spcPts val="300"/>
              </a:spcAft>
              <a:buSzPct val="100000"/>
              <a:buChar char="•"/>
            </a:pPr>
            <a:r>
              <a:rPr lang="en-US" sz="1100" dirty="0">
                <a:solidFill>
                  <a:srgbClr val="23263A"/>
                </a:solidFill>
              </a:rPr>
              <a:t>sentiment</a:t>
            </a:r>
            <a:endParaRPr lang="en-US" sz="1100" dirty="0"/>
          </a:p>
          <a:p>
            <a:pPr marL="152400" indent="-152400">
              <a:spcAft>
                <a:spcPts val="300"/>
              </a:spcAft>
              <a:buSzPct val="100000"/>
              <a:buChar char="•"/>
            </a:pPr>
            <a:r>
              <a:rPr lang="en-US" sz="1100" dirty="0">
                <a:solidFill>
                  <a:srgbClr val="23263A"/>
                </a:solidFill>
              </a:rPr>
              <a:t>themes</a:t>
            </a:r>
            <a:endParaRPr lang="en-US" sz="1100" dirty="0"/>
          </a:p>
          <a:p>
            <a:pPr marL="152400" indent="-152400">
              <a:spcAft>
                <a:spcPts val="300"/>
              </a:spcAft>
              <a:buSzPct val="100000"/>
              <a:buChar char="•"/>
            </a:pPr>
            <a:r>
              <a:rPr lang="en-US" sz="1100" dirty="0">
                <a:solidFill>
                  <a:srgbClr val="23263A"/>
                </a:solidFill>
              </a:rPr>
              <a:t>insights</a:t>
            </a:r>
            <a:endParaRPr lang="en-US" sz="1100" dirty="0"/>
          </a:p>
          <a:p>
            <a:pPr marL="152400" indent="-152400">
              <a:spcAft>
                <a:spcPts val="300"/>
              </a:spcAft>
              <a:buSzPct val="100000"/>
              <a:buChar char="•"/>
            </a:pPr>
            <a:r>
              <a:rPr lang="en-US" sz="1100" dirty="0">
                <a:solidFill>
                  <a:srgbClr val="23263A"/>
                </a:solidFill>
              </a:rPr>
              <a:t>reflection</a:t>
            </a:r>
            <a:endParaRPr lang="en-US" sz="1100" dirty="0"/>
          </a:p>
          <a:p>
            <a:pPr marL="152400" indent="-152400">
              <a:spcAft>
                <a:spcPts val="300"/>
              </a:spcAft>
              <a:buSzPct val="100000"/>
              <a:buChar char="•"/>
            </a:pPr>
            <a:r>
              <a:rPr lang="en-US" sz="1100" dirty="0">
                <a:solidFill>
                  <a:srgbClr val="23263A"/>
                </a:solidFill>
              </a:rPr>
              <a:t>reports</a:t>
            </a:r>
            <a:endParaRPr lang="en-US" sz="1100" dirty="0"/>
          </a:p>
          <a:p>
            <a:pPr marL="152400" indent="-152400">
              <a:spcAft>
                <a:spcPts val="300"/>
              </a:spcAft>
              <a:buSzPct val="100000"/>
              <a:buChar char="•"/>
            </a:pPr>
            <a:r>
              <a:rPr lang="en-US" sz="1100" dirty="0">
                <a:solidFill>
                  <a:srgbClr val="23263A"/>
                </a:solidFill>
              </a:rPr>
              <a:t>Mindy</a:t>
            </a:r>
            <a:endParaRPr lang="en-US" sz="1100" dirty="0"/>
          </a:p>
        </p:txBody>
      </p:sp>
      <p:sp>
        <p:nvSpPr>
          <p:cNvPr id="25" name="Layer SQLAlchemy models"/>
          <p:cNvSpPr/>
          <p:nvPr/>
        </p:nvSpPr>
        <p:spPr>
          <a:xfrm>
            <a:off x="5509260" y="1298448"/>
            <a:ext cx="1463040" cy="713232"/>
          </a:xfrm>
          <a:prstGeom prst="roundRect">
            <a:avLst>
              <a:gd name="adj" fmla="val 10256"/>
            </a:avLst>
          </a:prstGeom>
          <a:solidFill>
            <a:srgbClr val="1B1E3A"/>
          </a:solidFill>
          <a:ln w="9525">
            <a:solidFill>
              <a:srgbClr val="1B1E3A"/>
            </a:solidFill>
            <a:prstDash val="solid"/>
          </a:ln>
        </p:spPr>
      </p:sp>
      <p:pic>
        <p:nvPicPr>
          <p:cNvPr id="26" name="Emoji bricks" descr="e/bricks.png">    </p:cNvPr>
          <p:cNvPicPr>
            <a:picLocks noChangeAspect="1"/>
          </p:cNvPicPr>
          <p:nvPr/>
        </p:nvPicPr>
        <p:blipFill>
          <a:blip r:embed="rId4"/>
          <a:stretch>
            <a:fillRect/>
          </a:stretch>
        </p:blipFill>
        <p:spPr>
          <a:xfrm>
            <a:off x="5637276" y="1371600"/>
            <a:ext cx="219456" cy="219456"/>
          </a:xfrm>
          <a:prstGeom prst="rect">
            <a:avLst/>
          </a:prstGeom>
        </p:spPr>
      </p:pic>
      <p:sp>
        <p:nvSpPr>
          <p:cNvPr id="27" name="Text 21"/>
          <p:cNvSpPr txBox="1"/>
          <p:nvPr/>
        </p:nvSpPr>
        <p:spPr>
          <a:xfrm>
            <a:off x="5637276" y="1609344"/>
            <a:ext cx="1243584" cy="365760"/>
          </a:xfrm>
          <a:prstGeom prst="rect">
            <a:avLst/>
          </a:prstGeom>
          <a:noFill/>
          <a:ln/>
        </p:spPr>
        <p:txBody>
          <a:bodyPr wrap="square" lIns="0" tIns="0" rIns="0" bIns="0" rtlCol="0" anchor="t"/>
          <a:lstStyle/>
          <a:p>
            <a:pPr indent="0" marL="0">
              <a:buNone/>
            </a:pPr>
            <a:r>
              <a:rPr lang="en-US" sz="1150" b="1" dirty="0">
                <a:solidFill>
                  <a:srgbClr val="FFFFFF"/>
                </a:solidFill>
              </a:rPr>
              <a:t>SQLAlchemy models</a:t>
            </a:r>
            <a:endParaRPr lang="en-US" sz="1150" dirty="0"/>
          </a:p>
        </p:txBody>
      </p:sp>
      <p:sp>
        <p:nvSpPr>
          <p:cNvPr id="28" name="Arrow"/>
          <p:cNvSpPr/>
          <p:nvPr/>
        </p:nvSpPr>
        <p:spPr>
          <a:xfrm>
            <a:off x="6999732" y="1655064"/>
            <a:ext cx="150876" cy="0"/>
          </a:xfrm>
          <a:prstGeom prst="line">
            <a:avLst/>
          </a:prstGeom>
          <a:noFill/>
          <a:ln w="15875">
            <a:solidFill>
              <a:srgbClr val="3F44A0"/>
            </a:solidFill>
            <a:prstDash val="solid"/>
            <a:tailEnd type="triangle"/>
          </a:ln>
        </p:spPr>
      </p:sp>
      <p:sp>
        <p:nvSpPr>
          <p:cNvPr id="29" name="Layer detail"/>
          <p:cNvSpPr/>
          <p:nvPr/>
        </p:nvSpPr>
        <p:spPr>
          <a:xfrm>
            <a:off x="5509260" y="2103120"/>
            <a:ext cx="1463040" cy="2395728"/>
          </a:xfrm>
          <a:prstGeom prst="roundRect">
            <a:avLst>
              <a:gd name="adj" fmla="val 5000"/>
            </a:avLst>
          </a:prstGeom>
          <a:solidFill>
            <a:srgbClr val="F3F4F8"/>
          </a:solidFill>
          <a:ln w="9525">
            <a:solidFill>
              <a:srgbClr val="F3F4F8"/>
            </a:solidFill>
            <a:prstDash val="solid"/>
          </a:ln>
        </p:spPr>
      </p:sp>
      <p:sp>
        <p:nvSpPr>
          <p:cNvPr id="30" name="Text 24"/>
          <p:cNvSpPr txBox="1"/>
          <p:nvPr/>
        </p:nvSpPr>
        <p:spPr>
          <a:xfrm>
            <a:off x="5637276" y="2212848"/>
            <a:ext cx="1280160" cy="201168"/>
          </a:xfrm>
          <a:prstGeom prst="rect">
            <a:avLst/>
          </a:prstGeom>
          <a:noFill/>
          <a:ln/>
        </p:spPr>
        <p:txBody>
          <a:bodyPr wrap="square" lIns="0" tIns="0" rIns="0" bIns="0" rtlCol="0" anchor="ctr"/>
          <a:lstStyle/>
          <a:p>
            <a:pPr indent="0" marL="0">
              <a:buNone/>
            </a:pPr>
            <a:r>
              <a:rPr lang="en-US" sz="850" b="1" spc="150" kern="0" dirty="0">
                <a:solidFill>
                  <a:srgbClr val="60667D"/>
                </a:solidFill>
              </a:rPr>
              <a:t>DATA ACCESS</a:t>
            </a:r>
            <a:endParaRPr lang="en-US" sz="850" dirty="0"/>
          </a:p>
        </p:txBody>
      </p:sp>
      <p:sp>
        <p:nvSpPr>
          <p:cNvPr id="31" name="Layer items"/>
          <p:cNvSpPr txBox="1"/>
          <p:nvPr/>
        </p:nvSpPr>
        <p:spPr>
          <a:xfrm>
            <a:off x="5637276" y="2468880"/>
            <a:ext cx="1261872" cy="196596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3263A"/>
                </a:solidFill>
              </a:rPr>
              <a:t>Flask-SQLAlchemy ORM</a:t>
            </a:r>
            <a:endParaRPr lang="en-US" sz="1100" dirty="0"/>
          </a:p>
          <a:p>
            <a:pPr marL="152400" indent="-152400">
              <a:spcAft>
                <a:spcPts val="300"/>
              </a:spcAft>
              <a:buSzPct val="100000"/>
              <a:buChar char="•"/>
            </a:pPr>
            <a:r>
              <a:rPr lang="en-US" sz="1100" dirty="0">
                <a:solidFill>
                  <a:srgbClr val="23263A"/>
                </a:solidFill>
              </a:rPr>
              <a:t>Queries scoped to the logged-in user</a:t>
            </a:r>
            <a:endParaRPr lang="en-US" sz="1100" dirty="0"/>
          </a:p>
          <a:p>
            <a:pPr marL="152400" indent="-152400">
              <a:spcAft>
                <a:spcPts val="300"/>
              </a:spcAft>
              <a:buSzPct val="100000"/>
              <a:buChar char="•"/>
            </a:pPr>
            <a:r>
              <a:rPr lang="en-US" sz="1100" dirty="0">
                <a:solidFill>
                  <a:srgbClr val="23263A"/>
                </a:solidFill>
              </a:rPr>
              <a:t>Encrypted text fields</a:t>
            </a:r>
            <a:endParaRPr lang="en-US" sz="1100" dirty="0"/>
          </a:p>
        </p:txBody>
      </p:sp>
      <p:sp>
        <p:nvSpPr>
          <p:cNvPr id="32" name="Layer Database"/>
          <p:cNvSpPr/>
          <p:nvPr/>
        </p:nvSpPr>
        <p:spPr>
          <a:xfrm>
            <a:off x="7178040" y="1298448"/>
            <a:ext cx="1463040" cy="713232"/>
          </a:xfrm>
          <a:prstGeom prst="roundRect">
            <a:avLst>
              <a:gd name="adj" fmla="val 10256"/>
            </a:avLst>
          </a:prstGeom>
          <a:solidFill>
            <a:srgbClr val="1B1E3A"/>
          </a:solidFill>
          <a:ln w="9525">
            <a:solidFill>
              <a:srgbClr val="1B1E3A"/>
            </a:solidFill>
            <a:prstDash val="solid"/>
          </a:ln>
        </p:spPr>
      </p:sp>
      <p:pic>
        <p:nvPicPr>
          <p:cNvPr id="33" name="Emoji cabinet" descr="e/cabinet.png">    </p:cNvPr>
          <p:cNvPicPr>
            <a:picLocks noChangeAspect="1"/>
          </p:cNvPicPr>
          <p:nvPr/>
        </p:nvPicPr>
        <p:blipFill>
          <a:blip r:embed="rId5"/>
          <a:stretch>
            <a:fillRect/>
          </a:stretch>
        </p:blipFill>
        <p:spPr>
          <a:xfrm>
            <a:off x="7306056" y="1371600"/>
            <a:ext cx="219456" cy="219456"/>
          </a:xfrm>
          <a:prstGeom prst="rect">
            <a:avLst/>
          </a:prstGeom>
        </p:spPr>
      </p:pic>
      <p:sp>
        <p:nvSpPr>
          <p:cNvPr id="34" name="Text 27"/>
          <p:cNvSpPr txBox="1"/>
          <p:nvPr/>
        </p:nvSpPr>
        <p:spPr>
          <a:xfrm>
            <a:off x="7306056" y="1609344"/>
            <a:ext cx="1243584" cy="365760"/>
          </a:xfrm>
          <a:prstGeom prst="rect">
            <a:avLst/>
          </a:prstGeom>
          <a:noFill/>
          <a:ln/>
        </p:spPr>
        <p:txBody>
          <a:bodyPr wrap="square" lIns="0" tIns="0" rIns="0" bIns="0" rtlCol="0" anchor="t"/>
          <a:lstStyle/>
          <a:p>
            <a:pPr indent="0" marL="0">
              <a:buNone/>
            </a:pPr>
            <a:r>
              <a:rPr lang="en-US" sz="1150" b="1" dirty="0">
                <a:solidFill>
                  <a:srgbClr val="FFFFFF"/>
                </a:solidFill>
              </a:rPr>
              <a:t>Database</a:t>
            </a:r>
            <a:endParaRPr lang="en-US" sz="1150" dirty="0"/>
          </a:p>
        </p:txBody>
      </p:sp>
      <p:sp>
        <p:nvSpPr>
          <p:cNvPr id="35" name="Layer detail"/>
          <p:cNvSpPr/>
          <p:nvPr/>
        </p:nvSpPr>
        <p:spPr>
          <a:xfrm>
            <a:off x="7178040" y="2103120"/>
            <a:ext cx="1463040" cy="2395728"/>
          </a:xfrm>
          <a:prstGeom prst="roundRect">
            <a:avLst>
              <a:gd name="adj" fmla="val 5000"/>
            </a:avLst>
          </a:prstGeom>
          <a:solidFill>
            <a:srgbClr val="F3F4F8"/>
          </a:solidFill>
          <a:ln w="9525">
            <a:solidFill>
              <a:srgbClr val="F3F4F8"/>
            </a:solidFill>
            <a:prstDash val="solid"/>
          </a:ln>
        </p:spPr>
      </p:sp>
      <p:sp>
        <p:nvSpPr>
          <p:cNvPr id="36" name="Text 29"/>
          <p:cNvSpPr txBox="1"/>
          <p:nvPr/>
        </p:nvSpPr>
        <p:spPr>
          <a:xfrm>
            <a:off x="7306056" y="2212848"/>
            <a:ext cx="1280160" cy="201168"/>
          </a:xfrm>
          <a:prstGeom prst="rect">
            <a:avLst/>
          </a:prstGeom>
          <a:noFill/>
          <a:ln/>
        </p:spPr>
        <p:txBody>
          <a:bodyPr wrap="square" lIns="0" tIns="0" rIns="0" bIns="0" rtlCol="0" anchor="ctr"/>
          <a:lstStyle/>
          <a:p>
            <a:pPr indent="0" marL="0">
              <a:buNone/>
            </a:pPr>
            <a:r>
              <a:rPr lang="en-US" sz="850" b="1" spc="150" kern="0" dirty="0">
                <a:solidFill>
                  <a:srgbClr val="60667D"/>
                </a:solidFill>
              </a:rPr>
              <a:t>STORAGE</a:t>
            </a:r>
            <a:endParaRPr lang="en-US" sz="850" dirty="0"/>
          </a:p>
        </p:txBody>
      </p:sp>
      <p:sp>
        <p:nvSpPr>
          <p:cNvPr id="37" name="Layer items"/>
          <p:cNvSpPr txBox="1"/>
          <p:nvPr/>
        </p:nvSpPr>
        <p:spPr>
          <a:xfrm>
            <a:off x="7306056" y="2468880"/>
            <a:ext cx="1261872" cy="196596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3263A"/>
                </a:solidFill>
              </a:rPr>
              <a:t>SQLite (local)</a:t>
            </a:r>
            <a:endParaRPr lang="en-US" sz="1100" dirty="0"/>
          </a:p>
          <a:p>
            <a:pPr marL="152400" indent="-152400">
              <a:spcAft>
                <a:spcPts val="300"/>
              </a:spcAft>
              <a:buSzPct val="100000"/>
              <a:buChar char="•"/>
            </a:pPr>
            <a:r>
              <a:rPr lang="en-US" sz="1100" dirty="0">
                <a:solidFill>
                  <a:srgbClr val="23263A"/>
                </a:solidFill>
              </a:rPr>
              <a:t>PostgreSQL ready for production</a:t>
            </a:r>
            <a:endParaRPr lang="en-US" sz="1100" dirty="0"/>
          </a:p>
        </p:txBody>
      </p:sp>
      <p:sp>
        <p:nvSpPr>
          <p:cNvPr id="25" name="Slide Number Placeholder 0"/>
          <p:cNvSpPr>
            <a:spLocks noGrp="1"/>
          </p:cNvSpPr>
          <p:nvPr>
            <p:ph type="sldNum" sz="quarter" idx="4294967295"/>
          </p:nvPr>
        </p:nvSpPr>
        <p:spPr>
          <a:xfrm>
            <a:off x="8183880" y="4736592"/>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0667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6" type="body" hasCustomPrompt="1"/>
          </p:nvPr>
        </p:nvSpPr>
        <p:spPr>
          <a:xfrm>
            <a:off x="502920" y="329184"/>
            <a:ext cx="5486400" cy="237744"/>
          </a:xfrm>
          <a:prstGeom prst="rect">
            <a:avLst/>
          </a:prstGeom>
          <a:noFill/>
          <a:ln/>
        </p:spPr>
        <p:txBody>
          <a:bodyPr wrap="square" lIns="0" tIns="0" rIns="0" bIns="0" rtlCol="0"/>
          <a:lstStyle/>
          <a:p>
            <a:pPr indent="0" marL="0">
              <a:buNone/>
            </a:pPr>
            <a:r>
              <a:rPr lang="en-US" sz="1000" b="1" spc="150" kern="0" dirty="0">
                <a:solidFill>
                  <a:srgbClr val="3F44A0"/>
                </a:solidFill>
              </a:rPr>
              <a:t>06 / 09   TRUST BY DESIGN</a:t>
            </a:r>
            <a:endParaRPr lang="en-US" sz="1000" dirty="0"/>
          </a:p>
        </p:txBody>
      </p:sp>
      <p:sp>
        <p:nvSpPr>
          <p:cNvPr id="3" name="Text 1"/>
          <p:cNvSpPr/>
          <p:nvPr>
            <p:ph idx="107" type="title" hasCustomPrompt="1"/>
          </p:nvPr>
        </p:nvSpPr>
        <p:spPr>
          <a:xfrm>
            <a:off x="502920" y="566928"/>
            <a:ext cx="8138160" cy="548640"/>
          </a:xfrm>
          <a:prstGeom prst="rect">
            <a:avLst/>
          </a:prstGeom>
          <a:noFill/>
          <a:ln/>
        </p:spPr>
        <p:txBody>
          <a:bodyPr wrap="square" lIns="0" tIns="0" rIns="0" bIns="0" rtlCol="0" anchor="ctr"/>
          <a:lstStyle/>
          <a:p>
            <a:pPr algn="l" indent="0" marL="0">
              <a:buNone/>
            </a:pPr>
            <a:r>
              <a:rPr lang="en-US" sz="2600" b="1" dirty="0">
                <a:solidFill>
                  <a:srgbClr val="1B1E3A"/>
                </a:solidFill>
                <a:latin typeface="Cambria" pitchFamily="34" charset="0"/>
                <a:ea typeface="Cambria" pitchFamily="34" charset="-122"/>
                <a:cs typeface="Cambria" pitchFamily="34" charset="-120"/>
              </a:rPr>
              <a:t>Privacy &amp; Security</a:t>
            </a:r>
            <a:endParaRPr lang="en-US" sz="2600" dirty="0"/>
          </a:p>
        </p:txBody>
      </p:sp>
      <p:sp>
        <p:nvSpPr>
          <p:cNvPr id="4" name="Plaintext box"/>
          <p:cNvSpPr/>
          <p:nvPr/>
        </p:nvSpPr>
        <p:spPr>
          <a:xfrm>
            <a:off x="502920" y="1298448"/>
            <a:ext cx="3108960" cy="914400"/>
          </a:xfrm>
          <a:prstGeom prst="roundRect">
            <a:avLst>
              <a:gd name="adj" fmla="val 8000"/>
            </a:avLst>
          </a:prstGeom>
          <a:solidFill>
            <a:srgbClr val="F3F4F8"/>
          </a:solidFill>
          <a:ln w="9525">
            <a:solidFill>
              <a:srgbClr val="F3F4F8"/>
            </a:solidFill>
            <a:prstDash val="solid"/>
          </a:ln>
        </p:spPr>
      </p:sp>
      <p:sp>
        <p:nvSpPr>
          <p:cNvPr id="5" name="Text 3"/>
          <p:cNvSpPr txBox="1"/>
          <p:nvPr/>
        </p:nvSpPr>
        <p:spPr>
          <a:xfrm>
            <a:off x="685800" y="1389888"/>
            <a:ext cx="2743200" cy="201168"/>
          </a:xfrm>
          <a:prstGeom prst="rect">
            <a:avLst/>
          </a:prstGeom>
          <a:noFill/>
          <a:ln/>
        </p:spPr>
        <p:txBody>
          <a:bodyPr wrap="square" lIns="0" tIns="0" rIns="0" bIns="0" rtlCol="0" anchor="ctr"/>
          <a:lstStyle/>
          <a:p>
            <a:pPr indent="0" marL="0">
              <a:buNone/>
            </a:pPr>
            <a:r>
              <a:rPr lang="en-US" sz="850" b="1" spc="150" kern="0" dirty="0">
                <a:solidFill>
                  <a:srgbClr val="60667D"/>
                </a:solidFill>
              </a:rPr>
              <a:t>WHAT RIYA WROTE</a:t>
            </a:r>
            <a:endParaRPr lang="en-US" sz="850" dirty="0"/>
          </a:p>
        </p:txBody>
      </p:sp>
      <p:sp>
        <p:nvSpPr>
          <p:cNvPr id="6" name="Sample entry"/>
          <p:cNvSpPr txBox="1"/>
          <p:nvPr/>
        </p:nvSpPr>
        <p:spPr>
          <a:xfrm>
            <a:off x="685800" y="1609344"/>
            <a:ext cx="2788920" cy="530352"/>
          </a:xfrm>
          <a:prstGeom prst="rect">
            <a:avLst/>
          </a:prstGeom>
          <a:noFill/>
          <a:ln/>
        </p:spPr>
        <p:txBody>
          <a:bodyPr wrap="square" lIns="0" tIns="0" rIns="0" bIns="0" rtlCol="0" anchor="t"/>
          <a:lstStyle/>
          <a:p>
            <a:pPr indent="0" marL="0">
              <a:buNone/>
            </a:pPr>
            <a:r>
              <a:rPr lang="en-US" sz="1200" i="1" dirty="0">
                <a:solidFill>
                  <a:srgbClr val="1B1E3A"/>
                </a:solidFill>
                <a:latin typeface="Cambria" pitchFamily="34" charset="0"/>
                <a:ea typeface="Cambria" pitchFamily="34" charset="-122"/>
                <a:cs typeface="Cambria" pitchFamily="34" charset="-120"/>
              </a:rPr>
              <a:t>“Paper went okay. Took a long walk in the evening and felt lighter.”</a:t>
            </a:r>
            <a:endParaRPr lang="en-US" sz="1200" dirty="0"/>
          </a:p>
        </p:txBody>
      </p:sp>
      <p:pic>
        <p:nvPicPr>
          <p:cNvPr id="7" name="Emoji write" descr="e/write.png">    </p:cNvPr>
          <p:cNvPicPr>
            <a:picLocks noChangeAspect="1"/>
          </p:cNvPicPr>
          <p:nvPr/>
        </p:nvPicPr>
        <p:blipFill>
          <a:blip r:embed="rId1"/>
          <a:stretch>
            <a:fillRect/>
          </a:stretch>
        </p:blipFill>
        <p:spPr>
          <a:xfrm>
            <a:off x="3291840" y="1371600"/>
            <a:ext cx="219456" cy="219456"/>
          </a:xfrm>
          <a:prstGeom prst="rect">
            <a:avLst/>
          </a:prstGeom>
        </p:spPr>
      </p:pic>
      <p:pic>
        <p:nvPicPr>
          <p:cNvPr id="8" name="Doodle arrow_i" descr="d/arrow_i.png">    </p:cNvPr>
          <p:cNvPicPr>
            <a:picLocks noChangeAspect="1"/>
          </p:cNvPicPr>
          <p:nvPr/>
        </p:nvPicPr>
        <p:blipFill>
          <a:blip r:embed="rId2"/>
          <a:stretch>
            <a:fillRect/>
          </a:stretch>
        </p:blipFill>
        <p:spPr>
          <a:xfrm>
            <a:off x="3657600" y="1664208"/>
            <a:ext cx="548640" cy="192024"/>
          </a:xfrm>
          <a:prstGeom prst="rect">
            <a:avLst/>
          </a:prstGeom>
        </p:spPr>
      </p:pic>
      <p:sp>
        <p:nvSpPr>
          <p:cNvPr id="9" name="Encrypt disc"/>
          <p:cNvSpPr/>
          <p:nvPr/>
        </p:nvSpPr>
        <p:spPr>
          <a:xfrm>
            <a:off x="4279392" y="1463040"/>
            <a:ext cx="585216" cy="585216"/>
          </a:xfrm>
          <a:prstGeom prst="ellipse">
            <a:avLst/>
          </a:prstGeom>
          <a:solidFill>
            <a:srgbClr val="1B1E3A"/>
          </a:solidFill>
          <a:ln w="12700">
            <a:solidFill>
              <a:srgbClr val="1B1E3A"/>
            </a:solidFill>
            <a:prstDash val="solid"/>
          </a:ln>
        </p:spPr>
      </p:sp>
      <p:pic>
        <p:nvPicPr>
          <p:cNvPr id="10" name="Emoji locked" descr="e/locked.png">    </p:cNvPr>
          <p:cNvPicPr>
            <a:picLocks noChangeAspect="1"/>
          </p:cNvPicPr>
          <p:nvPr/>
        </p:nvPicPr>
        <p:blipFill>
          <a:blip r:embed="rId3"/>
          <a:stretch>
            <a:fillRect/>
          </a:stretch>
        </p:blipFill>
        <p:spPr>
          <a:xfrm>
            <a:off x="4407408" y="1591056"/>
            <a:ext cx="329184" cy="329184"/>
          </a:xfrm>
          <a:prstGeom prst="rect">
            <a:avLst/>
          </a:prstGeom>
        </p:spPr>
      </p:pic>
      <p:sp>
        <p:nvSpPr>
          <p:cNvPr id="11" name="Text 6"/>
          <p:cNvSpPr txBox="1"/>
          <p:nvPr/>
        </p:nvSpPr>
        <p:spPr>
          <a:xfrm>
            <a:off x="4069080" y="2075688"/>
            <a:ext cx="1005840" cy="182880"/>
          </a:xfrm>
          <a:prstGeom prst="rect">
            <a:avLst/>
          </a:prstGeom>
          <a:noFill/>
          <a:ln/>
        </p:spPr>
        <p:txBody>
          <a:bodyPr wrap="square" lIns="0" tIns="0" rIns="0" bIns="0" rtlCol="0" anchor="ctr"/>
          <a:lstStyle/>
          <a:p>
            <a:pPr algn="ctr" indent="0" marL="0">
              <a:buNone/>
            </a:pPr>
            <a:r>
              <a:rPr lang="en-US" sz="900" b="1" dirty="0">
                <a:solidFill>
                  <a:srgbClr val="1B1E3A"/>
                </a:solidFill>
              </a:rPr>
              <a:t>Fernet</a:t>
            </a:r>
            <a:endParaRPr lang="en-US" sz="900" dirty="0"/>
          </a:p>
        </p:txBody>
      </p:sp>
      <p:pic>
        <p:nvPicPr>
          <p:cNvPr id="12" name="Doodle arrow_i" descr="d/arrow_i.png">    </p:cNvPr>
          <p:cNvPicPr>
            <a:picLocks noChangeAspect="1"/>
          </p:cNvPicPr>
          <p:nvPr/>
        </p:nvPicPr>
        <p:blipFill>
          <a:blip r:embed="rId4"/>
          <a:stretch>
            <a:fillRect/>
          </a:stretch>
        </p:blipFill>
        <p:spPr>
          <a:xfrm>
            <a:off x="4956048" y="1664208"/>
            <a:ext cx="548640" cy="192024"/>
          </a:xfrm>
          <a:prstGeom prst="rect">
            <a:avLst/>
          </a:prstGeom>
        </p:spPr>
      </p:pic>
      <p:sp>
        <p:nvSpPr>
          <p:cNvPr id="13" name="Ciphertext box"/>
          <p:cNvSpPr/>
          <p:nvPr/>
        </p:nvSpPr>
        <p:spPr>
          <a:xfrm>
            <a:off x="5532120" y="1298448"/>
            <a:ext cx="3108960" cy="914400"/>
          </a:xfrm>
          <a:prstGeom prst="roundRect">
            <a:avLst>
              <a:gd name="adj" fmla="val 8000"/>
            </a:avLst>
          </a:prstGeom>
          <a:solidFill>
            <a:srgbClr val="1B1E3A"/>
          </a:solidFill>
          <a:ln w="9525">
            <a:solidFill>
              <a:srgbClr val="1B1E3A"/>
            </a:solidFill>
            <a:prstDash val="solid"/>
          </a:ln>
        </p:spPr>
      </p:sp>
      <p:sp>
        <p:nvSpPr>
          <p:cNvPr id="14" name="Text 8"/>
          <p:cNvSpPr txBox="1"/>
          <p:nvPr/>
        </p:nvSpPr>
        <p:spPr>
          <a:xfrm>
            <a:off x="5715000" y="1389888"/>
            <a:ext cx="2743200" cy="201168"/>
          </a:xfrm>
          <a:prstGeom prst="rect">
            <a:avLst/>
          </a:prstGeom>
          <a:noFill/>
          <a:ln/>
        </p:spPr>
        <p:txBody>
          <a:bodyPr wrap="square" lIns="0" tIns="0" rIns="0" bIns="0" rtlCol="0" anchor="ctr"/>
          <a:lstStyle/>
          <a:p>
            <a:pPr indent="0" marL="0">
              <a:buNone/>
            </a:pPr>
            <a:r>
              <a:rPr lang="en-US" sz="850" b="1" spc="150" kern="0" dirty="0">
                <a:solidFill>
                  <a:srgbClr val="C9CCE0"/>
                </a:solidFill>
              </a:rPr>
              <a:t>WHAT THE DATABASE ACTUALLY STORES</a:t>
            </a:r>
            <a:endParaRPr lang="en-US" sz="850" dirty="0"/>
          </a:p>
        </p:txBody>
      </p:sp>
      <p:sp>
        <p:nvSpPr>
          <p:cNvPr id="15" name="Real ciphertext"/>
          <p:cNvSpPr txBox="1"/>
          <p:nvPr/>
        </p:nvSpPr>
        <p:spPr>
          <a:xfrm>
            <a:off x="5715000" y="1627632"/>
            <a:ext cx="2788920" cy="502920"/>
          </a:xfrm>
          <a:prstGeom prst="rect">
            <a:avLst/>
          </a:prstGeom>
          <a:noFill/>
          <a:ln/>
        </p:spPr>
        <p:txBody>
          <a:bodyPr wrap="square" lIns="0" tIns="0" rIns="0" bIns="0" rtlCol="0" anchor="t"/>
          <a:lstStyle/>
          <a:p>
            <a:pPr indent="0" marL="0">
              <a:buNone/>
            </a:pPr>
            <a:r>
              <a:rPr lang="en-US" sz="1050" dirty="0">
                <a:solidFill>
                  <a:srgbClr val="F0B13F"/>
                </a:solidFill>
                <a:latin typeface="Courier New" pitchFamily="34" charset="0"/>
                <a:ea typeface="Courier New" pitchFamily="34" charset="-122"/>
                <a:cs typeface="Courier New" pitchFamily="34" charset="-120"/>
              </a:rPr>
              <a:t>gAAAAABqz9oDWKw-P7fKVtrawbv1gm7HQ2fYSk9YKjxfrqbkyqYoEkIP…</a:t>
            </a:r>
            <a:endParaRPr lang="en-US" sz="1050" dirty="0"/>
          </a:p>
        </p:txBody>
      </p:sp>
      <p:pic>
        <p:nvPicPr>
          <p:cNvPr id="16" name="Emoji lock" descr="e/lock.png">    </p:cNvPr>
          <p:cNvPicPr>
            <a:picLocks noChangeAspect="1"/>
          </p:cNvPicPr>
          <p:nvPr/>
        </p:nvPicPr>
        <p:blipFill>
          <a:blip r:embed="rId5"/>
          <a:stretch>
            <a:fillRect/>
          </a:stretch>
        </p:blipFill>
        <p:spPr>
          <a:xfrm>
            <a:off x="8321040" y="1371600"/>
            <a:ext cx="219456" cy="219456"/>
          </a:xfrm>
          <a:prstGeom prst="rect">
            <a:avLst/>
          </a:prstGeom>
        </p:spPr>
      </p:pic>
      <p:sp>
        <p:nvSpPr>
          <p:cNvPr id="17" name="Privacy promise"/>
          <p:cNvSpPr txBox="1"/>
          <p:nvPr/>
        </p:nvSpPr>
        <p:spPr>
          <a:xfrm>
            <a:off x="502920" y="2286000"/>
            <a:ext cx="8138160" cy="329184"/>
          </a:xfrm>
          <a:prstGeom prst="rect">
            <a:avLst/>
          </a:prstGeom>
          <a:noFill/>
          <a:ln/>
        </p:spPr>
        <p:txBody>
          <a:bodyPr wrap="square" lIns="0" tIns="0" rIns="0" bIns="0" rtlCol="0" anchor="ctr"/>
          <a:lstStyle/>
          <a:p>
            <a:pPr algn="ctr" indent="0" marL="0">
              <a:buNone/>
            </a:pPr>
            <a:r>
              <a:rPr lang="en-US" sz="1300" b="1" i="1" dirty="0">
                <a:solidFill>
                  <a:srgbClr val="1B1E3A"/>
                </a:solidFill>
                <a:latin typeface="Cambria" pitchFamily="34" charset="0"/>
                <a:ea typeface="Cambria" pitchFamily="34" charset="-122"/>
                <a:cs typeface="Cambria" pitchFamily="34" charset="-120"/>
              </a:rPr>
              <a:t>Open the database and journal text is just scrambled characters. </a:t>
            </a:r>
            <a:pPr algn="ctr" indent="0" marL="0">
              <a:buNone/>
            </a:pPr>
            <a:r>
              <a:rPr lang="en-US" sz="1300" i="1" dirty="0">
                <a:solidFill>
                  <a:srgbClr val="23263A"/>
                </a:solidFill>
                <a:latin typeface="Cambria" pitchFamily="34" charset="0"/>
                <a:ea typeface="Cambria" pitchFamily="34" charset="-122"/>
                <a:cs typeface="Cambria" pitchFamily="34" charset="-120"/>
              </a:rPr>
              <a:t>Only the app, with its secret key, can read it.</a:t>
            </a:r>
            <a:endParaRPr lang="en-US" sz="1300" dirty="0"/>
          </a:p>
        </p:txBody>
      </p:sp>
      <p:sp>
        <p:nvSpPr>
          <p:cNvPr id="18" name="Control 1"/>
          <p:cNvSpPr/>
          <p:nvPr/>
        </p:nvSpPr>
        <p:spPr>
          <a:xfrm>
            <a:off x="502920" y="2724912"/>
            <a:ext cx="1517904" cy="1773936"/>
          </a:xfrm>
          <a:prstGeom prst="roundRect">
            <a:avLst>
              <a:gd name="adj" fmla="val 4819"/>
            </a:avLst>
          </a:prstGeom>
          <a:solidFill>
            <a:srgbClr val="FFFFFF"/>
          </a:solidFill>
          <a:ln w="9525">
            <a:solidFill>
              <a:srgbClr val="DCDFE9"/>
            </a:solidFill>
            <a:prstDash val="solid"/>
          </a:ln>
        </p:spPr>
      </p:sp>
      <p:sp>
        <p:nvSpPr>
          <p:cNvPr id="19" name="Emoji disc"/>
          <p:cNvSpPr/>
          <p:nvPr/>
        </p:nvSpPr>
        <p:spPr>
          <a:xfrm>
            <a:off x="649224" y="2834640"/>
            <a:ext cx="457200" cy="457200"/>
          </a:xfrm>
          <a:prstGeom prst="ellipse">
            <a:avLst/>
          </a:prstGeom>
          <a:solidFill>
            <a:srgbClr val="F3F4F8"/>
          </a:solidFill>
          <a:ln w="12700">
            <a:solidFill>
              <a:srgbClr val="F3F4F8"/>
            </a:solidFill>
            <a:prstDash val="solid"/>
          </a:ln>
        </p:spPr>
      </p:sp>
      <p:pic>
        <p:nvPicPr>
          <p:cNvPr id="20" name="Emoji key" descr="e/key.png">    </p:cNvPr>
          <p:cNvPicPr>
            <a:picLocks noChangeAspect="1"/>
          </p:cNvPicPr>
          <p:nvPr/>
        </p:nvPicPr>
        <p:blipFill>
          <a:blip r:embed="rId6"/>
          <a:stretch>
            <a:fillRect/>
          </a:stretch>
        </p:blipFill>
        <p:spPr>
          <a:xfrm>
            <a:off x="749808" y="2935224"/>
            <a:ext cx="256032" cy="256032"/>
          </a:xfrm>
          <a:prstGeom prst="rect">
            <a:avLst/>
          </a:prstGeom>
        </p:spPr>
      </p:pic>
      <p:sp>
        <p:nvSpPr>
          <p:cNvPr id="21" name="Control text"/>
          <p:cNvSpPr txBox="1"/>
          <p:nvPr/>
        </p:nvSpPr>
        <p:spPr>
          <a:xfrm>
            <a:off x="649224" y="3364992"/>
            <a:ext cx="1243584" cy="1097280"/>
          </a:xfrm>
          <a:prstGeom prst="rect">
            <a:avLst/>
          </a:prstGeom>
          <a:noFill/>
          <a:ln/>
        </p:spPr>
        <p:txBody>
          <a:bodyPr wrap="square" lIns="0" tIns="0" rIns="0" bIns="0" rtlCol="0" anchor="t"/>
          <a:lstStyle/>
          <a:p>
            <a:pPr indent="0" marL="0">
              <a:buNone/>
            </a:pPr>
            <a:r>
              <a:rPr lang="en-US" sz="1200" dirty="0">
                <a:solidFill>
                  <a:srgbClr val="23263A"/>
                </a:solidFill>
              </a:rPr>
              <a:t>Passwords stored only as secure hashes</a:t>
            </a:r>
            <a:endParaRPr lang="en-US" sz="1200" dirty="0"/>
          </a:p>
        </p:txBody>
      </p:sp>
      <p:sp>
        <p:nvSpPr>
          <p:cNvPr id="22" name="Control 2"/>
          <p:cNvSpPr/>
          <p:nvPr/>
        </p:nvSpPr>
        <p:spPr>
          <a:xfrm>
            <a:off x="2157984" y="2724912"/>
            <a:ext cx="1517904" cy="1773936"/>
          </a:xfrm>
          <a:prstGeom prst="roundRect">
            <a:avLst>
              <a:gd name="adj" fmla="val 4819"/>
            </a:avLst>
          </a:prstGeom>
          <a:solidFill>
            <a:srgbClr val="FFFFFF"/>
          </a:solidFill>
          <a:ln w="9525">
            <a:solidFill>
              <a:srgbClr val="DCDFE9"/>
            </a:solidFill>
            <a:prstDash val="solid"/>
          </a:ln>
        </p:spPr>
      </p:sp>
      <p:sp>
        <p:nvSpPr>
          <p:cNvPr id="23" name="Emoji disc"/>
          <p:cNvSpPr/>
          <p:nvPr/>
        </p:nvSpPr>
        <p:spPr>
          <a:xfrm>
            <a:off x="2304288" y="2834640"/>
            <a:ext cx="457200" cy="457200"/>
          </a:xfrm>
          <a:prstGeom prst="ellipse">
            <a:avLst/>
          </a:prstGeom>
          <a:solidFill>
            <a:srgbClr val="F3F4F8"/>
          </a:solidFill>
          <a:ln w="12700">
            <a:solidFill>
              <a:srgbClr val="F3F4F8"/>
            </a:solidFill>
            <a:prstDash val="solid"/>
          </a:ln>
        </p:spPr>
      </p:sp>
      <p:pic>
        <p:nvPicPr>
          <p:cNvPr id="24" name="Emoji locked" descr="e/locked.png">    </p:cNvPr>
          <p:cNvPicPr>
            <a:picLocks noChangeAspect="1"/>
          </p:cNvPicPr>
          <p:nvPr/>
        </p:nvPicPr>
        <p:blipFill>
          <a:blip r:embed="rId7"/>
          <a:stretch>
            <a:fillRect/>
          </a:stretch>
        </p:blipFill>
        <p:spPr>
          <a:xfrm>
            <a:off x="2404872" y="2935224"/>
            <a:ext cx="256032" cy="256032"/>
          </a:xfrm>
          <a:prstGeom prst="rect">
            <a:avLst/>
          </a:prstGeom>
        </p:spPr>
      </p:pic>
      <p:sp>
        <p:nvSpPr>
          <p:cNvPr id="25" name="Control text"/>
          <p:cNvSpPr txBox="1"/>
          <p:nvPr/>
        </p:nvSpPr>
        <p:spPr>
          <a:xfrm>
            <a:off x="2304288" y="3364992"/>
            <a:ext cx="1243584" cy="1097280"/>
          </a:xfrm>
          <a:prstGeom prst="rect">
            <a:avLst/>
          </a:prstGeom>
          <a:noFill/>
          <a:ln/>
        </p:spPr>
        <p:txBody>
          <a:bodyPr wrap="square" lIns="0" tIns="0" rIns="0" bIns="0" rtlCol="0" anchor="t"/>
          <a:lstStyle/>
          <a:p>
            <a:pPr indent="0" marL="0">
              <a:buNone/>
            </a:pPr>
            <a:r>
              <a:rPr lang="en-US" sz="1200" dirty="0">
                <a:solidFill>
                  <a:srgbClr val="23263A"/>
                </a:solidFill>
              </a:rPr>
              <a:t>Journal text, reflections and chats encrypted with Fernet</a:t>
            </a:r>
            <a:endParaRPr lang="en-US" sz="1200" dirty="0"/>
          </a:p>
        </p:txBody>
      </p:sp>
      <p:sp>
        <p:nvSpPr>
          <p:cNvPr id="26" name="Control 3"/>
          <p:cNvSpPr/>
          <p:nvPr/>
        </p:nvSpPr>
        <p:spPr>
          <a:xfrm>
            <a:off x="3813048" y="2724912"/>
            <a:ext cx="1517904" cy="1773936"/>
          </a:xfrm>
          <a:prstGeom prst="roundRect">
            <a:avLst>
              <a:gd name="adj" fmla="val 4819"/>
            </a:avLst>
          </a:prstGeom>
          <a:solidFill>
            <a:srgbClr val="FFFFFF"/>
          </a:solidFill>
          <a:ln w="9525">
            <a:solidFill>
              <a:srgbClr val="DCDFE9"/>
            </a:solidFill>
            <a:prstDash val="solid"/>
          </a:ln>
        </p:spPr>
      </p:sp>
      <p:sp>
        <p:nvSpPr>
          <p:cNvPr id="27" name="Emoji disc"/>
          <p:cNvSpPr/>
          <p:nvPr/>
        </p:nvSpPr>
        <p:spPr>
          <a:xfrm>
            <a:off x="3959352" y="2834640"/>
            <a:ext cx="457200" cy="457200"/>
          </a:xfrm>
          <a:prstGeom prst="ellipse">
            <a:avLst/>
          </a:prstGeom>
          <a:solidFill>
            <a:srgbClr val="F3F4F8"/>
          </a:solidFill>
          <a:ln w="12700">
            <a:solidFill>
              <a:srgbClr val="F3F4F8"/>
            </a:solidFill>
            <a:prstDash val="solid"/>
          </a:ln>
        </p:spPr>
      </p:sp>
      <p:pic>
        <p:nvPicPr>
          <p:cNvPr id="28" name="Emoji user" descr="e/user.png">    </p:cNvPr>
          <p:cNvPicPr>
            <a:picLocks noChangeAspect="1"/>
          </p:cNvPicPr>
          <p:nvPr/>
        </p:nvPicPr>
        <p:blipFill>
          <a:blip r:embed="rId8"/>
          <a:stretch>
            <a:fillRect/>
          </a:stretch>
        </p:blipFill>
        <p:spPr>
          <a:xfrm>
            <a:off x="4059936" y="2935224"/>
            <a:ext cx="256032" cy="256032"/>
          </a:xfrm>
          <a:prstGeom prst="rect">
            <a:avLst/>
          </a:prstGeom>
        </p:spPr>
      </p:pic>
      <p:sp>
        <p:nvSpPr>
          <p:cNvPr id="29" name="Control text"/>
          <p:cNvSpPr txBox="1"/>
          <p:nvPr/>
        </p:nvSpPr>
        <p:spPr>
          <a:xfrm>
            <a:off x="3959352" y="3364992"/>
            <a:ext cx="1243584" cy="1097280"/>
          </a:xfrm>
          <a:prstGeom prst="rect">
            <a:avLst/>
          </a:prstGeom>
          <a:noFill/>
          <a:ln/>
        </p:spPr>
        <p:txBody>
          <a:bodyPr wrap="square" lIns="0" tIns="0" rIns="0" bIns="0" rtlCol="0" anchor="t"/>
          <a:lstStyle/>
          <a:p>
            <a:pPr indent="0" marL="0">
              <a:buNone/>
            </a:pPr>
            <a:r>
              <a:rPr lang="en-US" sz="1200" dirty="0">
                <a:solidFill>
                  <a:srgbClr val="23263A"/>
                </a:solidFill>
              </a:rPr>
              <a:t>Every query scoped to the logged-in user; no cross-user access</a:t>
            </a:r>
            <a:endParaRPr lang="en-US" sz="1200" dirty="0"/>
          </a:p>
        </p:txBody>
      </p:sp>
      <p:sp>
        <p:nvSpPr>
          <p:cNvPr id="30" name="Control 4"/>
          <p:cNvSpPr/>
          <p:nvPr/>
        </p:nvSpPr>
        <p:spPr>
          <a:xfrm>
            <a:off x="5468112" y="2724912"/>
            <a:ext cx="1517904" cy="1773936"/>
          </a:xfrm>
          <a:prstGeom prst="roundRect">
            <a:avLst>
              <a:gd name="adj" fmla="val 4819"/>
            </a:avLst>
          </a:prstGeom>
          <a:solidFill>
            <a:srgbClr val="FFFFFF"/>
          </a:solidFill>
          <a:ln w="9525">
            <a:solidFill>
              <a:srgbClr val="DCDFE9"/>
            </a:solidFill>
            <a:prstDash val="solid"/>
          </a:ln>
        </p:spPr>
      </p:sp>
      <p:sp>
        <p:nvSpPr>
          <p:cNvPr id="31" name="Emoji disc"/>
          <p:cNvSpPr/>
          <p:nvPr/>
        </p:nvSpPr>
        <p:spPr>
          <a:xfrm>
            <a:off x="5614416" y="2834640"/>
            <a:ext cx="457200" cy="457200"/>
          </a:xfrm>
          <a:prstGeom prst="ellipse">
            <a:avLst/>
          </a:prstGeom>
          <a:solidFill>
            <a:srgbClr val="F3F4F8"/>
          </a:solidFill>
          <a:ln w="12700">
            <a:solidFill>
              <a:srgbClr val="F3F4F8"/>
            </a:solidFill>
            <a:prstDash val="solid"/>
          </a:ln>
        </p:spPr>
      </p:sp>
      <p:pic>
        <p:nvPicPr>
          <p:cNvPr id="32" name="Emoji shield" descr="e/shield.png">    </p:cNvPr>
          <p:cNvPicPr>
            <a:picLocks noChangeAspect="1"/>
          </p:cNvPicPr>
          <p:nvPr/>
        </p:nvPicPr>
        <p:blipFill>
          <a:blip r:embed="rId9"/>
          <a:stretch>
            <a:fillRect/>
          </a:stretch>
        </p:blipFill>
        <p:spPr>
          <a:xfrm>
            <a:off x="5715000" y="2935224"/>
            <a:ext cx="256032" cy="256032"/>
          </a:xfrm>
          <a:prstGeom prst="rect">
            <a:avLst/>
          </a:prstGeom>
        </p:spPr>
      </p:pic>
      <p:sp>
        <p:nvSpPr>
          <p:cNvPr id="33" name="Control text"/>
          <p:cNvSpPr txBox="1"/>
          <p:nvPr/>
        </p:nvSpPr>
        <p:spPr>
          <a:xfrm>
            <a:off x="5614416" y="3364992"/>
            <a:ext cx="1243584" cy="1097280"/>
          </a:xfrm>
          <a:prstGeom prst="rect">
            <a:avLst/>
          </a:prstGeom>
          <a:noFill/>
          <a:ln/>
        </p:spPr>
        <p:txBody>
          <a:bodyPr wrap="square" lIns="0" tIns="0" rIns="0" bIns="0" rtlCol="0" anchor="t"/>
          <a:lstStyle/>
          <a:p>
            <a:pPr indent="0" marL="0">
              <a:buNone/>
            </a:pPr>
            <a:r>
              <a:rPr lang="en-US" sz="1200" dirty="0">
                <a:solidFill>
                  <a:srgbClr val="23263A"/>
                </a:solidFill>
              </a:rPr>
              <a:t>CSRF protection on every form; secure, HTTP-only session cookies</a:t>
            </a:r>
            <a:endParaRPr lang="en-US" sz="1200" dirty="0"/>
          </a:p>
        </p:txBody>
      </p:sp>
      <p:sp>
        <p:nvSpPr>
          <p:cNvPr id="34" name="Control 5"/>
          <p:cNvSpPr/>
          <p:nvPr/>
        </p:nvSpPr>
        <p:spPr>
          <a:xfrm>
            <a:off x="7123176" y="2724912"/>
            <a:ext cx="1517904" cy="1773936"/>
          </a:xfrm>
          <a:prstGeom prst="roundRect">
            <a:avLst>
              <a:gd name="adj" fmla="val 4819"/>
            </a:avLst>
          </a:prstGeom>
          <a:solidFill>
            <a:srgbClr val="FFFFFF"/>
          </a:solidFill>
          <a:ln w="9525">
            <a:solidFill>
              <a:srgbClr val="DCDFE9"/>
            </a:solidFill>
            <a:prstDash val="solid"/>
          </a:ln>
        </p:spPr>
      </p:sp>
      <p:sp>
        <p:nvSpPr>
          <p:cNvPr id="35" name="Emoji disc"/>
          <p:cNvSpPr/>
          <p:nvPr/>
        </p:nvSpPr>
        <p:spPr>
          <a:xfrm>
            <a:off x="7269480" y="2834640"/>
            <a:ext cx="457200" cy="457200"/>
          </a:xfrm>
          <a:prstGeom prst="ellipse">
            <a:avLst/>
          </a:prstGeom>
          <a:solidFill>
            <a:srgbClr val="F3F4F8"/>
          </a:solidFill>
          <a:ln w="12700">
            <a:solidFill>
              <a:srgbClr val="F3F4F8"/>
            </a:solidFill>
            <a:prstDash val="solid"/>
          </a:ln>
        </p:spPr>
      </p:sp>
      <p:pic>
        <p:nvPicPr>
          <p:cNvPr id="36" name="Emoji shush" descr="e/shush.png">    </p:cNvPr>
          <p:cNvPicPr>
            <a:picLocks noChangeAspect="1"/>
          </p:cNvPicPr>
          <p:nvPr/>
        </p:nvPicPr>
        <p:blipFill>
          <a:blip r:embed="rId10"/>
          <a:stretch>
            <a:fillRect/>
          </a:stretch>
        </p:blipFill>
        <p:spPr>
          <a:xfrm>
            <a:off x="7370064" y="2935224"/>
            <a:ext cx="256032" cy="256032"/>
          </a:xfrm>
          <a:prstGeom prst="rect">
            <a:avLst/>
          </a:prstGeom>
        </p:spPr>
      </p:pic>
      <p:sp>
        <p:nvSpPr>
          <p:cNvPr id="37" name="Control text"/>
          <p:cNvSpPr txBox="1"/>
          <p:nvPr/>
        </p:nvSpPr>
        <p:spPr>
          <a:xfrm>
            <a:off x="7269480" y="3364992"/>
            <a:ext cx="1243584" cy="1097280"/>
          </a:xfrm>
          <a:prstGeom prst="rect">
            <a:avLst/>
          </a:prstGeom>
          <a:noFill/>
          <a:ln/>
        </p:spPr>
        <p:txBody>
          <a:bodyPr wrap="square" lIns="0" tIns="0" rIns="0" bIns="0" rtlCol="0" anchor="t"/>
          <a:lstStyle/>
          <a:p>
            <a:pPr indent="0" marL="0">
              <a:buNone/>
            </a:pPr>
            <a:r>
              <a:rPr lang="en-US" sz="1200" dirty="0">
                <a:solidFill>
                  <a:srgbClr val="23263A"/>
                </a:solidFill>
              </a:rPr>
              <a:t>Secret keys kept outside the code (.env / Secret Manager)</a:t>
            </a:r>
            <a:endParaRPr lang="en-US" sz="1200" dirty="0"/>
          </a:p>
        </p:txBody>
      </p:sp>
      <p:sp>
        <p:nvSpPr>
          <p:cNvPr id="25" name="Slide Number Placeholder 0"/>
          <p:cNvSpPr>
            <a:spLocks noGrp="1"/>
          </p:cNvSpPr>
          <p:nvPr>
            <p:ph type="sldNum" sz="quarter" idx="4294967295"/>
          </p:nvPr>
        </p:nvSpPr>
        <p:spPr>
          <a:xfrm>
            <a:off x="8183880" y="4736592"/>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066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6" type="body" hasCustomPrompt="1"/>
          </p:nvPr>
        </p:nvSpPr>
        <p:spPr>
          <a:xfrm>
            <a:off x="502920" y="329184"/>
            <a:ext cx="5486400" cy="237744"/>
          </a:xfrm>
          <a:prstGeom prst="rect">
            <a:avLst/>
          </a:prstGeom>
          <a:noFill/>
          <a:ln/>
        </p:spPr>
        <p:txBody>
          <a:bodyPr wrap="square" lIns="0" tIns="0" rIns="0" bIns="0" rtlCol="0"/>
          <a:lstStyle/>
          <a:p>
            <a:pPr indent="0" marL="0">
              <a:buNone/>
            </a:pPr>
            <a:r>
              <a:rPr lang="en-US" sz="1000" b="1" spc="150" kern="0" dirty="0">
                <a:solidFill>
                  <a:srgbClr val="3F44A0"/>
                </a:solidFill>
              </a:rPr>
              <a:t>07 / 09   GENTLE, PERSONAL SUPPORT</a:t>
            </a:r>
            <a:endParaRPr lang="en-US" sz="1000" dirty="0"/>
          </a:p>
        </p:txBody>
      </p:sp>
      <p:sp>
        <p:nvSpPr>
          <p:cNvPr id="3" name="Text 1"/>
          <p:cNvSpPr/>
          <p:nvPr>
            <p:ph idx="107" type="title" hasCustomPrompt="1"/>
          </p:nvPr>
        </p:nvSpPr>
        <p:spPr>
          <a:xfrm>
            <a:off x="502920" y="566928"/>
            <a:ext cx="8138160" cy="548640"/>
          </a:xfrm>
          <a:prstGeom prst="rect">
            <a:avLst/>
          </a:prstGeom>
          <a:noFill/>
          <a:ln/>
        </p:spPr>
        <p:txBody>
          <a:bodyPr wrap="square" lIns="0" tIns="0" rIns="0" bIns="0" rtlCol="0" anchor="ctr"/>
          <a:lstStyle/>
          <a:p>
            <a:pPr algn="l" indent="0" marL="0">
              <a:buNone/>
            </a:pPr>
            <a:r>
              <a:rPr lang="en-US" sz="2600" b="1" dirty="0">
                <a:solidFill>
                  <a:srgbClr val="1B1E3A"/>
                </a:solidFill>
                <a:latin typeface="Cambria" pitchFamily="34" charset="0"/>
                <a:ea typeface="Cambria" pitchFamily="34" charset="-122"/>
                <a:cs typeface="Cambria" pitchFamily="34" charset="-120"/>
              </a:rPr>
              <a:t>Insights &amp; Mindy</a:t>
            </a:r>
            <a:endParaRPr lang="en-US" sz="2600" dirty="0"/>
          </a:p>
        </p:txBody>
      </p:sp>
      <p:pic>
        <p:nvPicPr>
          <p:cNvPr id="4" name="Emoji chart" descr="e/chart.png">    </p:cNvPr>
          <p:cNvPicPr>
            <a:picLocks noChangeAspect="1"/>
          </p:cNvPicPr>
          <p:nvPr/>
        </p:nvPicPr>
        <p:blipFill>
          <a:blip r:embed="rId1"/>
          <a:stretch>
            <a:fillRect/>
          </a:stretch>
        </p:blipFill>
        <p:spPr>
          <a:xfrm>
            <a:off x="502920" y="1289304"/>
            <a:ext cx="237744" cy="237744"/>
          </a:xfrm>
          <a:prstGeom prst="rect">
            <a:avLst/>
          </a:prstGeom>
        </p:spPr>
      </p:pic>
      <p:sp>
        <p:nvSpPr>
          <p:cNvPr id="5" name="Text 2"/>
          <p:cNvSpPr txBox="1"/>
          <p:nvPr/>
        </p:nvSpPr>
        <p:spPr>
          <a:xfrm>
            <a:off x="822960" y="1261872"/>
            <a:ext cx="3840480" cy="292608"/>
          </a:xfrm>
          <a:prstGeom prst="rect">
            <a:avLst/>
          </a:prstGeom>
          <a:noFill/>
          <a:ln/>
        </p:spPr>
        <p:txBody>
          <a:bodyPr wrap="square" lIns="0" tIns="0" rIns="0" bIns="0" rtlCol="0" anchor="ctr"/>
          <a:lstStyle/>
          <a:p>
            <a:pPr indent="0" marL="0">
              <a:buNone/>
            </a:pPr>
            <a:r>
              <a:rPr lang="en-US" sz="1400" b="1" dirty="0">
                <a:solidFill>
                  <a:srgbClr val="1B1E3A"/>
                </a:solidFill>
                <a:latin typeface="Cambria" pitchFamily="34" charset="0"/>
                <a:ea typeface="Cambria" pitchFamily="34" charset="-122"/>
                <a:cs typeface="Cambria" pitchFamily="34" charset="-120"/>
              </a:rPr>
              <a:t>Insights from the user's own data</a:t>
            </a:r>
            <a:endParaRPr lang="en-US" sz="1400" dirty="0"/>
          </a:p>
        </p:txBody>
      </p:sp>
      <p:sp>
        <p:nvSpPr>
          <p:cNvPr id="6" name="Text 3"/>
          <p:cNvSpPr txBox="1"/>
          <p:nvPr/>
        </p:nvSpPr>
        <p:spPr>
          <a:xfrm>
            <a:off x="502920" y="1554480"/>
            <a:ext cx="4206240" cy="219456"/>
          </a:xfrm>
          <a:prstGeom prst="rect">
            <a:avLst/>
          </a:prstGeom>
          <a:noFill/>
          <a:ln/>
        </p:spPr>
        <p:txBody>
          <a:bodyPr wrap="square" lIns="0" tIns="0" rIns="0" bIns="0" rtlCol="0" anchor="ctr"/>
          <a:lstStyle/>
          <a:p>
            <a:pPr indent="0" marL="0">
              <a:buNone/>
            </a:pPr>
            <a:r>
              <a:rPr lang="en-US" sz="1050" dirty="0">
                <a:solidFill>
                  <a:srgbClr val="60667D"/>
                </a:solidFill>
              </a:rPr>
              <a:t>7/30-day/all-time views · mood trends · context breakdown</a:t>
            </a:r>
            <a:endParaRPr lang="en-US" sz="1050" dirty="0"/>
          </a:p>
        </p:txBody>
      </p:sp>
      <p:pic>
        <p:nvPicPr>
          <p:cNvPr id="7" name="Real mood chart" descr="s/chart.png">    </p:cNvPr>
          <p:cNvPicPr>
            <a:picLocks noChangeAspect="1"/>
          </p:cNvPicPr>
          <p:nvPr/>
        </p:nvPicPr>
        <p:blipFill>
          <a:blip r:embed="rId2"/>
          <a:stretch>
            <a:fillRect/>
          </a:stretch>
        </p:blipFill>
        <p:spPr>
          <a:xfrm>
            <a:off x="502920" y="1828800"/>
            <a:ext cx="3639312" cy="2002536"/>
          </a:xfrm>
          <a:prstGeom prst="rect">
            <a:avLst/>
          </a:prstGeom>
        </p:spPr>
      </p:pic>
      <p:sp>
        <p:nvSpPr>
          <p:cNvPr id="8" name="Text 4"/>
          <p:cNvSpPr txBox="1"/>
          <p:nvPr/>
        </p:nvSpPr>
        <p:spPr>
          <a:xfrm>
            <a:off x="502920" y="3840480"/>
            <a:ext cx="2743200" cy="146304"/>
          </a:xfrm>
          <a:prstGeom prst="rect">
            <a:avLst/>
          </a:prstGeom>
          <a:noFill/>
          <a:ln/>
        </p:spPr>
        <p:txBody>
          <a:bodyPr wrap="square" lIns="0" tIns="0" rIns="0" bIns="0" rtlCol="0" anchor="ctr"/>
          <a:lstStyle/>
          <a:p>
            <a:pPr indent="0" marL="0">
              <a:buNone/>
            </a:pPr>
            <a:r>
              <a:rPr lang="en-US" sz="700" b="1" spc="100" kern="0" dirty="0">
                <a:solidFill>
                  <a:srgbClr val="60667D"/>
                </a:solidFill>
              </a:rPr>
              <a:t>REAL SCREENSHOT · DEMO ACCOUNT</a:t>
            </a:r>
            <a:endParaRPr lang="en-US" sz="700" dirty="0"/>
          </a:p>
        </p:txBody>
      </p:sp>
      <p:sp>
        <p:nvSpPr>
          <p:cNvPr id="9" name="Observation quote"/>
          <p:cNvSpPr/>
          <p:nvPr/>
        </p:nvSpPr>
        <p:spPr>
          <a:xfrm>
            <a:off x="502920" y="4005072"/>
            <a:ext cx="4206240" cy="548640"/>
          </a:xfrm>
          <a:prstGeom prst="roundRect">
            <a:avLst>
              <a:gd name="adj" fmla="val 13333"/>
            </a:avLst>
          </a:prstGeom>
          <a:solidFill>
            <a:srgbClr val="FFF4DC"/>
          </a:solidFill>
          <a:ln w="9525">
            <a:solidFill>
              <a:srgbClr val="FFF4DC"/>
            </a:solidFill>
            <a:prstDash val="solid"/>
          </a:ln>
        </p:spPr>
      </p:sp>
      <p:sp>
        <p:nvSpPr>
          <p:cNvPr id="10" name="Real observation"/>
          <p:cNvSpPr txBox="1"/>
          <p:nvPr/>
        </p:nvSpPr>
        <p:spPr>
          <a:xfrm>
            <a:off x="640080" y="4005072"/>
            <a:ext cx="4023360" cy="548640"/>
          </a:xfrm>
          <a:prstGeom prst="rect">
            <a:avLst/>
          </a:prstGeom>
          <a:noFill/>
          <a:ln/>
        </p:spPr>
        <p:txBody>
          <a:bodyPr wrap="square" lIns="0" tIns="0" rIns="0" bIns="0" rtlCol="0" anchor="ctr"/>
          <a:lstStyle/>
          <a:p>
            <a:pPr indent="0" marL="0">
              <a:buNone/>
            </a:pPr>
            <a:r>
              <a:rPr lang="en-US" sz="1000" b="1" dirty="0">
                <a:solidFill>
                  <a:srgbClr val="1B1E3A"/>
                </a:solidFill>
              </a:rPr>
              <a:t>“You recorded a good mood in 5 of your 6 Health &amp; wellbeing entries.”</a:t>
            </a:r>
            <a:endParaRPr lang="en-US" sz="1000" dirty="0"/>
          </a:p>
          <a:p>
            <a:pPr indent="0" marL="0">
              <a:buNone/>
            </a:pPr>
            <a:r>
              <a:rPr lang="en-US" sz="1000" i="1" dirty="0">
                <a:solidFill>
                  <a:srgbClr val="60667D"/>
                </a:solidFill>
              </a:rPr>
              <a:t>Cautious wording: “just something to notice, not a diagnosis”</a:t>
            </a:r>
            <a:endParaRPr lang="en-US" sz="1000" dirty="0"/>
          </a:p>
        </p:txBody>
      </p:sp>
      <p:pic>
        <p:nvPicPr>
          <p:cNvPr id="11" name="Doodle sparkle_i" descr="d/sparkle_i.png">    </p:cNvPr>
          <p:cNvPicPr>
            <a:picLocks noChangeAspect="1"/>
          </p:cNvPicPr>
          <p:nvPr/>
        </p:nvPicPr>
        <p:blipFill>
          <a:blip r:embed="rId3"/>
          <a:stretch>
            <a:fillRect/>
          </a:stretch>
        </p:blipFill>
        <p:spPr>
          <a:xfrm>
            <a:off x="4224528" y="1783080"/>
            <a:ext cx="365760" cy="365760"/>
          </a:xfrm>
          <a:prstGeom prst="rect">
            <a:avLst/>
          </a:prstGeom>
        </p:spPr>
      </p:pic>
      <p:sp>
        <p:nvSpPr>
          <p:cNvPr id="12" name="Mindy panel"/>
          <p:cNvSpPr/>
          <p:nvPr/>
        </p:nvSpPr>
        <p:spPr>
          <a:xfrm>
            <a:off x="4983480" y="1298448"/>
            <a:ext cx="3657600" cy="3255264"/>
          </a:xfrm>
          <a:prstGeom prst="roundRect">
            <a:avLst>
              <a:gd name="adj" fmla="val 2247"/>
            </a:avLst>
          </a:prstGeom>
          <a:solidFill>
            <a:srgbClr val="F3F4F8"/>
          </a:solidFill>
          <a:ln w="9525">
            <a:solidFill>
              <a:srgbClr val="F3F4F8"/>
            </a:solidFill>
            <a:prstDash val="solid"/>
          </a:ln>
        </p:spPr>
      </p:sp>
      <p:pic>
        <p:nvPicPr>
          <p:cNvPr id="13" name="Real Mindy chat" descr="s/mindy_chat.png">    </p:cNvPr>
          <p:cNvPicPr>
            <a:picLocks noChangeAspect="1"/>
          </p:cNvPicPr>
          <p:nvPr/>
        </p:nvPicPr>
        <p:blipFill>
          <a:blip r:embed="rId4"/>
          <a:stretch>
            <a:fillRect/>
          </a:stretch>
        </p:blipFill>
        <p:spPr>
          <a:xfrm>
            <a:off x="5102352" y="1389888"/>
            <a:ext cx="1965960" cy="3044952"/>
          </a:xfrm>
          <a:prstGeom prst="rect">
            <a:avLst/>
          </a:prstGeom>
        </p:spPr>
      </p:pic>
      <p:sp>
        <p:nvSpPr>
          <p:cNvPr id="14" name="Text 8"/>
          <p:cNvSpPr txBox="1"/>
          <p:nvPr/>
        </p:nvSpPr>
        <p:spPr>
          <a:xfrm>
            <a:off x="7205472" y="1417320"/>
            <a:ext cx="1371600" cy="310896"/>
          </a:xfrm>
          <a:prstGeom prst="rect">
            <a:avLst/>
          </a:prstGeom>
          <a:noFill/>
          <a:ln/>
        </p:spPr>
        <p:txBody>
          <a:bodyPr wrap="square" lIns="0" tIns="0" rIns="0" bIns="0" rtlCol="0" anchor="ctr"/>
          <a:lstStyle/>
          <a:p>
            <a:pPr indent="0" marL="0">
              <a:buNone/>
            </a:pPr>
            <a:r>
              <a:rPr lang="en-US" sz="1700" b="1" dirty="0">
                <a:solidFill>
                  <a:srgbClr val="1B1E3A"/>
                </a:solidFill>
                <a:latin typeface="Cambria" pitchFamily="34" charset="0"/>
                <a:ea typeface="Cambria" pitchFamily="34" charset="-122"/>
                <a:cs typeface="Cambria" pitchFamily="34" charset="-120"/>
              </a:rPr>
              <a:t>Mindy</a:t>
            </a:r>
            <a:endParaRPr lang="en-US" sz="1700" dirty="0"/>
          </a:p>
        </p:txBody>
      </p:sp>
      <p:sp>
        <p:nvSpPr>
          <p:cNvPr id="15" name="Text 9"/>
          <p:cNvSpPr txBox="1"/>
          <p:nvPr/>
        </p:nvSpPr>
        <p:spPr>
          <a:xfrm>
            <a:off x="7205472" y="1728216"/>
            <a:ext cx="1371600" cy="365760"/>
          </a:xfrm>
          <a:prstGeom prst="rect">
            <a:avLst/>
          </a:prstGeom>
          <a:noFill/>
          <a:ln/>
        </p:spPr>
        <p:txBody>
          <a:bodyPr wrap="square" lIns="0" tIns="0" rIns="0" bIns="0" rtlCol="0" anchor="t"/>
          <a:lstStyle/>
          <a:p>
            <a:pPr indent="0" marL="0">
              <a:buNone/>
            </a:pPr>
            <a:r>
              <a:rPr lang="en-US" sz="950" dirty="0">
                <a:solidFill>
                  <a:srgbClr val="60667D"/>
                </a:solidFill>
              </a:rPr>
              <a:t>Rule-based companion (no external AI)</a:t>
            </a:r>
            <a:endParaRPr lang="en-US" sz="950" dirty="0"/>
          </a:p>
        </p:txBody>
      </p:sp>
      <p:sp>
        <p:nvSpPr>
          <p:cNvPr id="16" name="Mindy bullets"/>
          <p:cNvSpPr txBox="1"/>
          <p:nvPr/>
        </p:nvSpPr>
        <p:spPr>
          <a:xfrm>
            <a:off x="7205472" y="2176272"/>
            <a:ext cx="1371600" cy="132588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23263A"/>
                </a:solidFill>
              </a:rPr>
              <a:t>Understands 30+ everyday topics</a:t>
            </a:r>
            <a:endParaRPr lang="en-US" sz="1050" dirty="0"/>
          </a:p>
          <a:p>
            <a:pPr marL="152400" indent="-152400">
              <a:spcAft>
                <a:spcPts val="500"/>
              </a:spcAft>
              <a:buSzPct val="100000"/>
              <a:buChar char="•"/>
            </a:pPr>
            <a:r>
              <a:rPr lang="en-US" sz="1050" dirty="0">
                <a:solidFill>
                  <a:srgbClr val="23263A"/>
                </a:solidFill>
              </a:rPr>
              <a:t>Listens, gives practical tips when asked, tells jokes, plays games</a:t>
            </a:r>
            <a:endParaRPr lang="en-US" sz="1050" dirty="0"/>
          </a:p>
        </p:txBody>
      </p:sp>
      <p:sp>
        <p:nvSpPr>
          <p:cNvPr id="17" name="Safety callout"/>
          <p:cNvSpPr/>
          <p:nvPr/>
        </p:nvSpPr>
        <p:spPr>
          <a:xfrm>
            <a:off x="7150608" y="3529584"/>
            <a:ext cx="1399032" cy="914400"/>
          </a:xfrm>
          <a:prstGeom prst="roundRect">
            <a:avLst>
              <a:gd name="adj" fmla="val 8000"/>
            </a:avLst>
          </a:prstGeom>
          <a:solidFill>
            <a:srgbClr val="FFF4DC"/>
          </a:solidFill>
          <a:ln w="9525">
            <a:solidFill>
              <a:srgbClr val="FFF4DC"/>
            </a:solidFill>
            <a:prstDash val="solid"/>
          </a:ln>
        </p:spPr>
      </p:sp>
      <p:pic>
        <p:nvPicPr>
          <p:cNvPr id="18" name="Emoji buoy" descr="e/buoy.png">    </p:cNvPr>
          <p:cNvPicPr>
            <a:picLocks noChangeAspect="1"/>
          </p:cNvPicPr>
          <p:nvPr/>
        </p:nvPicPr>
        <p:blipFill>
          <a:blip r:embed="rId5"/>
          <a:stretch>
            <a:fillRect/>
          </a:stretch>
        </p:blipFill>
        <p:spPr>
          <a:xfrm>
            <a:off x="7242048" y="3602736"/>
            <a:ext cx="219456" cy="219456"/>
          </a:xfrm>
          <a:prstGeom prst="rect">
            <a:avLst/>
          </a:prstGeom>
        </p:spPr>
      </p:pic>
      <p:sp>
        <p:nvSpPr>
          <p:cNvPr id="19" name="Safety text"/>
          <p:cNvSpPr txBox="1"/>
          <p:nvPr/>
        </p:nvSpPr>
        <p:spPr>
          <a:xfrm>
            <a:off x="7242048" y="3840480"/>
            <a:ext cx="1261872" cy="566928"/>
          </a:xfrm>
          <a:prstGeom prst="rect">
            <a:avLst/>
          </a:prstGeom>
          <a:noFill/>
          <a:ln/>
        </p:spPr>
        <p:txBody>
          <a:bodyPr wrap="square" lIns="0" tIns="0" rIns="0" bIns="0" rtlCol="0" anchor="t"/>
          <a:lstStyle/>
          <a:p>
            <a:pPr indent="0" marL="0">
              <a:buNone/>
            </a:pPr>
            <a:r>
              <a:rPr lang="en-US" sz="950" b="1" dirty="0">
                <a:solidFill>
                  <a:srgbClr val="1B1E3A"/>
                </a:solidFill>
              </a:rPr>
              <a:t>Safety: </a:t>
            </a:r>
            <a:pPr indent="0" marL="0">
              <a:buNone/>
            </a:pPr>
            <a:r>
              <a:rPr lang="en-US" sz="950" dirty="0">
                <a:solidFill>
                  <a:srgbClr val="1B1E3A"/>
                </a:solidFill>
              </a:rPr>
              <a:t>crisis messages get support resources immediately</a:t>
            </a:r>
            <a:endParaRPr lang="en-US" sz="950" dirty="0"/>
          </a:p>
        </p:txBody>
      </p:sp>
      <p:sp>
        <p:nvSpPr>
          <p:cNvPr id="25" name="Slide Number Placeholder 0"/>
          <p:cNvSpPr>
            <a:spLocks noGrp="1"/>
          </p:cNvSpPr>
          <p:nvPr>
            <p:ph type="sldNum" sz="quarter" idx="4294967295"/>
          </p:nvPr>
        </p:nvSpPr>
        <p:spPr>
          <a:xfrm>
            <a:off x="8183880" y="4736592"/>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0667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6" type="body" hasCustomPrompt="1"/>
          </p:nvPr>
        </p:nvSpPr>
        <p:spPr>
          <a:xfrm>
            <a:off x="502920" y="329184"/>
            <a:ext cx="5486400" cy="237744"/>
          </a:xfrm>
          <a:prstGeom prst="rect">
            <a:avLst/>
          </a:prstGeom>
          <a:noFill/>
          <a:ln/>
        </p:spPr>
        <p:txBody>
          <a:bodyPr wrap="square" lIns="0" tIns="0" rIns="0" bIns="0" rtlCol="0"/>
          <a:lstStyle/>
          <a:p>
            <a:pPr indent="0" marL="0">
              <a:buNone/>
            </a:pPr>
            <a:r>
              <a:rPr lang="en-US" sz="1000" b="1" spc="150" kern="0" dirty="0">
                <a:solidFill>
                  <a:srgbClr val="3F44A0"/>
                </a:solidFill>
              </a:rPr>
              <a:t>08 / 09   WHERE WE ARE</a:t>
            </a:r>
            <a:endParaRPr lang="en-US" sz="1000" dirty="0"/>
          </a:p>
        </p:txBody>
      </p:sp>
      <p:sp>
        <p:nvSpPr>
          <p:cNvPr id="3" name="Text 1"/>
          <p:cNvSpPr/>
          <p:nvPr>
            <p:ph idx="107" type="title" hasCustomPrompt="1"/>
          </p:nvPr>
        </p:nvSpPr>
        <p:spPr>
          <a:xfrm>
            <a:off x="502920" y="566928"/>
            <a:ext cx="8138160" cy="548640"/>
          </a:xfrm>
          <a:prstGeom prst="rect">
            <a:avLst/>
          </a:prstGeom>
          <a:noFill/>
          <a:ln/>
        </p:spPr>
        <p:txBody>
          <a:bodyPr wrap="square" lIns="0" tIns="0" rIns="0" bIns="0" rtlCol="0" anchor="ctr"/>
          <a:lstStyle/>
          <a:p>
            <a:pPr algn="l" indent="0" marL="0">
              <a:buNone/>
            </a:pPr>
            <a:r>
              <a:rPr lang="en-US" sz="2600" b="1" dirty="0">
                <a:solidFill>
                  <a:srgbClr val="1B1E3A"/>
                </a:solidFill>
                <a:latin typeface="Cambria" pitchFamily="34" charset="0"/>
                <a:ea typeface="Cambria" pitchFamily="34" charset="-122"/>
                <a:cs typeface="Cambria" pitchFamily="34" charset="-120"/>
              </a:rPr>
              <a:t>Testing, Limitations &amp; Future Scope</a:t>
            </a:r>
            <a:endParaRPr lang="en-US" sz="2600" dirty="0"/>
          </a:p>
        </p:txBody>
      </p:sp>
      <p:sp>
        <p:nvSpPr>
          <p:cNvPr id="4" name="Testing panel"/>
          <p:cNvSpPr/>
          <p:nvPr/>
        </p:nvSpPr>
        <p:spPr>
          <a:xfrm>
            <a:off x="502920" y="1298448"/>
            <a:ext cx="2468880" cy="3200400"/>
          </a:xfrm>
          <a:prstGeom prst="roundRect">
            <a:avLst>
              <a:gd name="adj" fmla="val 2963"/>
            </a:avLst>
          </a:prstGeom>
          <a:solidFill>
            <a:srgbClr val="1B1E3A"/>
          </a:solidFill>
          <a:ln w="9525">
            <a:solidFill>
              <a:srgbClr val="1B1E3A"/>
            </a:solidFill>
            <a:prstDash val="solid"/>
          </a:ln>
        </p:spPr>
      </p:sp>
      <p:sp>
        <p:nvSpPr>
          <p:cNvPr id="5" name="Text 3"/>
          <p:cNvSpPr txBox="1"/>
          <p:nvPr/>
        </p:nvSpPr>
        <p:spPr>
          <a:xfrm>
            <a:off x="731520" y="1481328"/>
            <a:ext cx="1828800" cy="219456"/>
          </a:xfrm>
          <a:prstGeom prst="rect">
            <a:avLst/>
          </a:prstGeom>
          <a:noFill/>
          <a:ln/>
        </p:spPr>
        <p:txBody>
          <a:bodyPr wrap="square" lIns="0" tIns="0" rIns="0" bIns="0" rtlCol="0" anchor="ctr"/>
          <a:lstStyle/>
          <a:p>
            <a:pPr indent="0" marL="0">
              <a:buNone/>
            </a:pPr>
            <a:r>
              <a:rPr lang="en-US" sz="900" b="1" spc="200" kern="0" dirty="0">
                <a:solidFill>
                  <a:srgbClr val="F0B13F"/>
                </a:solidFill>
              </a:rPr>
              <a:t>TESTED</a:t>
            </a:r>
            <a:endParaRPr lang="en-US" sz="900" dirty="0"/>
          </a:p>
        </p:txBody>
      </p:sp>
      <p:pic>
        <p:nvPicPr>
          <p:cNvPr id="6" name="Doodle ring_a" descr="d/ring_a.png">    </p:cNvPr>
          <p:cNvPicPr>
            <a:picLocks noChangeAspect="1"/>
          </p:cNvPicPr>
          <p:nvPr/>
        </p:nvPicPr>
        <p:blipFill>
          <a:blip r:embed="rId1"/>
          <a:stretch>
            <a:fillRect/>
          </a:stretch>
        </p:blipFill>
        <p:spPr>
          <a:xfrm>
            <a:off x="457200" y="1700784"/>
            <a:ext cx="2057400" cy="1097280"/>
          </a:xfrm>
          <a:prstGeom prst="rect">
            <a:avLst/>
          </a:prstGeom>
        </p:spPr>
      </p:pic>
      <p:pic>
        <p:nvPicPr>
          <p:cNvPr id="7" name="Doodle sparkle_a" descr="d/sparkle_a.png">    </p:cNvPr>
          <p:cNvPicPr>
            <a:picLocks noChangeAspect="1"/>
          </p:cNvPicPr>
          <p:nvPr/>
        </p:nvPicPr>
        <p:blipFill>
          <a:blip r:embed="rId2"/>
          <a:stretch>
            <a:fillRect/>
          </a:stretch>
        </p:blipFill>
        <p:spPr>
          <a:xfrm>
            <a:off x="2487168" y="1417320"/>
            <a:ext cx="384048" cy="384048"/>
          </a:xfrm>
          <a:prstGeom prst="rect">
            <a:avLst/>
          </a:prstGeom>
        </p:spPr>
      </p:pic>
      <p:sp>
        <p:nvSpPr>
          <p:cNvPr id="8" name="Test count"/>
          <p:cNvSpPr txBox="1"/>
          <p:nvPr/>
        </p:nvSpPr>
        <p:spPr>
          <a:xfrm>
            <a:off x="731520" y="1783080"/>
            <a:ext cx="2103120" cy="91440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240</a:t>
            </a:r>
            <a:endParaRPr lang="en-US" sz="6400" dirty="0"/>
          </a:p>
        </p:txBody>
      </p:sp>
      <p:sp>
        <p:nvSpPr>
          <p:cNvPr id="9" name="Text 5"/>
          <p:cNvSpPr txBox="1"/>
          <p:nvPr/>
        </p:nvSpPr>
        <p:spPr>
          <a:xfrm>
            <a:off x="731520" y="2743200"/>
            <a:ext cx="2103120" cy="274320"/>
          </a:xfrm>
          <a:prstGeom prst="rect">
            <a:avLst/>
          </a:prstGeom>
          <a:noFill/>
          <a:ln/>
        </p:spPr>
        <p:txBody>
          <a:bodyPr wrap="square" lIns="0" tIns="0" rIns="0" bIns="0" rtlCol="0" anchor="ctr"/>
          <a:lstStyle/>
          <a:p>
            <a:pPr indent="0" marL="0">
              <a:buNone/>
            </a:pPr>
            <a:r>
              <a:rPr lang="en-US" sz="1300" dirty="0">
                <a:solidFill>
                  <a:srgbClr val="C9CCE0"/>
                </a:solidFill>
              </a:rPr>
              <a:t>automated tests (pytest)</a:t>
            </a:r>
            <a:endParaRPr lang="en-US" sz="1300" dirty="0"/>
          </a:p>
        </p:txBody>
      </p:sp>
      <p:pic>
        <p:nvPicPr>
          <p:cNvPr id="10" name="Emoji check" descr="e/check.png">    </p:cNvPr>
          <p:cNvPicPr>
            <a:picLocks noChangeAspect="1"/>
          </p:cNvPicPr>
          <p:nvPr/>
        </p:nvPicPr>
        <p:blipFill>
          <a:blip r:embed="rId3"/>
          <a:stretch>
            <a:fillRect/>
          </a:stretch>
        </p:blipFill>
        <p:spPr>
          <a:xfrm>
            <a:off x="731520" y="3310128"/>
            <a:ext cx="274320" cy="274320"/>
          </a:xfrm>
          <a:prstGeom prst="rect">
            <a:avLst/>
          </a:prstGeom>
        </p:spPr>
      </p:pic>
      <p:sp>
        <p:nvSpPr>
          <p:cNvPr id="11" name="Text 6"/>
          <p:cNvSpPr txBox="1"/>
          <p:nvPr/>
        </p:nvSpPr>
        <p:spPr>
          <a:xfrm>
            <a:off x="1097280" y="3291840"/>
            <a:ext cx="1645920" cy="310896"/>
          </a:xfrm>
          <a:prstGeom prst="rect">
            <a:avLst/>
          </a:prstGeom>
          <a:noFill/>
          <a:ln/>
        </p:spPr>
        <p:txBody>
          <a:bodyPr wrap="square" lIns="0" tIns="0" rIns="0" bIns="0" rtlCol="0" anchor="ctr"/>
          <a:lstStyle/>
          <a:p>
            <a:pPr indent="0" marL="0">
              <a:buNone/>
            </a:pPr>
            <a:r>
              <a:rPr lang="en-US" sz="1400" b="1" dirty="0">
                <a:solidFill>
                  <a:srgbClr val="FFFFFF"/>
                </a:solidFill>
              </a:rPr>
              <a:t>All passing</a:t>
            </a:r>
            <a:endParaRPr lang="en-US" sz="1400" dirty="0"/>
          </a:p>
        </p:txBody>
      </p:sp>
      <p:sp>
        <p:nvSpPr>
          <p:cNvPr id="12" name="Limitations"/>
          <p:cNvSpPr/>
          <p:nvPr/>
        </p:nvSpPr>
        <p:spPr>
          <a:xfrm>
            <a:off x="3127248" y="1298448"/>
            <a:ext cx="2697480" cy="3200400"/>
          </a:xfrm>
          <a:prstGeom prst="roundRect">
            <a:avLst>
              <a:gd name="adj" fmla="val 2712"/>
            </a:avLst>
          </a:prstGeom>
          <a:solidFill>
            <a:srgbClr val="FFFFFF"/>
          </a:solidFill>
          <a:ln w="9525">
            <a:solidFill>
              <a:srgbClr val="DCDFE9"/>
            </a:solidFill>
            <a:prstDash val="solid"/>
          </a:ln>
        </p:spPr>
      </p:sp>
      <p:sp>
        <p:nvSpPr>
          <p:cNvPr id="13" name="Emoji disc"/>
          <p:cNvSpPr/>
          <p:nvPr/>
        </p:nvSpPr>
        <p:spPr>
          <a:xfrm>
            <a:off x="3328416" y="1463040"/>
            <a:ext cx="420624" cy="420624"/>
          </a:xfrm>
          <a:prstGeom prst="ellipse">
            <a:avLst/>
          </a:prstGeom>
          <a:solidFill>
            <a:srgbClr val="F3F4F8"/>
          </a:solidFill>
          <a:ln w="12700">
            <a:solidFill>
              <a:srgbClr val="F3F4F8"/>
            </a:solidFill>
            <a:prstDash val="solid"/>
          </a:ln>
        </p:spPr>
      </p:sp>
      <p:pic>
        <p:nvPicPr>
          <p:cNvPr id="14" name="Emoji warn" descr="e/warn.png">    </p:cNvPr>
          <p:cNvPicPr>
            <a:picLocks noChangeAspect="1"/>
          </p:cNvPicPr>
          <p:nvPr/>
        </p:nvPicPr>
        <p:blipFill>
          <a:blip r:embed="rId4"/>
          <a:stretch>
            <a:fillRect/>
          </a:stretch>
        </p:blipFill>
        <p:spPr>
          <a:xfrm>
            <a:off x="3420953" y="1555577"/>
            <a:ext cx="235549" cy="235549"/>
          </a:xfrm>
          <a:prstGeom prst="rect">
            <a:avLst/>
          </a:prstGeom>
        </p:spPr>
      </p:pic>
      <p:sp>
        <p:nvSpPr>
          <p:cNvPr id="15" name="Text 9"/>
          <p:cNvSpPr txBox="1"/>
          <p:nvPr/>
        </p:nvSpPr>
        <p:spPr>
          <a:xfrm>
            <a:off x="3858768" y="1463040"/>
            <a:ext cx="1828800" cy="420624"/>
          </a:xfrm>
          <a:prstGeom prst="rect">
            <a:avLst/>
          </a:prstGeom>
          <a:noFill/>
          <a:ln/>
        </p:spPr>
        <p:txBody>
          <a:bodyPr wrap="square" lIns="0" tIns="0" rIns="0" bIns="0" rtlCol="0" anchor="ctr"/>
          <a:lstStyle/>
          <a:p>
            <a:pPr indent="0" marL="0">
              <a:buNone/>
            </a:pPr>
            <a:r>
              <a:rPr lang="en-US" sz="1500" b="1" dirty="0">
                <a:solidFill>
                  <a:srgbClr val="1B1E3A"/>
                </a:solidFill>
                <a:latin typeface="Cambria" pitchFamily="34" charset="0"/>
                <a:ea typeface="Cambria" pitchFamily="34" charset="-122"/>
                <a:cs typeface="Cambria" pitchFamily="34" charset="-120"/>
              </a:rPr>
              <a:t>Limitations</a:t>
            </a:r>
            <a:endParaRPr lang="en-US" sz="1500" dirty="0"/>
          </a:p>
        </p:txBody>
      </p:sp>
      <p:sp>
        <p:nvSpPr>
          <p:cNvPr id="16" name="Text 10"/>
          <p:cNvSpPr txBox="1"/>
          <p:nvPr/>
        </p:nvSpPr>
        <p:spPr>
          <a:xfrm>
            <a:off x="3355848" y="2148840"/>
            <a:ext cx="2286000" cy="2240280"/>
          </a:xfrm>
          <a:prstGeom prst="rect">
            <a:avLst/>
          </a:prstGeom>
          <a:noFill/>
          <a:ln/>
        </p:spPr>
        <p:txBody>
          <a:bodyPr wrap="square" lIns="0" tIns="0" rIns="0" bIns="0" rtlCol="0" anchor="t"/>
          <a:lstStyle/>
          <a:p>
            <a:pPr marL="152400" indent="-152400">
              <a:spcAft>
                <a:spcPts val="1400"/>
              </a:spcAft>
              <a:buSzPct val="100000"/>
              <a:buChar char="•"/>
            </a:pPr>
            <a:r>
              <a:rPr lang="en-US" sz="1400" dirty="0">
                <a:solidFill>
                  <a:srgbClr val="23263A"/>
                </a:solidFill>
              </a:rPr>
              <a:t>Mindy is rule-based</a:t>
            </a:r>
            <a:endParaRPr lang="en-US" sz="1400" dirty="0"/>
          </a:p>
          <a:p>
            <a:pPr marL="152400" indent="-152400">
              <a:spcAft>
                <a:spcPts val="1400"/>
              </a:spcAft>
              <a:buSzPct val="100000"/>
              <a:buChar char="•"/>
            </a:pPr>
            <a:r>
              <a:rPr lang="en-US" sz="1400" dirty="0">
                <a:solidFill>
                  <a:srgbClr val="23263A"/>
                </a:solidFill>
              </a:rPr>
              <a:t>Search covers titles only (text is encrypted)</a:t>
            </a:r>
            <a:endParaRPr lang="en-US" sz="1400" dirty="0"/>
          </a:p>
          <a:p>
            <a:pPr marL="152400" indent="-152400">
              <a:spcAft>
                <a:spcPts val="1400"/>
              </a:spcAft>
              <a:buSzPct val="100000"/>
              <a:buChar char="•"/>
            </a:pPr>
            <a:r>
              <a:rPr lang="en-US" sz="1400" dirty="0">
                <a:solidFill>
                  <a:srgbClr val="23263A"/>
                </a:solidFill>
              </a:rPr>
              <a:t>Not yet deployed</a:t>
            </a:r>
            <a:endParaRPr lang="en-US" sz="1400" dirty="0"/>
          </a:p>
        </p:txBody>
      </p:sp>
      <p:sp>
        <p:nvSpPr>
          <p:cNvPr id="17" name="Future scope"/>
          <p:cNvSpPr/>
          <p:nvPr/>
        </p:nvSpPr>
        <p:spPr>
          <a:xfrm>
            <a:off x="5943600" y="1298448"/>
            <a:ext cx="2697480" cy="3200400"/>
          </a:xfrm>
          <a:prstGeom prst="roundRect">
            <a:avLst>
              <a:gd name="adj" fmla="val 2712"/>
            </a:avLst>
          </a:prstGeom>
          <a:solidFill>
            <a:srgbClr val="FFFFFF"/>
          </a:solidFill>
          <a:ln w="9525">
            <a:solidFill>
              <a:srgbClr val="DCDFE9"/>
            </a:solidFill>
            <a:prstDash val="solid"/>
          </a:ln>
        </p:spPr>
      </p:sp>
      <p:sp>
        <p:nvSpPr>
          <p:cNvPr id="18" name="Emoji disc"/>
          <p:cNvSpPr/>
          <p:nvPr/>
        </p:nvSpPr>
        <p:spPr>
          <a:xfrm>
            <a:off x="6144768" y="1463040"/>
            <a:ext cx="420624" cy="420624"/>
          </a:xfrm>
          <a:prstGeom prst="ellipse">
            <a:avLst/>
          </a:prstGeom>
          <a:solidFill>
            <a:srgbClr val="F3F4F8"/>
          </a:solidFill>
          <a:ln w="12700">
            <a:solidFill>
              <a:srgbClr val="F3F4F8"/>
            </a:solidFill>
            <a:prstDash val="solid"/>
          </a:ln>
        </p:spPr>
      </p:sp>
      <p:pic>
        <p:nvPicPr>
          <p:cNvPr id="19" name="Emoji rocket" descr="e/rocket.png">    </p:cNvPr>
          <p:cNvPicPr>
            <a:picLocks noChangeAspect="1"/>
          </p:cNvPicPr>
          <p:nvPr/>
        </p:nvPicPr>
        <p:blipFill>
          <a:blip r:embed="rId5"/>
          <a:stretch>
            <a:fillRect/>
          </a:stretch>
        </p:blipFill>
        <p:spPr>
          <a:xfrm>
            <a:off x="6237305" y="1555577"/>
            <a:ext cx="235549" cy="235549"/>
          </a:xfrm>
          <a:prstGeom prst="rect">
            <a:avLst/>
          </a:prstGeom>
        </p:spPr>
      </p:pic>
      <p:sp>
        <p:nvSpPr>
          <p:cNvPr id="20" name="Text 13"/>
          <p:cNvSpPr txBox="1"/>
          <p:nvPr/>
        </p:nvSpPr>
        <p:spPr>
          <a:xfrm>
            <a:off x="6675120" y="1463040"/>
            <a:ext cx="1828800" cy="420624"/>
          </a:xfrm>
          <a:prstGeom prst="rect">
            <a:avLst/>
          </a:prstGeom>
          <a:noFill/>
          <a:ln/>
        </p:spPr>
        <p:txBody>
          <a:bodyPr wrap="square" lIns="0" tIns="0" rIns="0" bIns="0" rtlCol="0" anchor="ctr"/>
          <a:lstStyle/>
          <a:p>
            <a:pPr indent="0" marL="0">
              <a:buNone/>
            </a:pPr>
            <a:r>
              <a:rPr lang="en-US" sz="1500" b="1" dirty="0">
                <a:solidFill>
                  <a:srgbClr val="1B1E3A"/>
                </a:solidFill>
                <a:latin typeface="Cambria" pitchFamily="34" charset="0"/>
                <a:ea typeface="Cambria" pitchFamily="34" charset="-122"/>
                <a:cs typeface="Cambria" pitchFamily="34" charset="-120"/>
              </a:rPr>
              <a:t>Future scope</a:t>
            </a:r>
            <a:endParaRPr lang="en-US" sz="1500" dirty="0"/>
          </a:p>
        </p:txBody>
      </p:sp>
      <p:sp>
        <p:nvSpPr>
          <p:cNvPr id="21" name="Text 14"/>
          <p:cNvSpPr txBox="1"/>
          <p:nvPr/>
        </p:nvSpPr>
        <p:spPr>
          <a:xfrm>
            <a:off x="6172200" y="2148840"/>
            <a:ext cx="2286000" cy="2240280"/>
          </a:xfrm>
          <a:prstGeom prst="rect">
            <a:avLst/>
          </a:prstGeom>
          <a:noFill/>
          <a:ln/>
        </p:spPr>
        <p:txBody>
          <a:bodyPr wrap="square" lIns="0" tIns="0" rIns="0" bIns="0" rtlCol="0" anchor="t"/>
          <a:lstStyle/>
          <a:p>
            <a:pPr marL="152400" indent="-152400">
              <a:spcAft>
                <a:spcPts val="1400"/>
              </a:spcAft>
              <a:buSzPct val="100000"/>
              <a:buChar char="•"/>
            </a:pPr>
            <a:r>
              <a:rPr lang="en-US" sz="1400" dirty="0">
                <a:solidFill>
                  <a:srgbClr val="23263A"/>
                </a:solidFill>
              </a:rPr>
              <a:t>Account deletion &amp; data export</a:t>
            </a:r>
            <a:endParaRPr lang="en-US" sz="1400" dirty="0"/>
          </a:p>
          <a:p>
            <a:pPr marL="152400" indent="-152400">
              <a:spcAft>
                <a:spcPts val="1400"/>
              </a:spcAft>
              <a:buSzPct val="100000"/>
              <a:buChar char="•"/>
            </a:pPr>
            <a:r>
              <a:rPr lang="en-US" sz="1400" dirty="0">
                <a:solidFill>
                  <a:srgbClr val="23263A"/>
                </a:solidFill>
              </a:rPr>
              <a:t>Password reset</a:t>
            </a:r>
            <a:endParaRPr lang="en-US" sz="1400" dirty="0"/>
          </a:p>
          <a:p>
            <a:pPr marL="152400" indent="-152400">
              <a:spcAft>
                <a:spcPts val="1400"/>
              </a:spcAft>
              <a:buSzPct val="100000"/>
              <a:buChar char="•"/>
            </a:pPr>
            <a:r>
              <a:rPr lang="en-US" sz="1400" dirty="0">
                <a:solidFill>
                  <a:srgbClr val="23263A"/>
                </a:solidFill>
              </a:rPr>
              <a:t>Cloud deployment</a:t>
            </a:r>
            <a:endParaRPr lang="en-US" sz="1400" dirty="0"/>
          </a:p>
          <a:p>
            <a:pPr marL="152400" indent="-152400">
              <a:spcAft>
                <a:spcPts val="1400"/>
              </a:spcAft>
              <a:buSzPct val="100000"/>
              <a:buChar char="•"/>
            </a:pPr>
            <a:r>
              <a:rPr lang="en-US" sz="1400" dirty="0">
                <a:solidFill>
                  <a:srgbClr val="23263A"/>
                </a:solidFill>
              </a:rPr>
              <a:t>Optional AI-powered Mindy</a:t>
            </a:r>
            <a:endParaRPr lang="en-US" sz="1400" dirty="0"/>
          </a:p>
        </p:txBody>
      </p:sp>
      <p:sp>
        <p:nvSpPr>
          <p:cNvPr id="25" name="Slide Number Placeholder 0"/>
          <p:cNvSpPr>
            <a:spLocks noGrp="1"/>
          </p:cNvSpPr>
          <p:nvPr>
            <p:ph type="sldNum" sz="quarter" idx="4294967295"/>
          </p:nvPr>
        </p:nvSpPr>
        <p:spPr>
          <a:xfrm>
            <a:off x="8183880" y="4736592"/>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0667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hank you"/>
          <p:cNvSpPr txBox="1"/>
          <p:nvPr/>
        </p:nvSpPr>
        <p:spPr>
          <a:xfrm>
            <a:off x="548640" y="640080"/>
            <a:ext cx="3657600" cy="82296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pic>
        <p:nvPicPr>
          <p:cNvPr id="3" name="Emoji pray" descr="e/pray.png">    </p:cNvPr>
          <p:cNvPicPr>
            <a:picLocks noChangeAspect="1"/>
          </p:cNvPicPr>
          <p:nvPr/>
        </p:nvPicPr>
        <p:blipFill>
          <a:blip r:embed="rId1"/>
          <a:stretch>
            <a:fillRect/>
          </a:stretch>
        </p:blipFill>
        <p:spPr>
          <a:xfrm>
            <a:off x="3749040" y="841248"/>
            <a:ext cx="420624" cy="420624"/>
          </a:xfrm>
          <a:prstGeom prst="rect">
            <a:avLst/>
          </a:prstGeom>
        </p:spPr>
      </p:pic>
      <p:sp>
        <p:nvSpPr>
          <p:cNvPr id="4" name="Questions"/>
          <p:cNvSpPr txBox="1"/>
          <p:nvPr/>
        </p:nvSpPr>
        <p:spPr>
          <a:xfrm>
            <a:off x="548640" y="1508760"/>
            <a:ext cx="1463040" cy="411480"/>
          </a:xfrm>
          <a:prstGeom prst="rect">
            <a:avLst/>
          </a:prstGeom>
          <a:noFill/>
          <a:ln/>
        </p:spPr>
        <p:txBody>
          <a:bodyPr wrap="square" lIns="0" tIns="0" rIns="0" bIns="0" rtlCol="0" anchor="ctr"/>
          <a:lstStyle/>
          <a:p>
            <a:pPr indent="0" marL="0">
              <a:buNone/>
            </a:pPr>
            <a:r>
              <a:rPr lang="en-US" sz="2200" dirty="0">
                <a:solidFill>
                  <a:srgbClr val="F0B13F"/>
                </a:solidFill>
              </a:rPr>
              <a:t>Questions?</a:t>
            </a:r>
            <a:endParaRPr lang="en-US" sz="2200" dirty="0"/>
          </a:p>
        </p:txBody>
      </p:sp>
      <p:pic>
        <p:nvPicPr>
          <p:cNvPr id="5" name="Emoji speech" descr="e/speech.png">    </p:cNvPr>
          <p:cNvPicPr>
            <a:picLocks noChangeAspect="1"/>
          </p:cNvPicPr>
          <p:nvPr/>
        </p:nvPicPr>
        <p:blipFill>
          <a:blip r:embed="rId2"/>
          <a:stretch>
            <a:fillRect/>
          </a:stretch>
        </p:blipFill>
        <p:spPr>
          <a:xfrm>
            <a:off x="1965960" y="1572768"/>
            <a:ext cx="292608" cy="292608"/>
          </a:xfrm>
          <a:prstGeom prst="rect">
            <a:avLst/>
          </a:prstGeom>
        </p:spPr>
      </p:pic>
      <p:sp>
        <p:nvSpPr>
          <p:cNvPr id="6" name="Tagline"/>
          <p:cNvSpPr txBox="1"/>
          <p:nvPr/>
        </p:nvSpPr>
        <p:spPr>
          <a:xfrm>
            <a:off x="548640" y="2011680"/>
            <a:ext cx="2423160" cy="347472"/>
          </a:xfrm>
          <a:prstGeom prst="rect">
            <a:avLst/>
          </a:prstGeom>
          <a:noFill/>
          <a:ln/>
        </p:spPr>
        <p:txBody>
          <a:bodyPr wrap="square" lIns="0" tIns="0" rIns="0" bIns="0" rtlCol="0" anchor="ctr"/>
          <a:lstStyle/>
          <a:p>
            <a:pPr indent="0" marL="0">
              <a:buNone/>
            </a:pPr>
            <a:r>
              <a:rPr lang="en-US" sz="1500" i="1" dirty="0">
                <a:solidFill>
                  <a:srgbClr val="C9CCE0"/>
                </a:solidFill>
                <a:latin typeface="Cambria" pitchFamily="34" charset="0"/>
                <a:ea typeface="Cambria" pitchFamily="34" charset="-122"/>
                <a:cs typeface="Cambria" pitchFamily="34" charset="-120"/>
              </a:rPr>
              <a:t>Small steps make big changes.</a:t>
            </a:r>
            <a:endParaRPr lang="en-US" sz="1500" dirty="0"/>
          </a:p>
        </p:txBody>
      </p:sp>
      <p:pic>
        <p:nvPicPr>
          <p:cNvPr id="7" name="Emoji seed" descr="e/seed.png">    </p:cNvPr>
          <p:cNvPicPr>
            <a:picLocks noChangeAspect="1"/>
          </p:cNvPicPr>
          <p:nvPr/>
        </p:nvPicPr>
        <p:blipFill>
          <a:blip r:embed="rId3"/>
          <a:stretch>
            <a:fillRect/>
          </a:stretch>
        </p:blipFill>
        <p:spPr>
          <a:xfrm>
            <a:off x="2944368" y="2048256"/>
            <a:ext cx="256032" cy="256032"/>
          </a:xfrm>
          <a:prstGeom prst="rect">
            <a:avLst/>
          </a:prstGeom>
        </p:spPr>
      </p:pic>
      <p:sp>
        <p:nvSpPr>
          <p:cNvPr id="8" name="Team names"/>
          <p:cNvSpPr txBox="1"/>
          <p:nvPr/>
        </p:nvSpPr>
        <p:spPr>
          <a:xfrm>
            <a:off x="548640" y="2606040"/>
            <a:ext cx="4572000" cy="274320"/>
          </a:xfrm>
          <a:prstGeom prst="rect">
            <a:avLst/>
          </a:prstGeom>
          <a:noFill/>
          <a:ln/>
        </p:spPr>
        <p:txBody>
          <a:bodyPr wrap="square" lIns="0" tIns="0" rIns="0" bIns="0" rtlCol="0" anchor="ctr"/>
          <a:lstStyle/>
          <a:p>
            <a:pPr indent="0" marL="0">
              <a:buNone/>
            </a:pPr>
            <a:r>
              <a:rPr lang="en-US" sz="1100" dirty="0">
                <a:solidFill>
                  <a:srgbClr val="C9CCE0"/>
                </a:solidFill>
              </a:rPr>
              <a:t>[Member 1]  ·  [Member 2]  ·  [Member 3]  ·  [Member 4]</a:t>
            </a:r>
            <a:endParaRPr lang="en-US" sz="1100" dirty="0"/>
          </a:p>
        </p:txBody>
      </p:sp>
      <p:sp>
        <p:nvSpPr>
          <p:cNvPr id="9" name="Demo card"/>
          <p:cNvSpPr/>
          <p:nvPr/>
        </p:nvSpPr>
        <p:spPr>
          <a:xfrm>
            <a:off x="5760720" y="640080"/>
            <a:ext cx="2880360" cy="2331720"/>
          </a:xfrm>
          <a:prstGeom prst="roundRect">
            <a:avLst>
              <a:gd name="adj" fmla="val 3922"/>
            </a:avLst>
          </a:prstGeom>
          <a:solidFill>
            <a:srgbClr val="2A2E52"/>
          </a:solidFill>
          <a:ln w="9525">
            <a:solidFill>
              <a:srgbClr val="3A3F6B"/>
            </a:solidFill>
            <a:prstDash val="solid"/>
          </a:ln>
        </p:spPr>
      </p:sp>
      <p:pic>
        <p:nvPicPr>
          <p:cNvPr id="10" name="Demo icon" descr="s/LuMonitorPlay_a.png">    </p:cNvPr>
          <p:cNvPicPr>
            <a:picLocks noChangeAspect="1"/>
          </p:cNvPicPr>
          <p:nvPr/>
        </p:nvPicPr>
        <p:blipFill>
          <a:blip r:embed="rId4"/>
          <a:stretch>
            <a:fillRect/>
          </a:stretch>
        </p:blipFill>
        <p:spPr>
          <a:xfrm>
            <a:off x="5943600" y="804672"/>
            <a:ext cx="274320" cy="274320"/>
          </a:xfrm>
          <a:prstGeom prst="rect">
            <a:avLst/>
          </a:prstGeom>
        </p:spPr>
      </p:pic>
      <p:sp>
        <p:nvSpPr>
          <p:cNvPr id="11" name="Text 5"/>
          <p:cNvSpPr txBox="1"/>
          <p:nvPr/>
        </p:nvSpPr>
        <p:spPr>
          <a:xfrm>
            <a:off x="6309360" y="804672"/>
            <a:ext cx="1828800" cy="274320"/>
          </a:xfrm>
          <a:prstGeom prst="rect">
            <a:avLst/>
          </a:prstGeom>
          <a:noFill/>
          <a:ln/>
        </p:spPr>
        <p:txBody>
          <a:bodyPr wrap="square" lIns="0" tIns="0" rIns="0" bIns="0" rtlCol="0" anchor="ctr"/>
          <a:lstStyle/>
          <a:p>
            <a:pPr indent="0" marL="0">
              <a:buNone/>
            </a:pPr>
            <a:r>
              <a:rPr lang="en-US" sz="1000" b="1" spc="200" kern="0" dirty="0">
                <a:solidFill>
                  <a:srgbClr val="F0B13F"/>
                </a:solidFill>
              </a:rPr>
              <a:t>LIVE DEMO</a:t>
            </a:r>
            <a:endParaRPr lang="en-US" sz="1000" dirty="0"/>
          </a:p>
        </p:txBody>
      </p:sp>
      <p:sp>
        <p:nvSpPr>
          <p:cNvPr id="12" name="Demo text"/>
          <p:cNvSpPr txBox="1"/>
          <p:nvPr/>
        </p:nvSpPr>
        <p:spPr>
          <a:xfrm>
            <a:off x="5943600" y="1170432"/>
            <a:ext cx="2560320" cy="237744"/>
          </a:xfrm>
          <a:prstGeom prst="rect">
            <a:avLst/>
          </a:prstGeom>
          <a:noFill/>
          <a:ln/>
        </p:spPr>
        <p:txBody>
          <a:bodyPr wrap="square" lIns="0" tIns="0" rIns="0" bIns="0" rtlCol="0" anchor="ctr"/>
          <a:lstStyle/>
          <a:p>
            <a:pPr indent="0" marL="0">
              <a:buNone/>
            </a:pPr>
            <a:r>
              <a:rPr lang="en-US" sz="1100" dirty="0">
                <a:solidFill>
                  <a:srgbClr val="FFFFFF"/>
                </a:solidFill>
              </a:rPr>
              <a:t>Watch MindTrack in action:</a:t>
            </a:r>
            <a:endParaRPr lang="en-US" sz="1100" dirty="0"/>
          </a:p>
        </p:txBody>
      </p:sp>
      <p:sp>
        <p:nvSpPr>
          <p:cNvPr id="13" name="QR placeholder"/>
          <p:cNvSpPr/>
          <p:nvPr/>
        </p:nvSpPr>
        <p:spPr>
          <a:xfrm>
            <a:off x="5943600" y="1481328"/>
            <a:ext cx="1097280" cy="1097280"/>
          </a:xfrm>
          <a:prstGeom prst="roundRect">
            <a:avLst>
              <a:gd name="adj" fmla="val 5000"/>
            </a:avLst>
          </a:prstGeom>
          <a:solidFill>
            <a:srgbClr val="FFFFFF">
              <a:alpha val="8000"/>
            </a:srgbClr>
          </a:solidFill>
          <a:ln w="12700">
            <a:solidFill>
              <a:srgbClr val="C9CCE0"/>
            </a:solidFill>
            <a:prstDash val="dash"/>
          </a:ln>
        </p:spPr>
      </p:sp>
      <p:pic>
        <p:nvPicPr>
          <p:cNvPr id="14" name="QR icon" descr="s/LuQrCode_a.png">    </p:cNvPr>
          <p:cNvPicPr>
            <a:picLocks noChangeAspect="1"/>
          </p:cNvPicPr>
          <p:nvPr/>
        </p:nvPicPr>
        <p:blipFill>
          <a:blip r:embed="rId5"/>
          <a:stretch>
            <a:fillRect/>
          </a:stretch>
        </p:blipFill>
        <p:spPr>
          <a:xfrm>
            <a:off x="6263640" y="1691640"/>
            <a:ext cx="457200" cy="457200"/>
          </a:xfrm>
          <a:prstGeom prst="rect">
            <a:avLst/>
          </a:prstGeom>
        </p:spPr>
      </p:pic>
      <p:sp>
        <p:nvSpPr>
          <p:cNvPr id="15" name="Text 8"/>
          <p:cNvSpPr txBox="1"/>
          <p:nvPr/>
        </p:nvSpPr>
        <p:spPr>
          <a:xfrm>
            <a:off x="5943600" y="2212848"/>
            <a:ext cx="1097280" cy="182880"/>
          </a:xfrm>
          <a:prstGeom prst="rect">
            <a:avLst/>
          </a:prstGeom>
          <a:noFill/>
          <a:ln/>
        </p:spPr>
        <p:txBody>
          <a:bodyPr wrap="square" lIns="0" tIns="0" rIns="0" bIns="0" rtlCol="0" anchor="ctr"/>
          <a:lstStyle/>
          <a:p>
            <a:pPr algn="ctr" indent="0" marL="0">
              <a:buNone/>
            </a:pPr>
            <a:r>
              <a:rPr lang="en-US" sz="800" dirty="0">
                <a:solidFill>
                  <a:srgbClr val="C9CCE0"/>
                </a:solidFill>
              </a:rPr>
              <a:t>QR code</a:t>
            </a:r>
            <a:endParaRPr lang="en-US" sz="800" dirty="0"/>
          </a:p>
        </p:txBody>
      </p:sp>
      <p:sp>
        <p:nvSpPr>
          <p:cNvPr id="16" name="Demo link"/>
          <p:cNvSpPr txBox="1"/>
          <p:nvPr/>
        </p:nvSpPr>
        <p:spPr>
          <a:xfrm>
            <a:off x="7178040" y="1481328"/>
            <a:ext cx="1371600" cy="548640"/>
          </a:xfrm>
          <a:prstGeom prst="rect">
            <a:avLst/>
          </a:prstGeom>
          <a:noFill/>
          <a:ln/>
        </p:spPr>
        <p:txBody>
          <a:bodyPr wrap="square" lIns="0" tIns="0" rIns="0" bIns="0" rtlCol="0" anchor="t"/>
          <a:lstStyle/>
          <a:p>
            <a:pPr indent="0" marL="0">
              <a:buNone/>
            </a:pPr>
            <a:r>
              <a:rPr lang="en-US" sz="1050" b="1" dirty="0">
                <a:solidFill>
                  <a:srgbClr val="C9CCE0"/>
                </a:solidFill>
              </a:rPr>
              <a:t>Link</a:t>
            </a:r>
            <a:endParaRPr lang="en-US" sz="1050" dirty="0"/>
          </a:p>
          <a:p>
            <a:pPr indent="0" marL="0">
              <a:buNone/>
            </a:pPr>
            <a:r>
              <a:rPr lang="en-US" sz="1050" dirty="0">
                <a:solidFill>
                  <a:srgbClr val="FFFFFF"/>
                </a:solidFill>
              </a:rPr>
              <a:t>[App link]</a:t>
            </a:r>
            <a:endParaRPr lang="en-US" sz="1050" dirty="0"/>
          </a:p>
        </p:txBody>
      </p:sp>
      <p:pic>
        <p:nvPicPr>
          <p:cNvPr id="17" name="Mood line rising" descr="a/line_close.png">    </p:cNvPr>
          <p:cNvPicPr>
            <a:picLocks noChangeAspect="1"/>
          </p:cNvPicPr>
          <p:nvPr/>
        </p:nvPicPr>
        <p:blipFill>
          <a:blip r:embed="rId6"/>
          <a:stretch>
            <a:fillRect/>
          </a:stretch>
        </p:blipFill>
        <p:spPr>
          <a:xfrm>
            <a:off x="0" y="3520440"/>
            <a:ext cx="9144000" cy="1371600"/>
          </a:xfrm>
          <a:prstGeom prst="rect">
            <a:avLst/>
          </a:prstGeom>
        </p:spPr>
      </p:pic>
      <p:pic>
        <p:nvPicPr>
          <p:cNvPr id="18" name="Doodle sparkle_w" descr="d/sparkle_w.png">    </p:cNvPr>
          <p:cNvPicPr>
            <a:picLocks noChangeAspect="1"/>
          </p:cNvPicPr>
          <p:nvPr/>
        </p:nvPicPr>
        <p:blipFill>
          <a:blip r:embed="rId7"/>
          <a:stretch>
            <a:fillRect/>
          </a:stretch>
        </p:blipFill>
        <p:spPr>
          <a:xfrm>
            <a:off x="5074920" y="502920"/>
            <a:ext cx="411480" cy="411480"/>
          </a:xfrm>
          <a:prstGeom prst="rect">
            <a:avLst/>
          </a:prstGeom>
        </p:spPr>
      </p:pic>
      <p:pic>
        <p:nvPicPr>
          <p:cNvPr id="19" name="Doodle heart_c" descr="d/heart_c.png">    </p:cNvPr>
          <p:cNvPicPr>
            <a:picLocks noChangeAspect="1"/>
          </p:cNvPicPr>
          <p:nvPr/>
        </p:nvPicPr>
        <p:blipFill>
          <a:blip r:embed="rId8"/>
          <a:stretch>
            <a:fillRect/>
          </a:stretch>
        </p:blipFill>
        <p:spPr>
          <a:xfrm>
            <a:off x="8412480" y="2926080"/>
            <a:ext cx="457200" cy="438912"/>
          </a:xfrm>
          <a:prstGeom prst="rect">
            <a:avLst/>
          </a:prstGeom>
        </p:spPr>
      </p:pic>
    </p:spTree>
  </p:cSld>
  <p:clrMapOvr>
    <a:masterClrMapping/>
  </p:clrMapOvr>
</p:sld>
</file>

<file path=ppt/theme/theme1.xml><?xml version="1.0" encoding="utf-8"?>
<a:theme xmlns:a="http://schemas.openxmlformats.org/drawingml/2006/main" name="MindTrack Ink">
  <a:themeElements>
    <a:clrScheme name="MindTrack Ink">
      <a:dk1>
        <a:srgbClr val="23263A"/>
      </a:dk1>
      <a:lt1>
        <a:srgbClr val="FFFFFF"/>
      </a:lt1>
      <a:dk2>
        <a:srgbClr val="1B1E3A"/>
      </a:dk2>
      <a:lt2>
        <a:srgbClr val="F3F4F8"/>
      </a:lt2>
      <a:accent1>
        <a:srgbClr val="3F44A0"/>
      </a:accent1>
      <a:accent2>
        <a:srgbClr val="F0B13F"/>
      </a:accent2>
      <a:accent3>
        <a:srgbClr val="6B70C9"/>
      </a:accent3>
      <a:accent4>
        <a:srgbClr val="4E9BC9"/>
      </a:accent4>
      <a:accent5>
        <a:srgbClr val="5DAA7E"/>
      </a:accent5>
      <a:accent6>
        <a:srgbClr val="E57A5A"/>
      </a:accent6>
      <a:hlink>
        <a:srgbClr val="3F44A0"/>
      </a:hlink>
      <a:folHlink>
        <a:srgbClr val="1B1E3A"/>
      </a:folHlink>
    </a:clrScheme>
    <a:fontScheme name="MindTrack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MindTrack – Mini Project Presentation</dc:title>
  <dc:subject>PptxGenJS Presentation</dc:subject>
  <dc:creator>PptxGenJS</dc:creator>
  <cp:lastModifiedBy>PptxGenJS</cp:lastModifiedBy>
  <cp:revision>1</cp:revision>
  <dcterms:created xsi:type="dcterms:W3CDTF">2026-10-14T19:43:07Z</dcterms:created>
  <dcterms:modified xsi:type="dcterms:W3CDTF">2026-10-14T19:43:07Z</dcterms:modified>
</cp:coreProperties>
</file>