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d113695-063f-3974-c7fd-65816ff0b1de}">
          <p14:sldIdLst>
            <p14:sldId id="256"/>
          </p14:sldIdLst>
        </p14:section>
        <p14:section name="Context" id="{3941dd15-aadf-7df4-546c-893cec322cb2}">
          <p14:sldIdLst>
            <p14:sldId id="257"/>
          </p14:sldIdLst>
        </p14:section>
        <p14:section name="Product" id="{c3e2b4b3-c40f-5d59-ce02-872dcfdc28e7}">
          <p14:sldIdLst>
            <p14:sldId id="258"/>
          </p14:sldIdLst>
        </p14:section>
        <p14:section name="Engineering" id="{18325f10-2241-736e-073a-b845439a5cb6}">
          <p14:sldIdLst>
            <p14:sldId id="259"/>
            <p14:sldId id="260"/>
            <p14:sldId id="261"/>
          </p14:sldIdLst>
        </p14:section>
        <p14:section name="Experience" id="{684c32ff-3229-181d-8a22-45e8004be857}">
          <p14:sldIdLst>
            <p14:sldId id="262"/>
            <p14:sldId id="263"/>
          </p14:sldIdLst>
        </p14:section>
        <p14:section name="Close" id="{5341dc4b-f71f-0099-80c9-3a5a54518fae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0667D"/>
                </a:solidFill>
                <a:latin typeface="+mn-lt"/>
              </a:defRPr>
            </a:pPr>
            <a:r>
              <a:rPr sz="900" b="0" i="0" u="none" strike="noStrike">
                <a:solidFill>
                  <a:srgbClr val="60667D"/>
                </a:solidFill>
                <a:latin typeface="+mn-lt"/>
              </a:rPr>
              <a:t>Mood (1 = very low, 5 = great), sample data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Mood</c:v>
                </c:pt>
              </c:strCache>
            </c:strRef>
          </c:tx>
          <c:spPr>
            <a:solidFill>
              <a:srgbClr val="3F44A0"/>
            </a:solidFill>
            <a:ln w="25400" cap="flat">
              <a:solidFill>
                <a:srgbClr val="3F44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F44A0"/>
              </a:solidFill>
              <a:ln w="9525" cap="flat">
                <a:solidFill>
                  <a:srgbClr val="3F44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4</c:v>
                </c:pt>
                <c:pt idx="10">
                  <c:v>3</c:v>
                </c:pt>
                <c:pt idx="11">
                  <c:v>5</c:v>
                </c:pt>
                <c:pt idx="12">
                  <c:v>4</c:v>
                </c:pt>
                <c:pt idx="13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066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6350" cap="flat">
              <a:solidFill>
                <a:srgbClr val="E6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066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MindTrack, the team and the guide. The line on the right is the core idea: small daily check-ins that add up to a picture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image" Target="../media/image-1003-4.png"/><Relationship Id="rId5" Type="http://schemas.openxmlformats.org/officeDocument/2006/relationships/image" Target="../media/image-1003-5.png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do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02336"/>
            <a:ext cx="100584" cy="100584"/>
          </a:xfrm>
          <a:prstGeom prst="rect">
            <a:avLst/>
          </a:prstGeom>
        </p:spPr>
      </p:pic>
      <p:pic>
        <p:nvPicPr>
          <p:cNvPr id="3" name="Image 1" descr="a/do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402336"/>
            <a:ext cx="100584" cy="100584"/>
          </a:xfrm>
          <a:prstGeom prst="rect">
            <a:avLst/>
          </a:prstGeom>
        </p:spPr>
      </p:pic>
      <p:pic>
        <p:nvPicPr>
          <p:cNvPr id="4" name="Image 2" descr="a/do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402336"/>
            <a:ext cx="100584" cy="100584"/>
          </a:xfrm>
          <a:prstGeom prst="rect">
            <a:avLst/>
          </a:prstGeom>
        </p:spPr>
      </p:pic>
      <p:pic>
        <p:nvPicPr>
          <p:cNvPr id="5" name="Image 3" descr="a/do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402336"/>
            <a:ext cx="100584" cy="100584"/>
          </a:xfrm>
          <a:prstGeom prst="rect">
            <a:avLst/>
          </a:prstGeom>
        </p:spPr>
      </p:pic>
      <p:pic>
        <p:nvPicPr>
          <p:cNvPr id="6" name="Image 4" descr="a/dot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402336"/>
            <a:ext cx="100584" cy="10058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02920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67D"/>
                </a:solidFill>
              </a:rPr>
              <a:t>MindTrack  ·  Privacy-first mood journaling</a:t>
            </a:r>
            <a:endParaRPr lang="en-US" sz="9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150" kern="0" dirty="0">
                <a:solidFill>
                  <a:srgbClr val="3F44A0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1"/>
          <p:cNvSpPr/>
          <p:nvPr>
            <p:ph idx="107" type="title" hasCustomPrompt="1"/>
          </p:nvPr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7.png"/><Relationship Id="rId9" Type="http://schemas.openxmlformats.org/officeDocument/2006/relationships/image" Target="../media/image-2-7.png"/><Relationship Id="rId10" Type="http://schemas.openxmlformats.org/officeDocument/2006/relationships/image" Target="../media/image-2-7.png"/><Relationship Id="rId11" Type="http://schemas.openxmlformats.org/officeDocument/2006/relationships/image" Target="../media/image-2-7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3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548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B13F"/>
                </a:solidFill>
              </a:rPr>
              <a:t>COLLEGE MINI PROJECT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8412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MindTrack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7373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E0"/>
                </a:solidFill>
              </a:rPr>
              <a:t>A Privacy-First Mood Journaling &amp;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9CCE0"/>
                </a:solidFill>
              </a:rPr>
              <a:t>Self-Reflection Web App</a:t>
            </a:r>
            <a:endParaRPr lang="en-US" sz="17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B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thoughts deserve a place to land.</a:t>
            </a:r>
            <a:endParaRPr lang="en-US" sz="1500" dirty="0"/>
          </a:p>
        </p:txBody>
      </p:sp>
      <p:sp>
        <p:nvSpPr>
          <p:cNvPr id="6" name="Team label"/>
          <p:cNvSpPr txBox="1"/>
          <p:nvPr/>
        </p:nvSpPr>
        <p:spPr>
          <a:xfrm>
            <a:off x="54864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CCE0"/>
                </a:solidFill>
              </a:rPr>
              <a:t>TEAM</a:t>
            </a:r>
            <a:endParaRPr lang="en-US" sz="900" dirty="0"/>
          </a:p>
        </p:txBody>
      </p:sp>
      <p:sp>
        <p:nvSpPr>
          <p:cNvPr id="7" name="Member 1"/>
          <p:cNvSpPr txBox="1"/>
          <p:nvPr/>
        </p:nvSpPr>
        <p:spPr>
          <a:xfrm>
            <a:off x="548640" y="32735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[Member 1 Name – Roll No.]</a:t>
            </a:r>
            <a:endParaRPr lang="en-US" sz="1100" dirty="0"/>
          </a:p>
        </p:txBody>
      </p:sp>
      <p:sp>
        <p:nvSpPr>
          <p:cNvPr id="8" name="Member 2"/>
          <p:cNvSpPr txBox="1"/>
          <p:nvPr/>
        </p:nvSpPr>
        <p:spPr>
          <a:xfrm>
            <a:off x="2834640" y="32735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[Member 2 Name – Roll No.]</a:t>
            </a:r>
            <a:endParaRPr lang="en-US" sz="1100" dirty="0"/>
          </a:p>
        </p:txBody>
      </p:sp>
      <p:sp>
        <p:nvSpPr>
          <p:cNvPr id="9" name="Member 3"/>
          <p:cNvSpPr txBox="1"/>
          <p:nvPr/>
        </p:nvSpPr>
        <p:spPr>
          <a:xfrm>
            <a:off x="548640" y="3547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[Member 3 Name – Roll No.]</a:t>
            </a:r>
            <a:endParaRPr lang="en-US" sz="1100" dirty="0"/>
          </a:p>
        </p:txBody>
      </p:sp>
      <p:sp>
        <p:nvSpPr>
          <p:cNvPr id="10" name="Member 4"/>
          <p:cNvSpPr txBox="1"/>
          <p:nvPr/>
        </p:nvSpPr>
        <p:spPr>
          <a:xfrm>
            <a:off x="2834640" y="3547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[Member 4 Name – Roll No.]</a:t>
            </a:r>
            <a:endParaRPr lang="en-US" sz="1100" dirty="0"/>
          </a:p>
        </p:txBody>
      </p:sp>
      <p:sp>
        <p:nvSpPr>
          <p:cNvPr id="11" name="Guide"/>
          <p:cNvSpPr txBox="1"/>
          <p:nvPr/>
        </p:nvSpPr>
        <p:spPr>
          <a:xfrm>
            <a:off x="548640" y="4005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E0"/>
                </a:solidFill>
              </a:rPr>
              <a:t>Guided by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[Guide Name, Designation]</a:t>
            </a:r>
            <a:endParaRPr lang="en-US" sz="1100" dirty="0"/>
          </a:p>
        </p:txBody>
      </p:sp>
      <p:sp>
        <p:nvSpPr>
          <p:cNvPr id="12" name="College and date"/>
          <p:cNvSpPr txBox="1"/>
          <p:nvPr/>
        </p:nvSpPr>
        <p:spPr>
          <a:xfrm>
            <a:off x="548640" y="4297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E0"/>
                </a:solidFill>
              </a:rPr>
              <a:t>[Department], [College Name]  ·  [Month Year]</a:t>
            </a:r>
            <a:endParaRPr lang="en-US" sz="1100" dirty="0"/>
          </a:p>
        </p:txBody>
      </p:sp>
      <p:pic>
        <p:nvPicPr>
          <p:cNvPr id="13" name="Mood line graphic" descr="a/line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868680"/>
            <a:ext cx="3566160" cy="2459736"/>
          </a:xfrm>
          <a:prstGeom prst="rect">
            <a:avLst/>
          </a:prstGeom>
        </p:spPr>
      </p:pic>
      <p:sp>
        <p:nvSpPr>
          <p:cNvPr id="14" name="Graphic caption"/>
          <p:cNvSpPr txBox="1"/>
          <p:nvPr/>
        </p:nvSpPr>
        <p:spPr>
          <a:xfrm>
            <a:off x="5349240" y="3456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CCE0"/>
                </a:solidFill>
              </a:rPr>
              <a:t>Illustrative two-week mood trend, very low → great</a:t>
            </a:r>
            <a:endParaRPr lang="en-US" sz="900" dirty="0"/>
          </a:p>
        </p:txBody>
      </p:sp>
      <p:pic>
        <p:nvPicPr>
          <p:cNvPr id="15" name="Emoji happy" descr="e/hap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838505"/>
            <a:ext cx="219456" cy="219456"/>
          </a:xfrm>
          <a:prstGeom prst="rect">
            <a:avLst/>
          </a:prstGeom>
        </p:spPr>
      </p:pic>
      <p:pic>
        <p:nvPicPr>
          <p:cNvPr id="16" name="Emoji ok" descr="e/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03604"/>
            <a:ext cx="219456" cy="219456"/>
          </a:xfrm>
          <a:prstGeom prst="rect">
            <a:avLst/>
          </a:prstGeom>
        </p:spPr>
      </p:pic>
      <p:pic>
        <p:nvPicPr>
          <p:cNvPr id="17" name="Emoji neutral" descr="e/neut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968703"/>
            <a:ext cx="219456" cy="219456"/>
          </a:xfrm>
          <a:prstGeom prst="rect">
            <a:avLst/>
          </a:prstGeom>
        </p:spPr>
      </p:pic>
      <p:pic>
        <p:nvPicPr>
          <p:cNvPr id="18" name="Emoji meh" descr="e/me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533802"/>
            <a:ext cx="219456" cy="219456"/>
          </a:xfrm>
          <a:prstGeom prst="rect">
            <a:avLst/>
          </a:prstGeom>
        </p:spPr>
      </p:pic>
      <p:pic>
        <p:nvPicPr>
          <p:cNvPr id="19" name="Emoji tired" descr="e/ti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098902"/>
            <a:ext cx="219456" cy="219456"/>
          </a:xfrm>
          <a:prstGeom prst="rect">
            <a:avLst/>
          </a:prstGeom>
        </p:spPr>
      </p:pic>
      <p:pic>
        <p:nvPicPr>
          <p:cNvPr id="20" name="Doodle sparkle_a" descr="d/sparkle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11480"/>
            <a:ext cx="384048" cy="384048"/>
          </a:xfrm>
          <a:prstGeom prst="rect">
            <a:avLst/>
          </a:prstGeom>
        </p:spPr>
      </p:pic>
      <p:pic>
        <p:nvPicPr>
          <p:cNvPr id="21" name="Doodle note_w" descr="d/note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931920"/>
            <a:ext cx="868680" cy="704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6" type="body" hasCustomPrompt="1"/>
          </p:nvPr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F44A0"/>
                </a:solidFill>
              </a:rPr>
              <a:t>02 / 09   WHY MINDTRACK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7" type="title" hasCustomPrompt="1"/>
          </p:nvPr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Problem panel"/>
          <p:cNvSpPr/>
          <p:nvPr/>
        </p:nvSpPr>
        <p:spPr>
          <a:xfrm>
            <a:off x="502920" y="1298448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pic>
        <p:nvPicPr>
          <p:cNvPr id="6" name="Emoji shrug" descr="e/shr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65376"/>
            <a:ext cx="292608" cy="292608"/>
          </a:xfrm>
          <a:prstGeom prst="rect">
            <a:avLst/>
          </a:prstGeom>
        </p:spPr>
      </p:pic>
      <p:sp>
        <p:nvSpPr>
          <p:cNvPr id="7" name="Problem 1"/>
          <p:cNvSpPr txBox="1"/>
          <p:nvPr/>
        </p:nvSpPr>
        <p:spPr>
          <a:xfrm>
            <a:off x="1143000" y="188366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Students and young adults rarely track how they feel or why.</a:t>
            </a:r>
            <a:endParaRPr lang="en-US" sz="1250" dirty="0"/>
          </a:p>
        </p:txBody>
      </p:sp>
      <p:pic>
        <p:nvPicPr>
          <p:cNvPr id="8" name="Emoji puzzle" descr="e/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05456"/>
            <a:ext cx="292608" cy="292608"/>
          </a:xfrm>
          <a:prstGeom prst="rect">
            <a:avLst/>
          </a:prstGeom>
        </p:spPr>
      </p:pic>
      <p:sp>
        <p:nvSpPr>
          <p:cNvPr id="9" name="Problem 2"/>
          <p:cNvSpPr txBox="1"/>
          <p:nvPr/>
        </p:nvSpPr>
        <p:spPr>
          <a:xfrm>
            <a:off x="1143000" y="252374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Most apps do only one thing: mood logs, journaling, or a chatbot.</a:t>
            </a:r>
            <a:endParaRPr lang="en-US" sz="1250" dirty="0"/>
          </a:p>
        </p:txBody>
      </p:sp>
      <p:pic>
        <p:nvPicPr>
          <p:cNvPr id="10" name="Emoji think" descr="e/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45536"/>
            <a:ext cx="292608" cy="292608"/>
          </a:xfrm>
          <a:prstGeom prst="rect">
            <a:avLst/>
          </a:prstGeom>
        </p:spPr>
      </p:pic>
      <p:sp>
        <p:nvSpPr>
          <p:cNvPr id="11" name="Problem 3"/>
          <p:cNvSpPr txBox="1"/>
          <p:nvPr/>
        </p:nvSpPr>
        <p:spPr>
          <a:xfrm>
            <a:off x="1143000" y="316382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Generic insights feel like black boxes, or worse, like diagnoses.</a:t>
            </a:r>
            <a:endParaRPr lang="en-US" sz="1250" dirty="0"/>
          </a:p>
        </p:txBody>
      </p:sp>
      <p:pic>
        <p:nvPicPr>
          <p:cNvPr id="12" name="Emoji lock" descr="e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85616"/>
            <a:ext cx="292608" cy="292608"/>
          </a:xfrm>
          <a:prstGeom prst="rect">
            <a:avLst/>
          </a:prstGeom>
        </p:spPr>
      </p:pic>
      <p:sp>
        <p:nvSpPr>
          <p:cNvPr id="13" name="Problem 4"/>
          <p:cNvSpPr txBox="1"/>
          <p:nvPr/>
        </p:nvSpPr>
        <p:spPr>
          <a:xfrm>
            <a:off x="1143000" y="380390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Private thoughts deserve real privacy protection.</a:t>
            </a:r>
            <a:endParaRPr lang="en-US" sz="1250" dirty="0"/>
          </a:p>
        </p:txBody>
      </p:sp>
      <p:pic>
        <p:nvPicPr>
          <p:cNvPr id="14" name="Doodle curl_i" descr="d/curl_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724912"/>
            <a:ext cx="512064" cy="384048"/>
          </a:xfrm>
          <a:prstGeom prst="rect">
            <a:avLst/>
          </a:prstGeom>
        </p:spPr>
      </p:pic>
      <p:sp>
        <p:nvSpPr>
          <p:cNvPr id="15" name="Objectives panel"/>
          <p:cNvSpPr/>
          <p:nvPr/>
        </p:nvSpPr>
        <p:spPr>
          <a:xfrm>
            <a:off x="4846320" y="1298448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CDFE9"/>
            </a:solidFill>
            <a:prstDash val="solid"/>
          </a:ln>
        </p:spPr>
      </p:sp>
      <p:pic>
        <p:nvPicPr>
          <p:cNvPr id="16" name="Emoji target" descr="e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146304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074920" y="1444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do</a:t>
            </a:r>
            <a:endParaRPr lang="en-US" sz="1500" dirty="0"/>
          </a:p>
        </p:txBody>
      </p:sp>
      <p:pic>
        <p:nvPicPr>
          <p:cNvPr id="18" name="Check" descr="a/i_check_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1883664"/>
            <a:ext cx="201168" cy="201168"/>
          </a:xfrm>
          <a:prstGeom prst="rect">
            <a:avLst/>
          </a:prstGeom>
        </p:spPr>
      </p:pic>
      <p:sp>
        <p:nvSpPr>
          <p:cNvPr id="19" name="Objective 1"/>
          <p:cNvSpPr txBox="1"/>
          <p:nvPr/>
        </p:nvSpPr>
        <p:spPr>
          <a:xfrm>
            <a:off x="5394960" y="186537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Make daily mood check-ins quick and comforting.</a:t>
            </a:r>
            <a:endParaRPr lang="en-US" sz="1250" dirty="0"/>
          </a:p>
        </p:txBody>
      </p:sp>
      <p:pic>
        <p:nvPicPr>
          <p:cNvPr id="20" name="Check" descr="a/i_check_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2404872"/>
            <a:ext cx="201168" cy="201168"/>
          </a:xfrm>
          <a:prstGeom prst="rect">
            <a:avLst/>
          </a:prstGeom>
        </p:spPr>
      </p:pic>
      <p:sp>
        <p:nvSpPr>
          <p:cNvPr id="21" name="Objective 2"/>
          <p:cNvSpPr txBox="1"/>
          <p:nvPr/>
        </p:nvSpPr>
        <p:spPr>
          <a:xfrm>
            <a:off x="5394960" y="23865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Turn a user's own entries into understandable, non-diagnostic patterns.</a:t>
            </a:r>
            <a:endParaRPr lang="en-US" sz="1250" dirty="0"/>
          </a:p>
        </p:txBody>
      </p:sp>
      <p:pic>
        <p:nvPicPr>
          <p:cNvPr id="22" name="Check" descr="a/i_check_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926080"/>
            <a:ext cx="201168" cy="201168"/>
          </a:xfrm>
          <a:prstGeom prst="rect">
            <a:avLst/>
          </a:prstGeom>
        </p:spPr>
      </p:pic>
      <p:sp>
        <p:nvSpPr>
          <p:cNvPr id="23" name="Objective 3"/>
          <p:cNvSpPr txBox="1"/>
          <p:nvPr/>
        </p:nvSpPr>
        <p:spPr>
          <a:xfrm>
            <a:off x="5394960" y="29077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Encourage reflection with gentle CBT-inspired prompts.</a:t>
            </a:r>
            <a:endParaRPr lang="en-US" sz="1250" dirty="0"/>
          </a:p>
        </p:txBody>
      </p:sp>
      <p:pic>
        <p:nvPicPr>
          <p:cNvPr id="24" name="Check" descr="a/i_check_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3447288"/>
            <a:ext cx="201168" cy="201168"/>
          </a:xfrm>
          <a:prstGeom prst="rect">
            <a:avLst/>
          </a:prstGeom>
        </p:spPr>
      </p:pic>
      <p:sp>
        <p:nvSpPr>
          <p:cNvPr id="25" name="Objective 4"/>
          <p:cNvSpPr txBox="1"/>
          <p:nvPr/>
        </p:nvSpPr>
        <p:spPr>
          <a:xfrm>
            <a:off x="5394960" y="34290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Protect journal text with encryption.</a:t>
            </a:r>
            <a:endParaRPr lang="en-US" sz="1250" dirty="0"/>
          </a:p>
        </p:txBody>
      </p:sp>
      <p:pic>
        <p:nvPicPr>
          <p:cNvPr id="26" name="Check" descr="a/i_check_i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968496"/>
            <a:ext cx="201168" cy="201168"/>
          </a:xfrm>
          <a:prstGeom prst="rect">
            <a:avLst/>
          </a:prstGeom>
        </p:spPr>
      </p:pic>
      <p:sp>
        <p:nvSpPr>
          <p:cNvPr id="27" name="Objective 5"/>
          <p:cNvSpPr txBox="1"/>
          <p:nvPr/>
        </p:nvSpPr>
        <p:spPr>
          <a:xfrm>
            <a:off x="5394960" y="395020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</a:rPr>
              <a:t>Let users export a counselor-friendly PDF, on their terms.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6" type="body" hasCustomPrompt="1"/>
          </p:nvPr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F44A0"/>
                </a:solidFill>
              </a:rPr>
              <a:t>03 / 09   WHAT IT DOES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7" type="title" hasCustomPrompt="1"/>
          </p:nvPr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Emoji disc"/>
          <p:cNvSpPr/>
          <p:nvPr/>
        </p:nvSpPr>
        <p:spPr>
          <a:xfrm>
            <a:off x="502920" y="1353312"/>
            <a:ext cx="548640" cy="54864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5" name="Emoji smile" descr="e/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1474013"/>
            <a:ext cx="307238" cy="307238"/>
          </a:xfrm>
          <a:prstGeom prst="rect">
            <a:avLst/>
          </a:prstGeom>
        </p:spPr>
      </p:pic>
      <p:pic>
        <p:nvPicPr>
          <p:cNvPr id="6" name="Doodle arrow_i" descr="d/arrow_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517904"/>
            <a:ext cx="77724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204825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0667D"/>
                </a:solidFill>
              </a:rPr>
              <a:t>STEP 1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24942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</a:t>
            </a:r>
            <a:endParaRPr lang="en-US" sz="1500" dirty="0"/>
          </a:p>
        </p:txBody>
      </p:sp>
      <p:sp>
        <p:nvSpPr>
          <p:cNvPr id="9" name="Feature 1"/>
          <p:cNvSpPr txBox="1"/>
          <p:nvPr/>
        </p:nvSpPr>
        <p:spPr>
          <a:xfrm>
            <a:off x="502920" y="2596896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</a:rPr>
              <a:t>Daily mood check-in (5 moods) + optional note and context tags</a:t>
            </a:r>
            <a:endParaRPr lang="en-US" sz="1150" dirty="0"/>
          </a:p>
        </p:txBody>
      </p:sp>
      <p:sp>
        <p:nvSpPr>
          <p:cNvPr id="10" name="Emoji disc"/>
          <p:cNvSpPr/>
          <p:nvPr/>
        </p:nvSpPr>
        <p:spPr>
          <a:xfrm>
            <a:off x="2162556" y="1353312"/>
            <a:ext cx="548640" cy="54864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11" name="Emoji notebook" descr="e/note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257" y="1474013"/>
            <a:ext cx="307238" cy="307238"/>
          </a:xfrm>
          <a:prstGeom prst="rect">
            <a:avLst/>
          </a:prstGeom>
        </p:spPr>
      </p:pic>
      <p:pic>
        <p:nvPicPr>
          <p:cNvPr id="12" name="Doodle arrow_i" descr="d/arrow_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788" y="1517904"/>
            <a:ext cx="77724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162556" y="204825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0667D"/>
                </a:solidFill>
              </a:rPr>
              <a:t>STEP 2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2162556" y="224942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</a:t>
            </a:r>
            <a:endParaRPr lang="en-US" sz="1500" dirty="0"/>
          </a:p>
        </p:txBody>
      </p:sp>
      <p:sp>
        <p:nvSpPr>
          <p:cNvPr id="15" name="Feature 2"/>
          <p:cNvSpPr txBox="1"/>
          <p:nvPr/>
        </p:nvSpPr>
        <p:spPr>
          <a:xfrm>
            <a:off x="2162556" y="2596896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</a:rPr>
              <a:t>Private journal: create, edit, delete, history</a:t>
            </a:r>
            <a:endParaRPr lang="en-US" sz="1150" dirty="0"/>
          </a:p>
        </p:txBody>
      </p:sp>
      <p:sp>
        <p:nvSpPr>
          <p:cNvPr id="16" name="Emoji disc"/>
          <p:cNvSpPr/>
          <p:nvPr/>
        </p:nvSpPr>
        <p:spPr>
          <a:xfrm>
            <a:off x="3822192" y="1353312"/>
            <a:ext cx="548640" cy="54864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17" name="Emoji chart" descr="e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2893" y="1474013"/>
            <a:ext cx="307238" cy="307238"/>
          </a:xfrm>
          <a:prstGeom prst="rect">
            <a:avLst/>
          </a:prstGeom>
        </p:spPr>
      </p:pic>
      <p:pic>
        <p:nvPicPr>
          <p:cNvPr id="18" name="Doodle arrow_i" descr="d/arrow_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1517904"/>
            <a:ext cx="77724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822192" y="204825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0667D"/>
                </a:solidFill>
              </a:rPr>
              <a:t>STEP 3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3822192" y="224942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21" name="Feature 3"/>
          <p:cNvSpPr txBox="1"/>
          <p:nvPr/>
        </p:nvSpPr>
        <p:spPr>
          <a:xfrm>
            <a:off x="3822192" y="2596896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</a:rPr>
              <a:t>Mood chart, top contexts, Mood × Context, evidence-based observations</a:t>
            </a:r>
            <a:endParaRPr lang="en-US" sz="1150" dirty="0"/>
          </a:p>
        </p:txBody>
      </p:sp>
      <p:sp>
        <p:nvSpPr>
          <p:cNvPr id="22" name="Emoji disc"/>
          <p:cNvSpPr/>
          <p:nvPr/>
        </p:nvSpPr>
        <p:spPr>
          <a:xfrm>
            <a:off x="5481828" y="1353312"/>
            <a:ext cx="548640" cy="54864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23" name="Emoji thought" descr="e/thou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2529" y="1474013"/>
            <a:ext cx="307238" cy="307238"/>
          </a:xfrm>
          <a:prstGeom prst="rect">
            <a:avLst/>
          </a:prstGeom>
        </p:spPr>
      </p:pic>
      <p:pic>
        <p:nvPicPr>
          <p:cNvPr id="24" name="Doodle arrow_i" descr="d/arrow_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5060" y="1517904"/>
            <a:ext cx="777240" cy="27432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481828" y="204825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0667D"/>
                </a:solidFill>
              </a:rPr>
              <a:t>STEP 4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5481828" y="224942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</a:t>
            </a:r>
            <a:endParaRPr lang="en-US" sz="1500" dirty="0"/>
          </a:p>
        </p:txBody>
      </p:sp>
      <p:sp>
        <p:nvSpPr>
          <p:cNvPr id="27" name="Feature 4"/>
          <p:cNvSpPr txBox="1"/>
          <p:nvPr/>
        </p:nvSpPr>
        <p:spPr>
          <a:xfrm>
            <a:off x="5481828" y="2596896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</a:rPr>
              <a:t>Reflection prompts with private answers</a:t>
            </a:r>
            <a:endParaRPr lang="en-US" sz="1150" dirty="0"/>
          </a:p>
        </p:txBody>
      </p:sp>
      <p:sp>
        <p:nvSpPr>
          <p:cNvPr id="28" name="Emoji disc"/>
          <p:cNvSpPr/>
          <p:nvPr/>
        </p:nvSpPr>
        <p:spPr>
          <a:xfrm>
            <a:off x="7141464" y="1353312"/>
            <a:ext cx="548640" cy="54864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29" name="Emoji page" descr="e/pa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2165" y="1474013"/>
            <a:ext cx="307238" cy="30723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141464" y="204825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0667D"/>
                </a:solidFill>
              </a:rPr>
              <a:t>STEP 5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7141464" y="224942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32" name="Feature 5"/>
          <p:cNvSpPr txBox="1"/>
          <p:nvPr/>
        </p:nvSpPr>
        <p:spPr>
          <a:xfrm>
            <a:off x="7141464" y="2596896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</a:rPr>
              <a:t>PDF reflection report (journal text only if the user opts in)</a:t>
            </a:r>
            <a:endParaRPr lang="en-US" sz="1150" dirty="0"/>
          </a:p>
        </p:txBody>
      </p:sp>
      <p:pic>
        <p:nvPicPr>
          <p:cNvPr id="33" name="Emoji tired" descr="e/ti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3310128"/>
            <a:ext cx="219456" cy="219456"/>
          </a:xfrm>
          <a:prstGeom prst="rect">
            <a:avLst/>
          </a:prstGeom>
        </p:spPr>
      </p:pic>
      <p:pic>
        <p:nvPicPr>
          <p:cNvPr id="34" name="Emoji meh" descr="e/me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3310128"/>
            <a:ext cx="219456" cy="219456"/>
          </a:xfrm>
          <a:prstGeom prst="rect">
            <a:avLst/>
          </a:prstGeom>
        </p:spPr>
      </p:pic>
      <p:pic>
        <p:nvPicPr>
          <p:cNvPr id="35" name="Emoji neutral" descr="e/neutr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560" y="3310128"/>
            <a:ext cx="219456" cy="219456"/>
          </a:xfrm>
          <a:prstGeom prst="rect">
            <a:avLst/>
          </a:prstGeom>
        </p:spPr>
      </p:pic>
      <p:pic>
        <p:nvPicPr>
          <p:cNvPr id="36" name="Emoji ok" descr="e/o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5880" y="3310128"/>
            <a:ext cx="219456" cy="219456"/>
          </a:xfrm>
          <a:prstGeom prst="rect">
            <a:avLst/>
          </a:prstGeom>
        </p:spPr>
      </p:pic>
      <p:pic>
        <p:nvPicPr>
          <p:cNvPr id="37" name="Emoji happy" descr="e/happ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0200" y="3310128"/>
            <a:ext cx="219456" cy="219456"/>
          </a:xfrm>
          <a:prstGeom prst="rect">
            <a:avLst/>
          </a:prstGeom>
        </p:spPr>
      </p:pic>
      <p:sp>
        <p:nvSpPr>
          <p:cNvPr id="38" name="Mindy band"/>
          <p:cNvSpPr/>
          <p:nvPr/>
        </p:nvSpPr>
        <p:spPr>
          <a:xfrm>
            <a:off x="502920" y="3730752"/>
            <a:ext cx="8156448" cy="786384"/>
          </a:xfrm>
          <a:prstGeom prst="roundRect">
            <a:avLst>
              <a:gd name="adj" fmla="val 9302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pic>
        <p:nvPicPr>
          <p:cNvPr id="39" name="Mindy" descr="a/mind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785616"/>
            <a:ext cx="521208" cy="676656"/>
          </a:xfrm>
          <a:prstGeom prst="rect">
            <a:avLst/>
          </a:prstGeom>
        </p:spPr>
      </p:pic>
      <p:sp>
        <p:nvSpPr>
          <p:cNvPr id="40" name="Mindy feature"/>
          <p:cNvSpPr txBox="1"/>
          <p:nvPr/>
        </p:nvSpPr>
        <p:spPr>
          <a:xfrm>
            <a:off x="1371600" y="3730752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Mindy</a:t>
            </a:r>
            <a:pPr indent="0" marL="0">
              <a:buNone/>
            </a:pPr>
            <a:r>
              <a:rPr lang="en-US" sz="1300" dirty="0">
                <a:solidFill>
                  <a:srgbClr val="23263A"/>
                </a:solidFill>
              </a:rPr>
              <a:t>  —  a friendly companion chatbot that supports the whole journey</a:t>
            </a:r>
            <a:endParaRPr lang="en-US" sz="1300" dirty="0"/>
          </a:p>
        </p:txBody>
      </p:sp>
      <p:pic>
        <p:nvPicPr>
          <p:cNvPr id="41" name="Doodle bubble_i" descr="d/bubble_i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6680" y="3803904"/>
            <a:ext cx="777240" cy="548640"/>
          </a:xfrm>
          <a:prstGeom prst="rect">
            <a:avLst/>
          </a:prstGeom>
        </p:spPr>
      </p:pic>
      <p:pic>
        <p:nvPicPr>
          <p:cNvPr id="42" name="Emoji wave" descr="e/wav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0" y="3886200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6" type="body" hasCustomPrompt="1"/>
          </p:nvPr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F44A0"/>
                </a:solidFill>
              </a:rPr>
              <a:t>04 / 09   HOW IT'S BUILT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7" type="title" hasCustomPrompt="1"/>
          </p:nvPr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600" dirty="0"/>
          </a:p>
        </p:txBody>
      </p:sp>
      <p:graphicFrame>
        <p:nvGraphicFramePr>
          <p:cNvPr id="5" name="St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E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Backend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Flask (Jinja2 templates), Flask-SQLAlchemy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Database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(local); PostgreSQL ready for production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Security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Werkzeug password hashing, Flask-WTF CSRF, Fernet encryption (cryptography)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Analysis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TextBlob sentiment, keyword-based theme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Visuals &amp; reports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Chart.js, ReportLab (PDF)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Frontend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vanilla JavaScript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Testing &amp; deployment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Docker, Gunicorn, Cloud Run + Firebase Hosting (prepared)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pic>
        <p:nvPicPr>
          <p:cNvPr id="5" name="Emoji snake" descr="e/sn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32788"/>
            <a:ext cx="237744" cy="237744"/>
          </a:xfrm>
          <a:prstGeom prst="rect">
            <a:avLst/>
          </a:prstGeom>
        </p:spPr>
      </p:pic>
      <p:pic>
        <p:nvPicPr>
          <p:cNvPr id="6" name="Emoji cabinet" descr="e/cabi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44268"/>
            <a:ext cx="237744" cy="237744"/>
          </a:xfrm>
          <a:prstGeom prst="rect">
            <a:avLst/>
          </a:prstGeom>
        </p:spPr>
      </p:pic>
      <p:pic>
        <p:nvPicPr>
          <p:cNvPr id="7" name="Emoji locked" descr="e/lock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55748"/>
            <a:ext cx="237744" cy="237744"/>
          </a:xfrm>
          <a:prstGeom prst="rect">
            <a:avLst/>
          </a:prstGeom>
        </p:spPr>
      </p:pic>
      <p:pic>
        <p:nvPicPr>
          <p:cNvPr id="8" name="Emoji brain" descr="e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967228"/>
            <a:ext cx="237744" cy="237744"/>
          </a:xfrm>
          <a:prstGeom prst="rect">
            <a:avLst/>
          </a:prstGeom>
        </p:spPr>
      </p:pic>
      <p:pic>
        <p:nvPicPr>
          <p:cNvPr id="9" name="Emoji bars" descr="e/b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378708"/>
            <a:ext cx="237744" cy="237744"/>
          </a:xfrm>
          <a:prstGeom prst="rect">
            <a:avLst/>
          </a:prstGeom>
        </p:spPr>
      </p:pic>
      <p:pic>
        <p:nvPicPr>
          <p:cNvPr id="10" name="Emoji art" descr="e/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790188"/>
            <a:ext cx="237744" cy="237744"/>
          </a:xfrm>
          <a:prstGeom prst="rect">
            <a:avLst/>
          </a:prstGeom>
        </p:spPr>
      </p:pic>
      <p:pic>
        <p:nvPicPr>
          <p:cNvPr id="11" name="Emoji test" descr="e/t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20166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6" type="body" hasCustomPrompt="1"/>
          </p:nvPr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F44A0"/>
                </a:solidFill>
              </a:rPr>
              <a:t>05 / 09   HOW IT FITS TOGETHER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7" type="title" hasCustomPrompt="1"/>
          </p:nvPr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Layer Browser"/>
          <p:cNvSpPr/>
          <p:nvPr/>
        </p:nvSpPr>
        <p:spPr>
          <a:xfrm>
            <a:off x="502920" y="1298448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1B1E3A"/>
          </a:solidFill>
          <a:ln w="9525">
            <a:solidFill>
              <a:srgbClr val="1B1E3A"/>
            </a:solidFill>
            <a:prstDash val="solid"/>
          </a:ln>
        </p:spPr>
      </p:sp>
      <p:pic>
        <p:nvPicPr>
          <p:cNvPr id="5" name="Emoji globe" descr="e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37160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0936" y="16093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</a:t>
            </a:r>
            <a:endParaRPr lang="en-US" sz="1150" dirty="0"/>
          </a:p>
        </p:txBody>
      </p:sp>
      <p:sp>
        <p:nvSpPr>
          <p:cNvPr id="7" name="Arrow"/>
          <p:cNvSpPr/>
          <p:nvPr/>
        </p:nvSpPr>
        <p:spPr>
          <a:xfrm>
            <a:off x="1993392" y="1655064"/>
            <a:ext cx="150876" cy="0"/>
          </a:xfrm>
          <a:prstGeom prst="line">
            <a:avLst/>
          </a:prstGeom>
          <a:noFill/>
          <a:ln w="15875">
            <a:solidFill>
              <a:srgbClr val="3F44A0"/>
            </a:solidFill>
            <a:prstDash val="solid"/>
            <a:tailEnd type="triangle"/>
          </a:ln>
        </p:spPr>
      </p:sp>
      <p:sp>
        <p:nvSpPr>
          <p:cNvPr id="8" name="Layer detail"/>
          <p:cNvSpPr/>
          <p:nvPr/>
        </p:nvSpPr>
        <p:spPr>
          <a:xfrm>
            <a:off x="502920" y="2103120"/>
            <a:ext cx="1463040" cy="2395728"/>
          </a:xfrm>
          <a:prstGeom prst="roundRect">
            <a:avLst>
              <a:gd name="adj" fmla="val 5000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0667D"/>
                </a:solidFill>
              </a:rPr>
              <a:t>CLIENT</a:t>
            </a:r>
            <a:endParaRPr lang="en-US" sz="850" dirty="0"/>
          </a:p>
        </p:txBody>
      </p:sp>
      <p:sp>
        <p:nvSpPr>
          <p:cNvPr id="10" name="Layer items"/>
          <p:cNvSpPr txBox="1"/>
          <p:nvPr/>
        </p:nvSpPr>
        <p:spPr>
          <a:xfrm>
            <a:off x="630936" y="2468880"/>
            <a:ext cx="12618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HTML, CSS, vanilla JS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Jinja2-rendered pages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Chart.js charts</a:t>
            </a:r>
            <a:endParaRPr lang="en-US" sz="1100" dirty="0"/>
          </a:p>
        </p:txBody>
      </p:sp>
      <p:sp>
        <p:nvSpPr>
          <p:cNvPr id="11" name="Layer Flask routes (blueprints)"/>
          <p:cNvSpPr/>
          <p:nvPr/>
        </p:nvSpPr>
        <p:spPr>
          <a:xfrm>
            <a:off x="2171700" y="1298448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1B1E3A"/>
          </a:solidFill>
          <a:ln w="9525">
            <a:solidFill>
              <a:srgbClr val="1B1E3A"/>
            </a:solidFill>
            <a:prstDash val="solid"/>
          </a:ln>
        </p:spPr>
      </p:sp>
      <p:pic>
        <p:nvPicPr>
          <p:cNvPr id="12" name="Emoji traffic" descr="e/traff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16" y="13716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99716" y="16093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Flask routes (blueprints)</a:t>
            </a:r>
            <a:endParaRPr lang="en-US" sz="1150" dirty="0"/>
          </a:p>
        </p:txBody>
      </p:sp>
      <p:sp>
        <p:nvSpPr>
          <p:cNvPr id="14" name="Arrow"/>
          <p:cNvSpPr/>
          <p:nvPr/>
        </p:nvSpPr>
        <p:spPr>
          <a:xfrm>
            <a:off x="3662172" y="1655064"/>
            <a:ext cx="150876" cy="0"/>
          </a:xfrm>
          <a:prstGeom prst="line">
            <a:avLst/>
          </a:prstGeom>
          <a:noFill/>
          <a:ln w="15875">
            <a:solidFill>
              <a:srgbClr val="3F44A0"/>
            </a:solidFill>
            <a:prstDash val="solid"/>
            <a:tailEnd type="triangle"/>
          </a:ln>
        </p:spPr>
      </p:sp>
      <p:sp>
        <p:nvSpPr>
          <p:cNvPr id="15" name="Layer detail"/>
          <p:cNvSpPr/>
          <p:nvPr/>
        </p:nvSpPr>
        <p:spPr>
          <a:xfrm>
            <a:off x="2171700" y="2103120"/>
            <a:ext cx="1463040" cy="2395728"/>
          </a:xfrm>
          <a:prstGeom prst="roundRect">
            <a:avLst>
              <a:gd name="adj" fmla="val 5000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299716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0667D"/>
                </a:solidFill>
              </a:rPr>
              <a:t>BLUEPRINTS</a:t>
            </a:r>
            <a:endParaRPr lang="en-US" sz="850" dirty="0"/>
          </a:p>
        </p:txBody>
      </p:sp>
      <p:sp>
        <p:nvSpPr>
          <p:cNvPr id="17" name="Layer items"/>
          <p:cNvSpPr txBox="1"/>
          <p:nvPr/>
        </p:nvSpPr>
        <p:spPr>
          <a:xfrm>
            <a:off x="2299716" y="2468880"/>
            <a:ext cx="12618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auth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dashboard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journal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insights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reports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mindy</a:t>
            </a:r>
            <a:endParaRPr lang="en-US" sz="1100" dirty="0"/>
          </a:p>
        </p:txBody>
      </p:sp>
      <p:sp>
        <p:nvSpPr>
          <p:cNvPr id="18" name="Layer Service layer"/>
          <p:cNvSpPr/>
          <p:nvPr/>
        </p:nvSpPr>
        <p:spPr>
          <a:xfrm>
            <a:off x="3840480" y="1298448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3F44A0"/>
          </a:solidFill>
          <a:ln w="9525">
            <a:solidFill>
              <a:srgbClr val="3F44A0"/>
            </a:solidFill>
            <a:prstDash val="solid"/>
          </a:ln>
        </p:spPr>
      </p:sp>
      <p:pic>
        <p:nvPicPr>
          <p:cNvPr id="19" name="Emoji gear" descr="e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137160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68496" y="16093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Service layer</a:t>
            </a:r>
            <a:endParaRPr lang="en-US" sz="1150" dirty="0"/>
          </a:p>
        </p:txBody>
      </p:sp>
      <p:sp>
        <p:nvSpPr>
          <p:cNvPr id="21" name="Arrow"/>
          <p:cNvSpPr/>
          <p:nvPr/>
        </p:nvSpPr>
        <p:spPr>
          <a:xfrm>
            <a:off x="5330952" y="1655064"/>
            <a:ext cx="150876" cy="0"/>
          </a:xfrm>
          <a:prstGeom prst="line">
            <a:avLst/>
          </a:prstGeom>
          <a:noFill/>
          <a:ln w="15875">
            <a:solidFill>
              <a:srgbClr val="3F44A0"/>
            </a:solidFill>
            <a:prstDash val="solid"/>
            <a:tailEnd type="triangle"/>
          </a:ln>
        </p:spPr>
      </p:sp>
      <p:sp>
        <p:nvSpPr>
          <p:cNvPr id="22" name="Layer detail"/>
          <p:cNvSpPr/>
          <p:nvPr/>
        </p:nvSpPr>
        <p:spPr>
          <a:xfrm>
            <a:off x="3840480" y="2103120"/>
            <a:ext cx="1463040" cy="2395728"/>
          </a:xfrm>
          <a:prstGeom prst="roundRect">
            <a:avLst>
              <a:gd name="adj" fmla="val 5000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968496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0667D"/>
                </a:solidFill>
              </a:rPr>
              <a:t>SERVICES</a:t>
            </a:r>
            <a:endParaRPr lang="en-US" sz="850" dirty="0"/>
          </a:p>
        </p:txBody>
      </p:sp>
      <p:sp>
        <p:nvSpPr>
          <p:cNvPr id="24" name="Layer items"/>
          <p:cNvSpPr txBox="1"/>
          <p:nvPr/>
        </p:nvSpPr>
        <p:spPr>
          <a:xfrm>
            <a:off x="3968496" y="2468880"/>
            <a:ext cx="12618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encryption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sentiment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themes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insights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reflection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reports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Mindy</a:t>
            </a:r>
            <a:endParaRPr lang="en-US" sz="1100" dirty="0"/>
          </a:p>
        </p:txBody>
      </p:sp>
      <p:sp>
        <p:nvSpPr>
          <p:cNvPr id="25" name="Layer SQLAlchemy models"/>
          <p:cNvSpPr/>
          <p:nvPr/>
        </p:nvSpPr>
        <p:spPr>
          <a:xfrm>
            <a:off x="5509260" y="1298448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1B1E3A"/>
          </a:solidFill>
          <a:ln w="9525">
            <a:solidFill>
              <a:srgbClr val="1B1E3A"/>
            </a:solidFill>
            <a:prstDash val="solid"/>
          </a:ln>
        </p:spPr>
      </p:sp>
      <p:pic>
        <p:nvPicPr>
          <p:cNvPr id="26" name="Emoji bricks" descr="e/bric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276" y="1371600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37276" y="16093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SQLAlchemy models</a:t>
            </a:r>
            <a:endParaRPr lang="en-US" sz="1150" dirty="0"/>
          </a:p>
        </p:txBody>
      </p:sp>
      <p:sp>
        <p:nvSpPr>
          <p:cNvPr id="28" name="Arrow"/>
          <p:cNvSpPr/>
          <p:nvPr/>
        </p:nvSpPr>
        <p:spPr>
          <a:xfrm>
            <a:off x="6999732" y="1655064"/>
            <a:ext cx="150876" cy="0"/>
          </a:xfrm>
          <a:prstGeom prst="line">
            <a:avLst/>
          </a:prstGeom>
          <a:noFill/>
          <a:ln w="15875">
            <a:solidFill>
              <a:srgbClr val="3F44A0"/>
            </a:solidFill>
            <a:prstDash val="solid"/>
            <a:tailEnd type="triangle"/>
          </a:ln>
        </p:spPr>
      </p:sp>
      <p:sp>
        <p:nvSpPr>
          <p:cNvPr id="29" name="Layer detail"/>
          <p:cNvSpPr/>
          <p:nvPr/>
        </p:nvSpPr>
        <p:spPr>
          <a:xfrm>
            <a:off x="5509260" y="2103120"/>
            <a:ext cx="1463040" cy="2395728"/>
          </a:xfrm>
          <a:prstGeom prst="roundRect">
            <a:avLst>
              <a:gd name="adj" fmla="val 5000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637276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0667D"/>
                </a:solidFill>
              </a:rPr>
              <a:t>DATA ACCESS</a:t>
            </a:r>
            <a:endParaRPr lang="en-US" sz="850" dirty="0"/>
          </a:p>
        </p:txBody>
      </p:sp>
      <p:sp>
        <p:nvSpPr>
          <p:cNvPr id="31" name="Layer items"/>
          <p:cNvSpPr txBox="1"/>
          <p:nvPr/>
        </p:nvSpPr>
        <p:spPr>
          <a:xfrm>
            <a:off x="5637276" y="2468880"/>
            <a:ext cx="12618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Flask-SQLAlchemy ORM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Queries scoped to the logged-in user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Encrypted text fields</a:t>
            </a:r>
            <a:endParaRPr lang="en-US" sz="1100" dirty="0"/>
          </a:p>
        </p:txBody>
      </p:sp>
      <p:sp>
        <p:nvSpPr>
          <p:cNvPr id="32" name="Layer Database"/>
          <p:cNvSpPr/>
          <p:nvPr/>
        </p:nvSpPr>
        <p:spPr>
          <a:xfrm>
            <a:off x="7178040" y="1298448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1B1E3A"/>
          </a:solidFill>
          <a:ln w="9525">
            <a:solidFill>
              <a:srgbClr val="1B1E3A"/>
            </a:solidFill>
            <a:prstDash val="solid"/>
          </a:ln>
        </p:spPr>
      </p:sp>
      <p:pic>
        <p:nvPicPr>
          <p:cNvPr id="33" name="Emoji cabinet" descr="e/cabin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1371600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306056" y="16093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Database</a:t>
            </a:r>
            <a:endParaRPr lang="en-US" sz="1150" dirty="0"/>
          </a:p>
        </p:txBody>
      </p:sp>
      <p:sp>
        <p:nvSpPr>
          <p:cNvPr id="35" name="Layer detail"/>
          <p:cNvSpPr/>
          <p:nvPr/>
        </p:nvSpPr>
        <p:spPr>
          <a:xfrm>
            <a:off x="7178040" y="2103120"/>
            <a:ext cx="1463040" cy="2395728"/>
          </a:xfrm>
          <a:prstGeom prst="roundRect">
            <a:avLst>
              <a:gd name="adj" fmla="val 5000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306056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0667D"/>
                </a:solidFill>
              </a:rPr>
              <a:t>STORAGE</a:t>
            </a:r>
            <a:endParaRPr lang="en-US" sz="850" dirty="0"/>
          </a:p>
        </p:txBody>
      </p:sp>
      <p:sp>
        <p:nvSpPr>
          <p:cNvPr id="37" name="Layer items"/>
          <p:cNvSpPr txBox="1"/>
          <p:nvPr/>
        </p:nvSpPr>
        <p:spPr>
          <a:xfrm>
            <a:off x="7306056" y="2468880"/>
            <a:ext cx="12618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SQLite (local)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263A"/>
                </a:solidFill>
              </a:rPr>
              <a:t>PostgreSQL ready for production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6" type="body" hasCustomPrompt="1"/>
          </p:nvPr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F44A0"/>
                </a:solidFill>
              </a:rPr>
              <a:t>06 / 09   TRUST BY DESIGN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7" type="title" hasCustomPrompt="1"/>
          </p:nvPr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&amp; Security</a:t>
            </a:r>
            <a:endParaRPr lang="en-US" sz="2600" dirty="0"/>
          </a:p>
        </p:txBody>
      </p:sp>
      <p:sp>
        <p:nvSpPr>
          <p:cNvPr id="4" name="Plaintext box"/>
          <p:cNvSpPr/>
          <p:nvPr/>
        </p:nvSpPr>
        <p:spPr>
          <a:xfrm>
            <a:off x="502920" y="1298448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0667D"/>
                </a:solidFill>
              </a:rPr>
              <a:t>WHAT THE USER WRITES</a:t>
            </a:r>
            <a:endParaRPr lang="en-US" sz="850" dirty="0"/>
          </a:p>
        </p:txBody>
      </p:sp>
      <p:sp>
        <p:nvSpPr>
          <p:cNvPr id="6" name="Sample entry"/>
          <p:cNvSpPr txBox="1"/>
          <p:nvPr/>
        </p:nvSpPr>
        <p:spPr>
          <a:xfrm>
            <a:off x="685800" y="160934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“Felt anxious before the exam, but the evening walk helped.”</a:t>
            </a:r>
            <a:endParaRPr lang="en-US" sz="1200" dirty="0"/>
          </a:p>
        </p:txBody>
      </p:sp>
      <p:pic>
        <p:nvPicPr>
          <p:cNvPr id="7" name="Emoji write" descr="e/wr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371600"/>
            <a:ext cx="219456" cy="219456"/>
          </a:xfrm>
          <a:prstGeom prst="rect">
            <a:avLst/>
          </a:prstGeom>
        </p:spPr>
      </p:pic>
      <p:pic>
        <p:nvPicPr>
          <p:cNvPr id="8" name="Doodle arrow_i" descr="d/arrow_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64208"/>
            <a:ext cx="548640" cy="192024"/>
          </a:xfrm>
          <a:prstGeom prst="rect">
            <a:avLst/>
          </a:prstGeom>
        </p:spPr>
      </p:pic>
      <p:sp>
        <p:nvSpPr>
          <p:cNvPr id="9" name="Encrypt disc"/>
          <p:cNvSpPr/>
          <p:nvPr/>
        </p:nvSpPr>
        <p:spPr>
          <a:xfrm>
            <a:off x="4279392" y="1463040"/>
            <a:ext cx="585216" cy="585216"/>
          </a:xfrm>
          <a:prstGeom prst="ellipse">
            <a:avLst/>
          </a:prstGeom>
          <a:solidFill>
            <a:srgbClr val="1B1E3A"/>
          </a:solidFill>
          <a:ln w="12700">
            <a:solidFill>
              <a:srgbClr val="1B1E3A"/>
            </a:solidFill>
            <a:prstDash val="solid"/>
          </a:ln>
        </p:spPr>
      </p:sp>
      <p:pic>
        <p:nvPicPr>
          <p:cNvPr id="10" name="Emoji locked" descr="e/lock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591056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69080" y="20756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E3A"/>
                </a:solidFill>
              </a:rPr>
              <a:t>Fernet</a:t>
            </a:r>
            <a:endParaRPr lang="en-US" sz="900" dirty="0"/>
          </a:p>
        </p:txBody>
      </p:sp>
      <p:pic>
        <p:nvPicPr>
          <p:cNvPr id="12" name="Doodle arrow_i" descr="d/arrow_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664208"/>
            <a:ext cx="548640" cy="192024"/>
          </a:xfrm>
          <a:prstGeom prst="rect">
            <a:avLst/>
          </a:prstGeom>
        </p:spPr>
      </p:pic>
      <p:sp>
        <p:nvSpPr>
          <p:cNvPr id="13" name="Ciphertext box"/>
          <p:cNvSpPr/>
          <p:nvPr/>
        </p:nvSpPr>
        <p:spPr>
          <a:xfrm>
            <a:off x="5532120" y="1298448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B1E3A"/>
          </a:solidFill>
          <a:ln w="9525">
            <a:solidFill>
              <a:srgbClr val="1B1E3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715000" y="1389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9CCE0"/>
                </a:solidFill>
              </a:rPr>
              <a:t>WHAT THE DATABASE STORES</a:t>
            </a:r>
            <a:endParaRPr lang="en-US" sz="850" dirty="0"/>
          </a:p>
        </p:txBody>
      </p:sp>
      <p:sp>
        <p:nvSpPr>
          <p:cNvPr id="15" name="Sample ciphertext"/>
          <p:cNvSpPr txBox="1"/>
          <p:nvPr/>
        </p:nvSpPr>
        <p:spPr>
          <a:xfrm>
            <a:off x="5715000" y="16276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B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gAAAAABn3Kx9vQ2mTz8pW1hRk…Lr8Tq0wZbE=</a:t>
            </a:r>
            <a:endParaRPr lang="en-US" sz="1100" dirty="0"/>
          </a:p>
        </p:txBody>
      </p:sp>
      <p:pic>
        <p:nvPicPr>
          <p:cNvPr id="16" name="Emoji lock" descr="e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371600"/>
            <a:ext cx="219456" cy="219456"/>
          </a:xfrm>
          <a:prstGeom prst="rect">
            <a:avLst/>
          </a:prstGeom>
        </p:spPr>
      </p:pic>
      <p:sp>
        <p:nvSpPr>
          <p:cNvPr id="17" name="Control 1"/>
          <p:cNvSpPr/>
          <p:nvPr/>
        </p:nvSpPr>
        <p:spPr>
          <a:xfrm>
            <a:off x="502920" y="2468880"/>
            <a:ext cx="1517904" cy="20299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CDFE9"/>
            </a:solidFill>
            <a:prstDash val="solid"/>
          </a:ln>
        </p:spPr>
      </p:sp>
      <p:sp>
        <p:nvSpPr>
          <p:cNvPr id="18" name="Emoji disc"/>
          <p:cNvSpPr/>
          <p:nvPr/>
        </p:nvSpPr>
        <p:spPr>
          <a:xfrm>
            <a:off x="649224" y="2615184"/>
            <a:ext cx="457200" cy="45720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19" name="Emoji key" descr="e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2715768"/>
            <a:ext cx="256032" cy="256032"/>
          </a:xfrm>
          <a:prstGeom prst="rect">
            <a:avLst/>
          </a:prstGeom>
        </p:spPr>
      </p:pic>
      <p:sp>
        <p:nvSpPr>
          <p:cNvPr id="20" name="Control text"/>
          <p:cNvSpPr txBox="1"/>
          <p:nvPr/>
        </p:nvSpPr>
        <p:spPr>
          <a:xfrm>
            <a:off x="649224" y="315468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</a:rPr>
              <a:t>Passwords stored only as secure hashes</a:t>
            </a:r>
            <a:endParaRPr lang="en-US" sz="1200" dirty="0"/>
          </a:p>
        </p:txBody>
      </p:sp>
      <p:sp>
        <p:nvSpPr>
          <p:cNvPr id="21" name="Control 2"/>
          <p:cNvSpPr/>
          <p:nvPr/>
        </p:nvSpPr>
        <p:spPr>
          <a:xfrm>
            <a:off x="2157984" y="2468880"/>
            <a:ext cx="1517904" cy="20299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CDFE9"/>
            </a:solidFill>
            <a:prstDash val="solid"/>
          </a:ln>
        </p:spPr>
      </p:sp>
      <p:sp>
        <p:nvSpPr>
          <p:cNvPr id="22" name="Emoji disc"/>
          <p:cNvSpPr/>
          <p:nvPr/>
        </p:nvSpPr>
        <p:spPr>
          <a:xfrm>
            <a:off x="2304288" y="2615184"/>
            <a:ext cx="457200" cy="45720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23" name="Emoji locked" descr="e/lock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872" y="2715768"/>
            <a:ext cx="256032" cy="256032"/>
          </a:xfrm>
          <a:prstGeom prst="rect">
            <a:avLst/>
          </a:prstGeom>
        </p:spPr>
      </p:pic>
      <p:sp>
        <p:nvSpPr>
          <p:cNvPr id="24" name="Control text"/>
          <p:cNvSpPr txBox="1"/>
          <p:nvPr/>
        </p:nvSpPr>
        <p:spPr>
          <a:xfrm>
            <a:off x="2304288" y="315468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</a:rPr>
              <a:t>Journal text, reflections and chats encrypted with Fernet</a:t>
            </a:r>
            <a:endParaRPr lang="en-US" sz="1200" dirty="0"/>
          </a:p>
        </p:txBody>
      </p:sp>
      <p:sp>
        <p:nvSpPr>
          <p:cNvPr id="25" name="Control 3"/>
          <p:cNvSpPr/>
          <p:nvPr/>
        </p:nvSpPr>
        <p:spPr>
          <a:xfrm>
            <a:off x="3813048" y="2468880"/>
            <a:ext cx="1517904" cy="20299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CDFE9"/>
            </a:solidFill>
            <a:prstDash val="solid"/>
          </a:ln>
        </p:spPr>
      </p:sp>
      <p:sp>
        <p:nvSpPr>
          <p:cNvPr id="26" name="Emoji disc"/>
          <p:cNvSpPr/>
          <p:nvPr/>
        </p:nvSpPr>
        <p:spPr>
          <a:xfrm>
            <a:off x="3959352" y="2615184"/>
            <a:ext cx="457200" cy="45720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27" name="Emoji user" descr="e/us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9936" y="2715768"/>
            <a:ext cx="256032" cy="256032"/>
          </a:xfrm>
          <a:prstGeom prst="rect">
            <a:avLst/>
          </a:prstGeom>
        </p:spPr>
      </p:pic>
      <p:sp>
        <p:nvSpPr>
          <p:cNvPr id="28" name="Control text"/>
          <p:cNvSpPr txBox="1"/>
          <p:nvPr/>
        </p:nvSpPr>
        <p:spPr>
          <a:xfrm>
            <a:off x="3959352" y="315468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</a:rPr>
              <a:t>Every query scoped to the logged-in user; no cross-user access</a:t>
            </a:r>
            <a:endParaRPr lang="en-US" sz="1200" dirty="0"/>
          </a:p>
        </p:txBody>
      </p:sp>
      <p:sp>
        <p:nvSpPr>
          <p:cNvPr id="29" name="Control 4"/>
          <p:cNvSpPr/>
          <p:nvPr/>
        </p:nvSpPr>
        <p:spPr>
          <a:xfrm>
            <a:off x="5468112" y="2468880"/>
            <a:ext cx="1517904" cy="20299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CDFE9"/>
            </a:solidFill>
            <a:prstDash val="solid"/>
          </a:ln>
        </p:spPr>
      </p:sp>
      <p:sp>
        <p:nvSpPr>
          <p:cNvPr id="30" name="Emoji disc"/>
          <p:cNvSpPr/>
          <p:nvPr/>
        </p:nvSpPr>
        <p:spPr>
          <a:xfrm>
            <a:off x="5614416" y="2615184"/>
            <a:ext cx="457200" cy="45720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31" name="Emoji shield" descr="e/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2715768"/>
            <a:ext cx="256032" cy="256032"/>
          </a:xfrm>
          <a:prstGeom prst="rect">
            <a:avLst/>
          </a:prstGeom>
        </p:spPr>
      </p:pic>
      <p:sp>
        <p:nvSpPr>
          <p:cNvPr id="32" name="Control text"/>
          <p:cNvSpPr txBox="1"/>
          <p:nvPr/>
        </p:nvSpPr>
        <p:spPr>
          <a:xfrm>
            <a:off x="5614416" y="315468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</a:rPr>
              <a:t>CSRF protection on every form; secure, HTTP-only session cookies</a:t>
            </a:r>
            <a:endParaRPr lang="en-US" sz="1200" dirty="0"/>
          </a:p>
        </p:txBody>
      </p:sp>
      <p:sp>
        <p:nvSpPr>
          <p:cNvPr id="33" name="Control 5"/>
          <p:cNvSpPr/>
          <p:nvPr/>
        </p:nvSpPr>
        <p:spPr>
          <a:xfrm>
            <a:off x="7123176" y="2468880"/>
            <a:ext cx="1517904" cy="20299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CDFE9"/>
            </a:solidFill>
            <a:prstDash val="solid"/>
          </a:ln>
        </p:spPr>
      </p:sp>
      <p:sp>
        <p:nvSpPr>
          <p:cNvPr id="34" name="Emoji disc"/>
          <p:cNvSpPr/>
          <p:nvPr/>
        </p:nvSpPr>
        <p:spPr>
          <a:xfrm>
            <a:off x="7269480" y="2615184"/>
            <a:ext cx="457200" cy="457200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35" name="Emoji shush" descr="e/shu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0064" y="2715768"/>
            <a:ext cx="256032" cy="256032"/>
          </a:xfrm>
          <a:prstGeom prst="rect">
            <a:avLst/>
          </a:prstGeom>
        </p:spPr>
      </p:pic>
      <p:sp>
        <p:nvSpPr>
          <p:cNvPr id="36" name="Control text"/>
          <p:cNvSpPr txBox="1"/>
          <p:nvPr/>
        </p:nvSpPr>
        <p:spPr>
          <a:xfrm>
            <a:off x="7269480" y="315468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</a:rPr>
              <a:t>Secret keys kept outside the code (.env / Secret Manager)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6" type="body" hasCustomPrompt="1"/>
          </p:nvPr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F44A0"/>
                </a:solidFill>
              </a:rPr>
              <a:t>07 / 09   GENTLE, PERSONAL SUPPORT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7" type="title" hasCustomPrompt="1"/>
          </p:nvPr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Mindy</a:t>
            </a:r>
            <a:endParaRPr lang="en-US" sz="2600" dirty="0"/>
          </a:p>
        </p:txBody>
      </p:sp>
      <p:pic>
        <p:nvPicPr>
          <p:cNvPr id="4" name="Emoji chart" descr="e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2984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from the user's own data</a:t>
            </a:r>
            <a:endParaRPr lang="en-US" sz="1400" dirty="0"/>
          </a:p>
        </p:txBody>
      </p:sp>
      <p:graphicFrame>
        <p:nvGraphicFramePr>
          <p:cNvPr id="6" name="Mood trend chart" descr=""/>
          <p:cNvGraphicFramePr/>
          <p:nvPr/>
        </p:nvGraphicFramePr>
        <p:xfrm>
          <a:off x="411480" y="1627632"/>
          <a:ext cx="43891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Insights bullets"/>
          <p:cNvSpPr txBox="1"/>
          <p:nvPr/>
        </p:nvSpPr>
        <p:spPr>
          <a:xfrm>
            <a:off x="502920" y="33375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</a:rPr>
              <a:t>7/30-day/all-time views, mood trends, context breakdown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</a:rPr>
              <a:t>Cautious wording: “just something to notice, not a diagnosis”</a:t>
            </a:r>
            <a:endParaRPr lang="en-US" sz="1250" dirty="0"/>
          </a:p>
        </p:txBody>
      </p:sp>
      <p:sp>
        <p:nvSpPr>
          <p:cNvPr id="8" name="Mindy panel"/>
          <p:cNvSpPr/>
          <p:nvPr/>
        </p:nvSpPr>
        <p:spPr>
          <a:xfrm>
            <a:off x="4983480" y="1298448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3F4F8"/>
          </a:solidFill>
          <a:ln w="9525">
            <a:solidFill>
              <a:srgbClr val="F3F4F8"/>
            </a:solidFill>
            <a:prstDash val="solid"/>
          </a:ln>
        </p:spPr>
      </p:sp>
      <p:pic>
        <p:nvPicPr>
          <p:cNvPr id="9" name="Mindy" descr="a/mi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444752"/>
            <a:ext cx="640080" cy="832104"/>
          </a:xfrm>
          <a:prstGeom prst="rect">
            <a:avLst/>
          </a:prstGeom>
        </p:spPr>
      </p:pic>
      <p:pic>
        <p:nvPicPr>
          <p:cNvPr id="10" name="Doodle bubble_i" descr="d/bubble_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371600"/>
            <a:ext cx="658368" cy="457200"/>
          </a:xfrm>
          <a:prstGeom prst="rect">
            <a:avLst/>
          </a:prstGeom>
        </p:spPr>
      </p:pic>
      <p:pic>
        <p:nvPicPr>
          <p:cNvPr id="11" name="Emoji wave" descr="e/wa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444752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43600" y="15179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Mindy</a:t>
            </a:r>
            <a:endParaRPr lang="en-US" sz="1700" dirty="0"/>
          </a:p>
        </p:txBody>
      </p:sp>
      <p:sp>
        <p:nvSpPr>
          <p:cNvPr id="13" name="Text 6"/>
          <p:cNvSpPr txBox="1"/>
          <p:nvPr/>
        </p:nvSpPr>
        <p:spPr>
          <a:xfrm>
            <a:off x="5943600" y="1847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67D"/>
                </a:solidFill>
              </a:rPr>
              <a:t>Rule-based companion (no external AI)</a:t>
            </a:r>
            <a:endParaRPr lang="en-US" sz="1100" dirty="0"/>
          </a:p>
        </p:txBody>
      </p:sp>
      <p:sp>
        <p:nvSpPr>
          <p:cNvPr id="14" name="Mindy bullets"/>
          <p:cNvSpPr txBox="1"/>
          <p:nvPr/>
        </p:nvSpPr>
        <p:spPr>
          <a:xfrm>
            <a:off x="5166360" y="2432304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</a:rPr>
              <a:t>Understands 30+ everyday topics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</a:rPr>
              <a:t>Listens, gives practical tips when asked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</a:rPr>
              <a:t>Tells jokes, plays games</a:t>
            </a:r>
            <a:endParaRPr lang="en-US" sz="1250" dirty="0"/>
          </a:p>
        </p:txBody>
      </p:sp>
      <p:sp>
        <p:nvSpPr>
          <p:cNvPr id="15" name="Safety callout"/>
          <p:cNvSpPr/>
          <p:nvPr/>
        </p:nvSpPr>
        <p:spPr>
          <a:xfrm>
            <a:off x="5166360" y="3547872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</p:sp>
      <p:pic>
        <p:nvPicPr>
          <p:cNvPr id="16" name="Emoji buoy" descr="e/buo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776472"/>
            <a:ext cx="310896" cy="310896"/>
          </a:xfrm>
          <a:prstGeom prst="rect">
            <a:avLst/>
          </a:prstGeom>
        </p:spPr>
      </p:pic>
      <p:sp>
        <p:nvSpPr>
          <p:cNvPr id="17" name="Safety text"/>
          <p:cNvSpPr txBox="1"/>
          <p:nvPr/>
        </p:nvSpPr>
        <p:spPr>
          <a:xfrm>
            <a:off x="5760720" y="3547872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3A"/>
                </a:solidFill>
              </a:rPr>
              <a:t>Safety: </a:t>
            </a:r>
            <a:pPr indent="0" marL="0">
              <a:buNone/>
            </a:pPr>
            <a:r>
              <a:rPr lang="en-US" sz="1200" dirty="0">
                <a:solidFill>
                  <a:srgbClr val="1B1E3A"/>
                </a:solidFill>
              </a:rPr>
              <a:t>crisis messages get support resources immediately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6" type="body" hasCustomPrompt="1"/>
          </p:nvPr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F44A0"/>
                </a:solidFill>
              </a:rPr>
              <a:t>08 / 09   WHERE WE ARE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7" type="title" hasCustomPrompt="1"/>
          </p:nvPr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Limitations &amp; Future Scope</a:t>
            </a:r>
            <a:endParaRPr lang="en-US" sz="2600" dirty="0"/>
          </a:p>
        </p:txBody>
      </p:sp>
      <p:sp>
        <p:nvSpPr>
          <p:cNvPr id="4" name="Testing panel"/>
          <p:cNvSpPr/>
          <p:nvPr/>
        </p:nvSpPr>
        <p:spPr>
          <a:xfrm>
            <a:off x="502920" y="1298448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1B1E3A"/>
          </a:solidFill>
          <a:ln w="9525">
            <a:solidFill>
              <a:srgbClr val="1B1E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B13F"/>
                </a:solidFill>
              </a:rPr>
              <a:t>TESTED</a:t>
            </a:r>
            <a:endParaRPr lang="en-US" sz="900" dirty="0"/>
          </a:p>
        </p:txBody>
      </p:sp>
      <p:pic>
        <p:nvPicPr>
          <p:cNvPr id="6" name="Doodle ring_a" descr="d/ring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0784"/>
            <a:ext cx="2057400" cy="1097280"/>
          </a:xfrm>
          <a:prstGeom prst="rect">
            <a:avLst/>
          </a:prstGeom>
        </p:spPr>
      </p:pic>
      <p:pic>
        <p:nvPicPr>
          <p:cNvPr id="7" name="Doodle sparkle_a" descr="d/sparkl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417320"/>
            <a:ext cx="384048" cy="384048"/>
          </a:xfrm>
          <a:prstGeom prst="rect">
            <a:avLst/>
          </a:prstGeom>
        </p:spPr>
      </p:pic>
      <p:sp>
        <p:nvSpPr>
          <p:cNvPr id="8" name="Test count"/>
          <p:cNvSpPr txBox="1"/>
          <p:nvPr/>
        </p:nvSpPr>
        <p:spPr>
          <a:xfrm>
            <a:off x="73152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64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</a:rPr>
              <a:t>automated tests (pytest)</a:t>
            </a:r>
            <a:endParaRPr lang="en-US" sz="1300" dirty="0"/>
          </a:p>
        </p:txBody>
      </p:sp>
      <p:pic>
        <p:nvPicPr>
          <p:cNvPr id="10" name="Emoji check" descr="e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012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3291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All passing</a:t>
            </a:r>
            <a:endParaRPr lang="en-US" sz="1400" dirty="0"/>
          </a:p>
        </p:txBody>
      </p:sp>
      <p:sp>
        <p:nvSpPr>
          <p:cNvPr id="12" name="Limitations"/>
          <p:cNvSpPr/>
          <p:nvPr/>
        </p:nvSpPr>
        <p:spPr>
          <a:xfrm>
            <a:off x="3127248" y="1298448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CDFE9"/>
            </a:solidFill>
            <a:prstDash val="solid"/>
          </a:ln>
        </p:spPr>
      </p:sp>
      <p:sp>
        <p:nvSpPr>
          <p:cNvPr id="13" name="Emoji disc"/>
          <p:cNvSpPr/>
          <p:nvPr/>
        </p:nvSpPr>
        <p:spPr>
          <a:xfrm>
            <a:off x="3328416" y="1463040"/>
            <a:ext cx="420624" cy="420624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14" name="Emoji warn" descr="e/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953" y="1555577"/>
            <a:ext cx="235549" cy="23554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858768" y="14630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3355848" y="21488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63A"/>
                </a:solidFill>
              </a:rPr>
              <a:t>Mindy is rule-based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63A"/>
                </a:solidFill>
              </a:rPr>
              <a:t>Search covers titles only (text is encrypted)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63A"/>
                </a:solidFill>
              </a:rPr>
              <a:t>Not yet deployed</a:t>
            </a:r>
            <a:endParaRPr lang="en-US" sz="1400" dirty="0"/>
          </a:p>
        </p:txBody>
      </p:sp>
      <p:sp>
        <p:nvSpPr>
          <p:cNvPr id="17" name="Future scope"/>
          <p:cNvSpPr/>
          <p:nvPr/>
        </p:nvSpPr>
        <p:spPr>
          <a:xfrm>
            <a:off x="5943600" y="1298448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CDFE9"/>
            </a:solidFill>
            <a:prstDash val="solid"/>
          </a:ln>
        </p:spPr>
      </p:sp>
      <p:sp>
        <p:nvSpPr>
          <p:cNvPr id="18" name="Emoji disc"/>
          <p:cNvSpPr/>
          <p:nvPr/>
        </p:nvSpPr>
        <p:spPr>
          <a:xfrm>
            <a:off x="6144768" y="1463040"/>
            <a:ext cx="420624" cy="420624"/>
          </a:xfrm>
          <a:prstGeom prst="ellipse">
            <a:avLst/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pic>
        <p:nvPicPr>
          <p:cNvPr id="19" name="Emoji rocket" descr="e/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305" y="1555577"/>
            <a:ext cx="235549" cy="23554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75120" y="14630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172200" y="21488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63A"/>
                </a:solidFill>
              </a:rPr>
              <a:t>Account deletion &amp; data export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63A"/>
                </a:solidFill>
              </a:rPr>
              <a:t>Password reset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63A"/>
                </a:solidFill>
              </a:rPr>
              <a:t>Cloud deployment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63A"/>
                </a:solidFill>
              </a:rPr>
              <a:t>Optional AI-powered Mindy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66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548640" y="640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" name="Questions"/>
          <p:cNvSpPr txBox="1"/>
          <p:nvPr/>
        </p:nvSpPr>
        <p:spPr>
          <a:xfrm>
            <a:off x="548640" y="1508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B13F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0116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steps make big changes.</a:t>
            </a:r>
            <a:endParaRPr lang="en-US" sz="1500" dirty="0"/>
          </a:p>
        </p:txBody>
      </p:sp>
      <p:sp>
        <p:nvSpPr>
          <p:cNvPr id="5" name="Team names"/>
          <p:cNvSpPr txBox="1"/>
          <p:nvPr/>
        </p:nvSpPr>
        <p:spPr>
          <a:xfrm>
            <a:off x="54864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E0"/>
                </a:solidFill>
              </a:rPr>
              <a:t>[Member 1]  ·  [Member 2]  ·  [Member 3]  ·  [Member 4]</a:t>
            </a:r>
            <a:endParaRPr lang="en-US" sz="1100" dirty="0"/>
          </a:p>
        </p:txBody>
      </p:sp>
      <p:pic>
        <p:nvPicPr>
          <p:cNvPr id="6" name="Mood line rising" descr="a/line_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20440"/>
            <a:ext cx="9144000" cy="1371600"/>
          </a:xfrm>
          <a:prstGeom prst="rect">
            <a:avLst/>
          </a:prstGeom>
        </p:spPr>
      </p:pic>
      <p:pic>
        <p:nvPicPr>
          <p:cNvPr id="7" name="Emoji pray" descr="e/p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841248"/>
            <a:ext cx="420624" cy="420624"/>
          </a:xfrm>
          <a:prstGeom prst="rect">
            <a:avLst/>
          </a:prstGeom>
        </p:spPr>
      </p:pic>
      <p:pic>
        <p:nvPicPr>
          <p:cNvPr id="8" name="Emoji speech" descr="e/spe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572768"/>
            <a:ext cx="292608" cy="292608"/>
          </a:xfrm>
          <a:prstGeom prst="rect">
            <a:avLst/>
          </a:prstGeom>
        </p:spPr>
      </p:pic>
      <p:pic>
        <p:nvPicPr>
          <p:cNvPr id="9" name="Emoji seed" descr="e/se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048256"/>
            <a:ext cx="256032" cy="256032"/>
          </a:xfrm>
          <a:prstGeom prst="rect">
            <a:avLst/>
          </a:prstGeom>
        </p:spPr>
      </p:pic>
      <p:pic>
        <p:nvPicPr>
          <p:cNvPr id="10" name="Doodle sun_a" descr="d/su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822960"/>
            <a:ext cx="1645920" cy="822960"/>
          </a:xfrm>
          <a:prstGeom prst="rect">
            <a:avLst/>
          </a:prstGeom>
        </p:spPr>
      </p:pic>
      <p:pic>
        <p:nvPicPr>
          <p:cNvPr id="11" name="Doodle sparkle_w" descr="d/sparkl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502920"/>
            <a:ext cx="411480" cy="411480"/>
          </a:xfrm>
          <a:prstGeom prst="rect">
            <a:avLst/>
          </a:prstGeom>
        </p:spPr>
      </p:pic>
      <p:pic>
        <p:nvPicPr>
          <p:cNvPr id="12" name="Doodle heart_c" descr="d/heart_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2926080"/>
            <a:ext cx="457200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ndTrack Ink">
  <a:themeElements>
    <a:clrScheme name="MindTrack Ink">
      <a:dk1>
        <a:srgbClr val="23263A"/>
      </a:dk1>
      <a:lt1>
        <a:srgbClr val="FFFFFF"/>
      </a:lt1>
      <a:dk2>
        <a:srgbClr val="1B1E3A"/>
      </a:dk2>
      <a:lt2>
        <a:srgbClr val="F3F4F8"/>
      </a:lt2>
      <a:accent1>
        <a:srgbClr val="3F44A0"/>
      </a:accent1>
      <a:accent2>
        <a:srgbClr val="F0B13F"/>
      </a:accent2>
      <a:accent3>
        <a:srgbClr val="6B70C9"/>
      </a:accent3>
      <a:accent4>
        <a:srgbClr val="4E9BC9"/>
      </a:accent4>
      <a:accent5>
        <a:srgbClr val="5DAA7E"/>
      </a:accent5>
      <a:accent6>
        <a:srgbClr val="E57A5A"/>
      </a:accent6>
      <a:hlink>
        <a:srgbClr val="3F44A0"/>
      </a:hlink>
      <a:folHlink>
        <a:srgbClr val="1B1E3A"/>
      </a:folHlink>
    </a:clrScheme>
    <a:fontScheme name="MindTrack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MindTrack – Mini Project Presentation</dc:title>
  <dc:subject>PptxGenJS Presentation</dc:subject>
  <dc:creator>PptxGenJS</dc:creator>
  <cp:lastModifiedBy>PptxGenJS</cp:lastModifiedBy>
  <cp:revision>1</cp:revision>
  <dcterms:created xsi:type="dcterms:W3CDTF">2026-10-14T19:27:57Z</dcterms:created>
  <dcterms:modified xsi:type="dcterms:W3CDTF">2026-10-14T19:27:57Z</dcterms:modified>
</cp:coreProperties>
</file>